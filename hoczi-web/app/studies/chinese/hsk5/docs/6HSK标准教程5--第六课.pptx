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.xml" ContentType="application/vnd.openxmlformats-officedocument.presentationml.notesSlide+xml"/>
  <Override PartName="/ppt/tags/tag181.xml" ContentType="application/vnd.openxmlformats-officedocument.presentationml.tags+xml"/>
  <Override PartName="/ppt/notesSlides/notesSlide2.xml" ContentType="application/vnd.openxmlformats-officedocument.presentationml.notesSlide+xml"/>
  <Override PartName="/ppt/tags/tag182.xml" ContentType="application/vnd.openxmlformats-officedocument.presentationml.tags+xml"/>
  <Override PartName="/ppt/notesSlides/notesSlide3.xml" ContentType="application/vnd.openxmlformats-officedocument.presentationml.notesSlide+xml"/>
  <Override PartName="/ppt/tags/tag183.xml" ContentType="application/vnd.openxmlformats-officedocument.presentationml.tags+xml"/>
  <Override PartName="/ppt/notesSlides/notesSlide4.xml" ContentType="application/vnd.openxmlformats-officedocument.presentationml.notesSlide+xml"/>
  <Override PartName="/ppt/tags/tag184.xml" ContentType="application/vnd.openxmlformats-officedocument.presentationml.tags+xml"/>
  <Override PartName="/ppt/notesSlides/notesSlide5.xml" ContentType="application/vnd.openxmlformats-officedocument.presentationml.notesSlide+xml"/>
  <Override PartName="/ppt/tags/tag185.xml" ContentType="application/vnd.openxmlformats-officedocument.presentationml.tags+xml"/>
  <Override PartName="/ppt/notesSlides/notesSlide6.xml" ContentType="application/vnd.openxmlformats-officedocument.presentationml.notesSlide+xml"/>
  <Override PartName="/ppt/tags/tag186.xml" ContentType="application/vnd.openxmlformats-officedocument.presentationml.tags+xml"/>
  <Override PartName="/ppt/notesSlides/notesSlide7.xml" ContentType="application/vnd.openxmlformats-officedocument.presentationml.notesSlide+xml"/>
  <Override PartName="/ppt/tags/tag187.xml" ContentType="application/vnd.openxmlformats-officedocument.presentationml.tags+xml"/>
  <Override PartName="/ppt/notesSlides/notesSlide8.xml" ContentType="application/vnd.openxmlformats-officedocument.presentationml.notesSlide+xml"/>
  <Override PartName="/ppt/tags/tag188.xml" ContentType="application/vnd.openxmlformats-officedocument.presentationml.tags+xml"/>
  <Override PartName="/ppt/notesSlides/notesSlide9.xml" ContentType="application/vnd.openxmlformats-officedocument.presentationml.notesSlide+xml"/>
  <Override PartName="/ppt/tags/tag189.xml" ContentType="application/vnd.openxmlformats-officedocument.presentationml.tags+xml"/>
  <Override PartName="/ppt/notesSlides/notesSlide10.xml" ContentType="application/vnd.openxmlformats-officedocument.presentationml.notesSlid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notesSlides/notesSlide11.xml" ContentType="application/vnd.openxmlformats-officedocument.presentationml.notesSlid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notesSlides/notesSlide12.xml" ContentType="application/vnd.openxmlformats-officedocument.presentationml.notesSlide+xml"/>
  <Override PartName="/ppt/tags/tag31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notesSlides/notesSlide16.xml" ContentType="application/vnd.openxmlformats-officedocument.presentationml.notesSlide+xml"/>
  <Override PartName="/ppt/tags/tag434.xml" ContentType="application/vnd.openxmlformats-officedocument.presentationml.tags+xml"/>
  <Override PartName="/ppt/notesSlides/notesSlide17.xml" ContentType="application/vnd.openxmlformats-officedocument.presentationml.notesSlide+xml"/>
  <Override PartName="/ppt/tags/tag435.xml" ContentType="application/vnd.openxmlformats-officedocument.presentationml.tags+xml"/>
  <Override PartName="/ppt/notesSlides/notesSlide18.xml" ContentType="application/vnd.openxmlformats-officedocument.presentationml.notesSlide+xml"/>
  <Override PartName="/ppt/tags/tag436.xml" ContentType="application/vnd.openxmlformats-officedocument.presentationml.tags+xml"/>
  <Override PartName="/ppt/notesSlides/notesSlide19.xml" ContentType="application/vnd.openxmlformats-officedocument.presentationml.notesSlide+xml"/>
  <Override PartName="/ppt/tags/tag43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329" r:id="rId22"/>
    <p:sldId id="330" r:id="rId23"/>
    <p:sldId id="331" r:id="rId24"/>
    <p:sldId id="332" r:id="rId25"/>
    <p:sldId id="333" r:id="rId26"/>
    <p:sldId id="334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35" r:id="rId68"/>
    <p:sldId id="336" r:id="rId69"/>
    <p:sldId id="339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</p:sldIdLst>
  <p:sldSz cx="12192000" cy="6858000"/>
  <p:notesSz cx="6858000" cy="9144000"/>
  <p:custDataLst>
    <p:tags r:id="rId8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 泽元" initials="张" lastIdx="1" clrIdx="0"/>
  <p:cmAuthor id="7" name="Taylor Hartwell" initials="TH [6]" lastIdx="1" clrIdx="6"/>
  <p:cmAuthor id="1" name="陈宣霖" initials="陈" lastIdx="1" clrIdx="0"/>
  <p:cmAuthor id="2" name="作者" initials="A" lastIdx="1" clrIdx="1"/>
  <p:cmAuthor id="4" name="DTY" initials="D" lastIdx="1" clrIdx="7"/>
  <p:cmAuthor id="5" name="未知用户11" initials="未知用户11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73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gs" Target="tags/tag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118" Type="http://schemas.openxmlformats.org/officeDocument/2006/relationships/image" Target="../media/image10.jpeg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54" Type="http://schemas.openxmlformats.org/officeDocument/2006/relationships/tags" Target="../tags/tag117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49" Type="http://schemas.openxmlformats.org/officeDocument/2006/relationships/tags" Target="../tags/tag112.xml"/><Relationship Id="rId114" Type="http://schemas.openxmlformats.org/officeDocument/2006/relationships/tags" Target="../tags/tag177.xml"/><Relationship Id="rId119" Type="http://schemas.openxmlformats.org/officeDocument/2006/relationships/image" Target="../media/image3.png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tags" Target="../tags/tag179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62" Type="http://schemas.openxmlformats.org/officeDocument/2006/relationships/tags" Target="../tags/tag125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111" Type="http://schemas.openxmlformats.org/officeDocument/2006/relationships/tags" Target="../tags/tag174.xml"/><Relationship Id="rId15" Type="http://schemas.openxmlformats.org/officeDocument/2006/relationships/tags" Target="../tags/tag78.xml"/><Relationship Id="rId36" Type="http://schemas.openxmlformats.org/officeDocument/2006/relationships/tags" Target="../tags/tag99.xml"/><Relationship Id="rId57" Type="http://schemas.openxmlformats.org/officeDocument/2006/relationships/tags" Target="../tags/tag120.xml"/><Relationship Id="rId106" Type="http://schemas.openxmlformats.org/officeDocument/2006/relationships/tags" Target="../tags/tag1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tif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0.xml"/><Relationship Id="rId5" Type="http://schemas.openxmlformats.org/officeDocument/2006/relationships/image" Target="../media/image15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7.jpe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8.png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21.jpe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2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3.xml"/><Relationship Id="rId6" Type="http://schemas.openxmlformats.org/officeDocument/2006/relationships/image" Target="../media/image27.jpe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4.xml"/><Relationship Id="rId6" Type="http://schemas.openxmlformats.org/officeDocument/2006/relationships/image" Target="../media/image28.jpe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5.xml"/><Relationship Id="rId6" Type="http://schemas.openxmlformats.org/officeDocument/2006/relationships/image" Target="../media/image30.jpe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6.xml"/><Relationship Id="rId6" Type="http://schemas.openxmlformats.org/officeDocument/2006/relationships/image" Target="../media/image31.jpe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7.xml"/><Relationship Id="rId6" Type="http://schemas.openxmlformats.org/officeDocument/2006/relationships/image" Target="../media/image33.jpeg"/><Relationship Id="rId5" Type="http://schemas.openxmlformats.org/officeDocument/2006/relationships/image" Target="../media/image3.png"/><Relationship Id="rId4" Type="http://schemas.openxmlformats.org/officeDocument/2006/relationships/image" Target="../media/image24.png"/><Relationship Id="rId9" Type="http://schemas.openxmlformats.org/officeDocument/2006/relationships/image" Target="../media/image3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8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9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0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2.png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image" Target="../media/image3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tags" Target="../tags/tag221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216.xml"/><Relationship Id="rId42" Type="http://schemas.openxmlformats.org/officeDocument/2006/relationships/tags" Target="../tags/tag237.xml"/><Relationship Id="rId47" Type="http://schemas.openxmlformats.org/officeDocument/2006/relationships/tags" Target="../tags/tag242.xml"/><Relationship Id="rId63" Type="http://schemas.openxmlformats.org/officeDocument/2006/relationships/tags" Target="../tags/tag258.xml"/><Relationship Id="rId68" Type="http://schemas.openxmlformats.org/officeDocument/2006/relationships/tags" Target="../tags/tag263.xml"/><Relationship Id="rId84" Type="http://schemas.openxmlformats.org/officeDocument/2006/relationships/tags" Target="../tags/tag279.xml"/><Relationship Id="rId89" Type="http://schemas.openxmlformats.org/officeDocument/2006/relationships/tags" Target="../tags/tag284.xml"/><Relationship Id="rId112" Type="http://schemas.openxmlformats.org/officeDocument/2006/relationships/tags" Target="../tags/tag307.xml"/><Relationship Id="rId16" Type="http://schemas.openxmlformats.org/officeDocument/2006/relationships/tags" Target="../tags/tag211.xml"/><Relationship Id="rId107" Type="http://schemas.openxmlformats.org/officeDocument/2006/relationships/tags" Target="../tags/tag302.xml"/><Relationship Id="rId11" Type="http://schemas.openxmlformats.org/officeDocument/2006/relationships/tags" Target="../tags/tag206.xml"/><Relationship Id="rId32" Type="http://schemas.openxmlformats.org/officeDocument/2006/relationships/tags" Target="../tags/tag227.xml"/><Relationship Id="rId37" Type="http://schemas.openxmlformats.org/officeDocument/2006/relationships/tags" Target="../tags/tag232.xml"/><Relationship Id="rId53" Type="http://schemas.openxmlformats.org/officeDocument/2006/relationships/tags" Target="../tags/tag248.xml"/><Relationship Id="rId58" Type="http://schemas.openxmlformats.org/officeDocument/2006/relationships/tags" Target="../tags/tag253.xml"/><Relationship Id="rId74" Type="http://schemas.openxmlformats.org/officeDocument/2006/relationships/tags" Target="../tags/tag269.xml"/><Relationship Id="rId79" Type="http://schemas.openxmlformats.org/officeDocument/2006/relationships/tags" Target="../tags/tag274.xml"/><Relationship Id="rId102" Type="http://schemas.openxmlformats.org/officeDocument/2006/relationships/tags" Target="../tags/tag297.xml"/><Relationship Id="rId5" Type="http://schemas.openxmlformats.org/officeDocument/2006/relationships/tags" Target="../tags/tag200.xml"/><Relationship Id="rId90" Type="http://schemas.openxmlformats.org/officeDocument/2006/relationships/tags" Target="../tags/tag285.xml"/><Relationship Id="rId95" Type="http://schemas.openxmlformats.org/officeDocument/2006/relationships/tags" Target="../tags/tag290.xml"/><Relationship Id="rId22" Type="http://schemas.openxmlformats.org/officeDocument/2006/relationships/tags" Target="../tags/tag217.xml"/><Relationship Id="rId27" Type="http://schemas.openxmlformats.org/officeDocument/2006/relationships/tags" Target="../tags/tag222.xml"/><Relationship Id="rId43" Type="http://schemas.openxmlformats.org/officeDocument/2006/relationships/tags" Target="../tags/tag238.xml"/><Relationship Id="rId48" Type="http://schemas.openxmlformats.org/officeDocument/2006/relationships/tags" Target="../tags/tag243.xml"/><Relationship Id="rId64" Type="http://schemas.openxmlformats.org/officeDocument/2006/relationships/tags" Target="../tags/tag259.xml"/><Relationship Id="rId69" Type="http://schemas.openxmlformats.org/officeDocument/2006/relationships/tags" Target="../tags/tag264.xml"/><Relationship Id="rId113" Type="http://schemas.openxmlformats.org/officeDocument/2006/relationships/tags" Target="../tags/tag308.xml"/><Relationship Id="rId118" Type="http://schemas.openxmlformats.org/officeDocument/2006/relationships/image" Target="../media/image10.jpeg"/><Relationship Id="rId80" Type="http://schemas.openxmlformats.org/officeDocument/2006/relationships/tags" Target="../tags/tag275.xml"/><Relationship Id="rId85" Type="http://schemas.openxmlformats.org/officeDocument/2006/relationships/tags" Target="../tags/tag280.xml"/><Relationship Id="rId12" Type="http://schemas.openxmlformats.org/officeDocument/2006/relationships/tags" Target="../tags/tag207.xml"/><Relationship Id="rId17" Type="http://schemas.openxmlformats.org/officeDocument/2006/relationships/tags" Target="../tags/tag212.xml"/><Relationship Id="rId33" Type="http://schemas.openxmlformats.org/officeDocument/2006/relationships/tags" Target="../tags/tag228.xml"/><Relationship Id="rId38" Type="http://schemas.openxmlformats.org/officeDocument/2006/relationships/tags" Target="../tags/tag233.xml"/><Relationship Id="rId59" Type="http://schemas.openxmlformats.org/officeDocument/2006/relationships/tags" Target="../tags/tag254.xml"/><Relationship Id="rId103" Type="http://schemas.openxmlformats.org/officeDocument/2006/relationships/tags" Target="../tags/tag298.xml"/><Relationship Id="rId108" Type="http://schemas.openxmlformats.org/officeDocument/2006/relationships/tags" Target="../tags/tag303.xml"/><Relationship Id="rId54" Type="http://schemas.openxmlformats.org/officeDocument/2006/relationships/tags" Target="../tags/tag249.xml"/><Relationship Id="rId70" Type="http://schemas.openxmlformats.org/officeDocument/2006/relationships/tags" Target="../tags/tag265.xml"/><Relationship Id="rId75" Type="http://schemas.openxmlformats.org/officeDocument/2006/relationships/tags" Target="../tags/tag270.xml"/><Relationship Id="rId91" Type="http://schemas.openxmlformats.org/officeDocument/2006/relationships/tags" Target="../tags/tag286.xml"/><Relationship Id="rId96" Type="http://schemas.openxmlformats.org/officeDocument/2006/relationships/tags" Target="../tags/tag291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23" Type="http://schemas.openxmlformats.org/officeDocument/2006/relationships/tags" Target="../tags/tag218.xml"/><Relationship Id="rId28" Type="http://schemas.openxmlformats.org/officeDocument/2006/relationships/tags" Target="../tags/tag223.xml"/><Relationship Id="rId49" Type="http://schemas.openxmlformats.org/officeDocument/2006/relationships/tags" Target="../tags/tag244.xml"/><Relationship Id="rId114" Type="http://schemas.openxmlformats.org/officeDocument/2006/relationships/tags" Target="../tags/tag309.xml"/><Relationship Id="rId119" Type="http://schemas.openxmlformats.org/officeDocument/2006/relationships/image" Target="../media/image3.png"/><Relationship Id="rId10" Type="http://schemas.openxmlformats.org/officeDocument/2006/relationships/tags" Target="../tags/tag205.xml"/><Relationship Id="rId31" Type="http://schemas.openxmlformats.org/officeDocument/2006/relationships/tags" Target="../tags/tag226.xml"/><Relationship Id="rId44" Type="http://schemas.openxmlformats.org/officeDocument/2006/relationships/tags" Target="../tags/tag239.xml"/><Relationship Id="rId52" Type="http://schemas.openxmlformats.org/officeDocument/2006/relationships/tags" Target="../tags/tag247.xml"/><Relationship Id="rId60" Type="http://schemas.openxmlformats.org/officeDocument/2006/relationships/tags" Target="../tags/tag255.xml"/><Relationship Id="rId65" Type="http://schemas.openxmlformats.org/officeDocument/2006/relationships/tags" Target="../tags/tag260.xml"/><Relationship Id="rId73" Type="http://schemas.openxmlformats.org/officeDocument/2006/relationships/tags" Target="../tags/tag268.xml"/><Relationship Id="rId78" Type="http://schemas.openxmlformats.org/officeDocument/2006/relationships/tags" Target="../tags/tag273.xml"/><Relationship Id="rId81" Type="http://schemas.openxmlformats.org/officeDocument/2006/relationships/tags" Target="../tags/tag276.xml"/><Relationship Id="rId86" Type="http://schemas.openxmlformats.org/officeDocument/2006/relationships/tags" Target="../tags/tag281.xml"/><Relationship Id="rId94" Type="http://schemas.openxmlformats.org/officeDocument/2006/relationships/tags" Target="../tags/tag289.xml"/><Relationship Id="rId99" Type="http://schemas.openxmlformats.org/officeDocument/2006/relationships/tags" Target="../tags/tag294.xml"/><Relationship Id="rId101" Type="http://schemas.openxmlformats.org/officeDocument/2006/relationships/tags" Target="../tags/tag296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3" Type="http://schemas.openxmlformats.org/officeDocument/2006/relationships/tags" Target="../tags/tag208.xml"/><Relationship Id="rId18" Type="http://schemas.openxmlformats.org/officeDocument/2006/relationships/tags" Target="../tags/tag213.xml"/><Relationship Id="rId39" Type="http://schemas.openxmlformats.org/officeDocument/2006/relationships/tags" Target="../tags/tag234.xml"/><Relationship Id="rId109" Type="http://schemas.openxmlformats.org/officeDocument/2006/relationships/tags" Target="../tags/tag304.xml"/><Relationship Id="rId34" Type="http://schemas.openxmlformats.org/officeDocument/2006/relationships/tags" Target="../tags/tag229.xml"/><Relationship Id="rId50" Type="http://schemas.openxmlformats.org/officeDocument/2006/relationships/tags" Target="../tags/tag245.xml"/><Relationship Id="rId55" Type="http://schemas.openxmlformats.org/officeDocument/2006/relationships/tags" Target="../tags/tag250.xml"/><Relationship Id="rId76" Type="http://schemas.openxmlformats.org/officeDocument/2006/relationships/tags" Target="../tags/tag271.xml"/><Relationship Id="rId97" Type="http://schemas.openxmlformats.org/officeDocument/2006/relationships/tags" Target="../tags/tag292.xml"/><Relationship Id="rId104" Type="http://schemas.openxmlformats.org/officeDocument/2006/relationships/tags" Target="../tags/tag299.xml"/><Relationship Id="rId7" Type="http://schemas.openxmlformats.org/officeDocument/2006/relationships/tags" Target="../tags/tag202.xml"/><Relationship Id="rId71" Type="http://schemas.openxmlformats.org/officeDocument/2006/relationships/tags" Target="../tags/tag266.xml"/><Relationship Id="rId92" Type="http://schemas.openxmlformats.org/officeDocument/2006/relationships/tags" Target="../tags/tag287.xml"/><Relationship Id="rId2" Type="http://schemas.openxmlformats.org/officeDocument/2006/relationships/tags" Target="../tags/tag197.xml"/><Relationship Id="rId29" Type="http://schemas.openxmlformats.org/officeDocument/2006/relationships/tags" Target="../tags/tag224.xml"/><Relationship Id="rId24" Type="http://schemas.openxmlformats.org/officeDocument/2006/relationships/tags" Target="../tags/tag219.xml"/><Relationship Id="rId40" Type="http://schemas.openxmlformats.org/officeDocument/2006/relationships/tags" Target="../tags/tag235.xml"/><Relationship Id="rId45" Type="http://schemas.openxmlformats.org/officeDocument/2006/relationships/tags" Target="../tags/tag240.xml"/><Relationship Id="rId66" Type="http://schemas.openxmlformats.org/officeDocument/2006/relationships/tags" Target="../tags/tag261.xml"/><Relationship Id="rId87" Type="http://schemas.openxmlformats.org/officeDocument/2006/relationships/tags" Target="../tags/tag282.xml"/><Relationship Id="rId110" Type="http://schemas.openxmlformats.org/officeDocument/2006/relationships/tags" Target="../tags/tag305.xml"/><Relationship Id="rId115" Type="http://schemas.openxmlformats.org/officeDocument/2006/relationships/tags" Target="../tags/tag310.xml"/><Relationship Id="rId61" Type="http://schemas.openxmlformats.org/officeDocument/2006/relationships/tags" Target="../tags/tag256.xml"/><Relationship Id="rId82" Type="http://schemas.openxmlformats.org/officeDocument/2006/relationships/tags" Target="../tags/tag277.xml"/><Relationship Id="rId19" Type="http://schemas.openxmlformats.org/officeDocument/2006/relationships/tags" Target="../tags/tag214.xml"/><Relationship Id="rId14" Type="http://schemas.openxmlformats.org/officeDocument/2006/relationships/tags" Target="../tags/tag209.xml"/><Relationship Id="rId30" Type="http://schemas.openxmlformats.org/officeDocument/2006/relationships/tags" Target="../tags/tag225.xml"/><Relationship Id="rId35" Type="http://schemas.openxmlformats.org/officeDocument/2006/relationships/tags" Target="../tags/tag230.xml"/><Relationship Id="rId56" Type="http://schemas.openxmlformats.org/officeDocument/2006/relationships/tags" Target="../tags/tag251.xml"/><Relationship Id="rId77" Type="http://schemas.openxmlformats.org/officeDocument/2006/relationships/tags" Target="../tags/tag272.xml"/><Relationship Id="rId100" Type="http://schemas.openxmlformats.org/officeDocument/2006/relationships/tags" Target="../tags/tag295.xml"/><Relationship Id="rId105" Type="http://schemas.openxmlformats.org/officeDocument/2006/relationships/tags" Target="../tags/tag300.xml"/><Relationship Id="rId8" Type="http://schemas.openxmlformats.org/officeDocument/2006/relationships/tags" Target="../tags/tag203.xml"/><Relationship Id="rId51" Type="http://schemas.openxmlformats.org/officeDocument/2006/relationships/tags" Target="../tags/tag246.xml"/><Relationship Id="rId72" Type="http://schemas.openxmlformats.org/officeDocument/2006/relationships/tags" Target="../tags/tag267.xml"/><Relationship Id="rId93" Type="http://schemas.openxmlformats.org/officeDocument/2006/relationships/tags" Target="../tags/tag288.xml"/><Relationship Id="rId98" Type="http://schemas.openxmlformats.org/officeDocument/2006/relationships/tags" Target="../tags/tag293.xml"/><Relationship Id="rId3" Type="http://schemas.openxmlformats.org/officeDocument/2006/relationships/tags" Target="../tags/tag198.xml"/><Relationship Id="rId25" Type="http://schemas.openxmlformats.org/officeDocument/2006/relationships/tags" Target="../tags/tag220.xml"/><Relationship Id="rId46" Type="http://schemas.openxmlformats.org/officeDocument/2006/relationships/tags" Target="../tags/tag241.xml"/><Relationship Id="rId67" Type="http://schemas.openxmlformats.org/officeDocument/2006/relationships/tags" Target="../tags/tag262.xml"/><Relationship Id="rId116" Type="http://schemas.openxmlformats.org/officeDocument/2006/relationships/tags" Target="../tags/tag311.xml"/><Relationship Id="rId20" Type="http://schemas.openxmlformats.org/officeDocument/2006/relationships/tags" Target="../tags/tag215.xml"/><Relationship Id="rId41" Type="http://schemas.openxmlformats.org/officeDocument/2006/relationships/tags" Target="../tags/tag236.xml"/><Relationship Id="rId62" Type="http://schemas.openxmlformats.org/officeDocument/2006/relationships/tags" Target="../tags/tag257.xml"/><Relationship Id="rId83" Type="http://schemas.openxmlformats.org/officeDocument/2006/relationships/tags" Target="../tags/tag278.xml"/><Relationship Id="rId88" Type="http://schemas.openxmlformats.org/officeDocument/2006/relationships/tags" Target="../tags/tag283.xml"/><Relationship Id="rId111" Type="http://schemas.openxmlformats.org/officeDocument/2006/relationships/tags" Target="../tags/tag306.xml"/><Relationship Id="rId15" Type="http://schemas.openxmlformats.org/officeDocument/2006/relationships/tags" Target="../tags/tag210.xml"/><Relationship Id="rId36" Type="http://schemas.openxmlformats.org/officeDocument/2006/relationships/tags" Target="../tags/tag231.xml"/><Relationship Id="rId57" Type="http://schemas.openxmlformats.org/officeDocument/2006/relationships/tags" Target="../tags/tag252.xml"/><Relationship Id="rId106" Type="http://schemas.openxmlformats.org/officeDocument/2006/relationships/tags" Target="../tags/tag30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e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jpe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55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57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2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6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jpeg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7" Type="http://schemas.openxmlformats.org/officeDocument/2006/relationships/image" Target="../media/image6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8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7" Type="http://schemas.openxmlformats.org/officeDocument/2006/relationships/image" Target="../media/image7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7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jpeg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6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jpeg"/><Relationship Id="rId5" Type="http://schemas.openxmlformats.org/officeDocument/2006/relationships/image" Target="../media/image76.jpeg"/><Relationship Id="rId4" Type="http://schemas.openxmlformats.org/officeDocument/2006/relationships/image" Target="../media/image7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3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audio" Target="../media/audio1.wav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8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8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4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5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3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6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3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3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26" Type="http://schemas.openxmlformats.org/officeDocument/2006/relationships/tags" Target="../tags/tag343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338.xml"/><Relationship Id="rId42" Type="http://schemas.openxmlformats.org/officeDocument/2006/relationships/tags" Target="../tags/tag359.xml"/><Relationship Id="rId47" Type="http://schemas.openxmlformats.org/officeDocument/2006/relationships/tags" Target="../tags/tag364.xml"/><Relationship Id="rId63" Type="http://schemas.openxmlformats.org/officeDocument/2006/relationships/tags" Target="../tags/tag380.xml"/><Relationship Id="rId68" Type="http://schemas.openxmlformats.org/officeDocument/2006/relationships/tags" Target="../tags/tag385.xml"/><Relationship Id="rId84" Type="http://schemas.openxmlformats.org/officeDocument/2006/relationships/tags" Target="../tags/tag401.xml"/><Relationship Id="rId89" Type="http://schemas.openxmlformats.org/officeDocument/2006/relationships/tags" Target="../tags/tag406.xml"/><Relationship Id="rId112" Type="http://schemas.openxmlformats.org/officeDocument/2006/relationships/tags" Target="../tags/tag429.xml"/><Relationship Id="rId16" Type="http://schemas.openxmlformats.org/officeDocument/2006/relationships/tags" Target="../tags/tag333.xml"/><Relationship Id="rId107" Type="http://schemas.openxmlformats.org/officeDocument/2006/relationships/tags" Target="../tags/tag424.xml"/><Relationship Id="rId11" Type="http://schemas.openxmlformats.org/officeDocument/2006/relationships/tags" Target="../tags/tag328.xml"/><Relationship Id="rId32" Type="http://schemas.openxmlformats.org/officeDocument/2006/relationships/tags" Target="../tags/tag349.xml"/><Relationship Id="rId37" Type="http://schemas.openxmlformats.org/officeDocument/2006/relationships/tags" Target="../tags/tag354.xml"/><Relationship Id="rId53" Type="http://schemas.openxmlformats.org/officeDocument/2006/relationships/tags" Target="../tags/tag370.xml"/><Relationship Id="rId58" Type="http://schemas.openxmlformats.org/officeDocument/2006/relationships/tags" Target="../tags/tag375.xml"/><Relationship Id="rId74" Type="http://schemas.openxmlformats.org/officeDocument/2006/relationships/tags" Target="../tags/tag391.xml"/><Relationship Id="rId79" Type="http://schemas.openxmlformats.org/officeDocument/2006/relationships/tags" Target="../tags/tag396.xml"/><Relationship Id="rId102" Type="http://schemas.openxmlformats.org/officeDocument/2006/relationships/tags" Target="../tags/tag419.xml"/><Relationship Id="rId5" Type="http://schemas.openxmlformats.org/officeDocument/2006/relationships/tags" Target="../tags/tag322.xml"/><Relationship Id="rId90" Type="http://schemas.openxmlformats.org/officeDocument/2006/relationships/tags" Target="../tags/tag407.xml"/><Relationship Id="rId95" Type="http://schemas.openxmlformats.org/officeDocument/2006/relationships/tags" Target="../tags/tag412.xml"/><Relationship Id="rId22" Type="http://schemas.openxmlformats.org/officeDocument/2006/relationships/tags" Target="../tags/tag339.xml"/><Relationship Id="rId27" Type="http://schemas.openxmlformats.org/officeDocument/2006/relationships/tags" Target="../tags/tag344.xml"/><Relationship Id="rId43" Type="http://schemas.openxmlformats.org/officeDocument/2006/relationships/tags" Target="../tags/tag360.xml"/><Relationship Id="rId48" Type="http://schemas.openxmlformats.org/officeDocument/2006/relationships/tags" Target="../tags/tag365.xml"/><Relationship Id="rId64" Type="http://schemas.openxmlformats.org/officeDocument/2006/relationships/tags" Target="../tags/tag381.xml"/><Relationship Id="rId69" Type="http://schemas.openxmlformats.org/officeDocument/2006/relationships/tags" Target="../tags/tag386.xml"/><Relationship Id="rId113" Type="http://schemas.openxmlformats.org/officeDocument/2006/relationships/tags" Target="../tags/tag430.xml"/><Relationship Id="rId118" Type="http://schemas.openxmlformats.org/officeDocument/2006/relationships/image" Target="../media/image10.jpeg"/><Relationship Id="rId80" Type="http://schemas.openxmlformats.org/officeDocument/2006/relationships/tags" Target="../tags/tag397.xml"/><Relationship Id="rId85" Type="http://schemas.openxmlformats.org/officeDocument/2006/relationships/tags" Target="../tags/tag402.xml"/><Relationship Id="rId12" Type="http://schemas.openxmlformats.org/officeDocument/2006/relationships/tags" Target="../tags/tag329.xml"/><Relationship Id="rId17" Type="http://schemas.openxmlformats.org/officeDocument/2006/relationships/tags" Target="../tags/tag334.xml"/><Relationship Id="rId33" Type="http://schemas.openxmlformats.org/officeDocument/2006/relationships/tags" Target="../tags/tag350.xml"/><Relationship Id="rId38" Type="http://schemas.openxmlformats.org/officeDocument/2006/relationships/tags" Target="../tags/tag355.xml"/><Relationship Id="rId59" Type="http://schemas.openxmlformats.org/officeDocument/2006/relationships/tags" Target="../tags/tag376.xml"/><Relationship Id="rId103" Type="http://schemas.openxmlformats.org/officeDocument/2006/relationships/tags" Target="../tags/tag420.xml"/><Relationship Id="rId108" Type="http://schemas.openxmlformats.org/officeDocument/2006/relationships/tags" Target="../tags/tag425.xml"/><Relationship Id="rId54" Type="http://schemas.openxmlformats.org/officeDocument/2006/relationships/tags" Target="../tags/tag371.xml"/><Relationship Id="rId70" Type="http://schemas.openxmlformats.org/officeDocument/2006/relationships/tags" Target="../tags/tag387.xml"/><Relationship Id="rId75" Type="http://schemas.openxmlformats.org/officeDocument/2006/relationships/tags" Target="../tags/tag392.xml"/><Relationship Id="rId91" Type="http://schemas.openxmlformats.org/officeDocument/2006/relationships/tags" Target="../tags/tag408.xml"/><Relationship Id="rId96" Type="http://schemas.openxmlformats.org/officeDocument/2006/relationships/tags" Target="../tags/tag413.xml"/><Relationship Id="rId1" Type="http://schemas.openxmlformats.org/officeDocument/2006/relationships/tags" Target="../tags/tag318.xml"/><Relationship Id="rId6" Type="http://schemas.openxmlformats.org/officeDocument/2006/relationships/tags" Target="../tags/tag323.xml"/><Relationship Id="rId23" Type="http://schemas.openxmlformats.org/officeDocument/2006/relationships/tags" Target="../tags/tag340.xml"/><Relationship Id="rId28" Type="http://schemas.openxmlformats.org/officeDocument/2006/relationships/tags" Target="../tags/tag345.xml"/><Relationship Id="rId49" Type="http://schemas.openxmlformats.org/officeDocument/2006/relationships/tags" Target="../tags/tag366.xml"/><Relationship Id="rId114" Type="http://schemas.openxmlformats.org/officeDocument/2006/relationships/tags" Target="../tags/tag431.xml"/><Relationship Id="rId119" Type="http://schemas.openxmlformats.org/officeDocument/2006/relationships/image" Target="../media/image3.png"/><Relationship Id="rId10" Type="http://schemas.openxmlformats.org/officeDocument/2006/relationships/tags" Target="../tags/tag327.xml"/><Relationship Id="rId31" Type="http://schemas.openxmlformats.org/officeDocument/2006/relationships/tags" Target="../tags/tag348.xml"/><Relationship Id="rId44" Type="http://schemas.openxmlformats.org/officeDocument/2006/relationships/tags" Target="../tags/tag361.xml"/><Relationship Id="rId52" Type="http://schemas.openxmlformats.org/officeDocument/2006/relationships/tags" Target="../tags/tag369.xml"/><Relationship Id="rId60" Type="http://schemas.openxmlformats.org/officeDocument/2006/relationships/tags" Target="../tags/tag377.xml"/><Relationship Id="rId65" Type="http://schemas.openxmlformats.org/officeDocument/2006/relationships/tags" Target="../tags/tag382.xml"/><Relationship Id="rId73" Type="http://schemas.openxmlformats.org/officeDocument/2006/relationships/tags" Target="../tags/tag390.xml"/><Relationship Id="rId78" Type="http://schemas.openxmlformats.org/officeDocument/2006/relationships/tags" Target="../tags/tag395.xml"/><Relationship Id="rId81" Type="http://schemas.openxmlformats.org/officeDocument/2006/relationships/tags" Target="../tags/tag398.xml"/><Relationship Id="rId86" Type="http://schemas.openxmlformats.org/officeDocument/2006/relationships/tags" Target="../tags/tag403.xml"/><Relationship Id="rId94" Type="http://schemas.openxmlformats.org/officeDocument/2006/relationships/tags" Target="../tags/tag411.xml"/><Relationship Id="rId99" Type="http://schemas.openxmlformats.org/officeDocument/2006/relationships/tags" Target="../tags/tag416.xml"/><Relationship Id="rId101" Type="http://schemas.openxmlformats.org/officeDocument/2006/relationships/tags" Target="../tags/tag418.xml"/><Relationship Id="rId4" Type="http://schemas.openxmlformats.org/officeDocument/2006/relationships/tags" Target="../tags/tag321.xml"/><Relationship Id="rId9" Type="http://schemas.openxmlformats.org/officeDocument/2006/relationships/tags" Target="../tags/tag326.xml"/><Relationship Id="rId13" Type="http://schemas.openxmlformats.org/officeDocument/2006/relationships/tags" Target="../tags/tag330.xml"/><Relationship Id="rId18" Type="http://schemas.openxmlformats.org/officeDocument/2006/relationships/tags" Target="../tags/tag335.xml"/><Relationship Id="rId39" Type="http://schemas.openxmlformats.org/officeDocument/2006/relationships/tags" Target="../tags/tag356.xml"/><Relationship Id="rId109" Type="http://schemas.openxmlformats.org/officeDocument/2006/relationships/tags" Target="../tags/tag426.xml"/><Relationship Id="rId34" Type="http://schemas.openxmlformats.org/officeDocument/2006/relationships/tags" Target="../tags/tag351.xml"/><Relationship Id="rId50" Type="http://schemas.openxmlformats.org/officeDocument/2006/relationships/tags" Target="../tags/tag367.xml"/><Relationship Id="rId55" Type="http://schemas.openxmlformats.org/officeDocument/2006/relationships/tags" Target="../tags/tag372.xml"/><Relationship Id="rId76" Type="http://schemas.openxmlformats.org/officeDocument/2006/relationships/tags" Target="../tags/tag393.xml"/><Relationship Id="rId97" Type="http://schemas.openxmlformats.org/officeDocument/2006/relationships/tags" Target="../tags/tag414.xml"/><Relationship Id="rId104" Type="http://schemas.openxmlformats.org/officeDocument/2006/relationships/tags" Target="../tags/tag421.xml"/><Relationship Id="rId7" Type="http://schemas.openxmlformats.org/officeDocument/2006/relationships/tags" Target="../tags/tag324.xml"/><Relationship Id="rId71" Type="http://schemas.openxmlformats.org/officeDocument/2006/relationships/tags" Target="../tags/tag388.xml"/><Relationship Id="rId92" Type="http://schemas.openxmlformats.org/officeDocument/2006/relationships/tags" Target="../tags/tag409.xml"/><Relationship Id="rId2" Type="http://schemas.openxmlformats.org/officeDocument/2006/relationships/tags" Target="../tags/tag319.xml"/><Relationship Id="rId29" Type="http://schemas.openxmlformats.org/officeDocument/2006/relationships/tags" Target="../tags/tag346.xml"/><Relationship Id="rId24" Type="http://schemas.openxmlformats.org/officeDocument/2006/relationships/tags" Target="../tags/tag341.xml"/><Relationship Id="rId40" Type="http://schemas.openxmlformats.org/officeDocument/2006/relationships/tags" Target="../tags/tag357.xml"/><Relationship Id="rId45" Type="http://schemas.openxmlformats.org/officeDocument/2006/relationships/tags" Target="../tags/tag362.xml"/><Relationship Id="rId66" Type="http://schemas.openxmlformats.org/officeDocument/2006/relationships/tags" Target="../tags/tag383.xml"/><Relationship Id="rId87" Type="http://schemas.openxmlformats.org/officeDocument/2006/relationships/tags" Target="../tags/tag404.xml"/><Relationship Id="rId110" Type="http://schemas.openxmlformats.org/officeDocument/2006/relationships/tags" Target="../tags/tag427.xml"/><Relationship Id="rId115" Type="http://schemas.openxmlformats.org/officeDocument/2006/relationships/tags" Target="../tags/tag432.xml"/><Relationship Id="rId61" Type="http://schemas.openxmlformats.org/officeDocument/2006/relationships/tags" Target="../tags/tag378.xml"/><Relationship Id="rId82" Type="http://schemas.openxmlformats.org/officeDocument/2006/relationships/tags" Target="../tags/tag399.xml"/><Relationship Id="rId19" Type="http://schemas.openxmlformats.org/officeDocument/2006/relationships/tags" Target="../tags/tag336.xml"/><Relationship Id="rId14" Type="http://schemas.openxmlformats.org/officeDocument/2006/relationships/tags" Target="../tags/tag331.xml"/><Relationship Id="rId30" Type="http://schemas.openxmlformats.org/officeDocument/2006/relationships/tags" Target="../tags/tag347.xml"/><Relationship Id="rId35" Type="http://schemas.openxmlformats.org/officeDocument/2006/relationships/tags" Target="../tags/tag352.xml"/><Relationship Id="rId56" Type="http://schemas.openxmlformats.org/officeDocument/2006/relationships/tags" Target="../tags/tag373.xml"/><Relationship Id="rId77" Type="http://schemas.openxmlformats.org/officeDocument/2006/relationships/tags" Target="../tags/tag394.xml"/><Relationship Id="rId100" Type="http://schemas.openxmlformats.org/officeDocument/2006/relationships/tags" Target="../tags/tag417.xml"/><Relationship Id="rId105" Type="http://schemas.openxmlformats.org/officeDocument/2006/relationships/tags" Target="../tags/tag422.xml"/><Relationship Id="rId8" Type="http://schemas.openxmlformats.org/officeDocument/2006/relationships/tags" Target="../tags/tag325.xml"/><Relationship Id="rId51" Type="http://schemas.openxmlformats.org/officeDocument/2006/relationships/tags" Target="../tags/tag368.xml"/><Relationship Id="rId72" Type="http://schemas.openxmlformats.org/officeDocument/2006/relationships/tags" Target="../tags/tag389.xml"/><Relationship Id="rId93" Type="http://schemas.openxmlformats.org/officeDocument/2006/relationships/tags" Target="../tags/tag410.xml"/><Relationship Id="rId98" Type="http://schemas.openxmlformats.org/officeDocument/2006/relationships/tags" Target="../tags/tag415.xml"/><Relationship Id="rId3" Type="http://schemas.openxmlformats.org/officeDocument/2006/relationships/tags" Target="../tags/tag320.xml"/><Relationship Id="rId25" Type="http://schemas.openxmlformats.org/officeDocument/2006/relationships/tags" Target="../tags/tag342.xml"/><Relationship Id="rId46" Type="http://schemas.openxmlformats.org/officeDocument/2006/relationships/tags" Target="../tags/tag363.xml"/><Relationship Id="rId67" Type="http://schemas.openxmlformats.org/officeDocument/2006/relationships/tags" Target="../tags/tag384.xml"/><Relationship Id="rId116" Type="http://schemas.openxmlformats.org/officeDocument/2006/relationships/tags" Target="../tags/tag433.xml"/><Relationship Id="rId20" Type="http://schemas.openxmlformats.org/officeDocument/2006/relationships/tags" Target="../tags/tag337.xml"/><Relationship Id="rId41" Type="http://schemas.openxmlformats.org/officeDocument/2006/relationships/tags" Target="../tags/tag358.xml"/><Relationship Id="rId62" Type="http://schemas.openxmlformats.org/officeDocument/2006/relationships/tags" Target="../tags/tag379.xml"/><Relationship Id="rId83" Type="http://schemas.openxmlformats.org/officeDocument/2006/relationships/tags" Target="../tags/tag400.xml"/><Relationship Id="rId88" Type="http://schemas.openxmlformats.org/officeDocument/2006/relationships/tags" Target="../tags/tag405.xml"/><Relationship Id="rId111" Type="http://schemas.openxmlformats.org/officeDocument/2006/relationships/tags" Target="../tags/tag428.xml"/><Relationship Id="rId15" Type="http://schemas.openxmlformats.org/officeDocument/2006/relationships/tags" Target="../tags/tag332.xml"/><Relationship Id="rId36" Type="http://schemas.openxmlformats.org/officeDocument/2006/relationships/tags" Target="../tags/tag353.xml"/><Relationship Id="rId57" Type="http://schemas.openxmlformats.org/officeDocument/2006/relationships/tags" Target="../tags/tag374.xml"/><Relationship Id="rId106" Type="http://schemas.openxmlformats.org/officeDocument/2006/relationships/tags" Target="../tags/tag42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8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4.xml"/><Relationship Id="rId6" Type="http://schemas.openxmlformats.org/officeDocument/2006/relationships/image" Target="../media/image88.jpe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5.xml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6.xml"/><Relationship Id="rId6" Type="http://schemas.openxmlformats.org/officeDocument/2006/relationships/image" Target="../media/image90.jpe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7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audio" Target="../media/audio1.wav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microsoft.com/office/2007/relationships/hdphoto" Target="../media/hdphoto1.wdp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93.png"/><Relationship Id="rId5" Type="http://schemas.openxmlformats.org/officeDocument/2006/relationships/image" Target="../media/image8.png"/><Relationship Id="rId4" Type="http://schemas.openxmlformats.org/officeDocument/2006/relationships/image" Target="../media/image92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2840990" y="5373370"/>
            <a:ext cx="9256395" cy="1152525"/>
          </a:xfrm>
          <a:prstGeom prst="roundRect">
            <a:avLst/>
          </a:prstGeom>
          <a:noFill/>
          <a:ln>
            <a:solidFill>
              <a:srgbClr val="2536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10"/>
          <p:cNvSpPr txBox="1"/>
          <p:nvPr/>
        </p:nvSpPr>
        <p:spPr>
          <a:xfrm>
            <a:off x="2840355" y="5549900"/>
            <a:ext cx="93389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本课件和教学视频著作权归大敏姐姐所有，未经授权进行搬运、洗稿、二次转发、销售等侵权行为，都属于</a:t>
            </a:r>
            <a:r>
              <a:rPr lang="zh-CN" altLang="en-US" sz="24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违法</a:t>
            </a:r>
            <a:r>
              <a:rPr lang="zh-CN" altLang="en-US" sz="24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违者绝对追责到底！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25082" y="547370"/>
            <a:ext cx="70218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感谢选择大敏姐姐</a:t>
            </a:r>
            <a:r>
              <a:rPr lang="zh-CN" altLang="en-US" sz="2800" b="1" dirty="0">
                <a:solidFill>
                  <a:srgbClr val="25366A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原创高品质</a:t>
            </a:r>
            <a:r>
              <a:rPr lang="en-US" altLang="zh-CN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HSK</a:t>
            </a:r>
            <a:r>
              <a:rPr lang="zh-CN" altLang="en-US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系列课件</a:t>
            </a:r>
            <a:r>
              <a:rPr lang="en-US" altLang="zh-CN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!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752398" y="2694940"/>
            <a:ext cx="2169795" cy="1468755"/>
            <a:chOff x="12547" y="3585"/>
            <a:chExt cx="3417" cy="2313"/>
          </a:xfrm>
        </p:grpSpPr>
        <p:pic>
          <p:nvPicPr>
            <p:cNvPr id="1026" name="Picture 2" descr="C:\Users\Administrator\Desktop\小红书logo_副本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547" y="3585"/>
              <a:ext cx="1041" cy="1044"/>
            </a:xfrm>
            <a:prstGeom prst="rect">
              <a:avLst/>
            </a:prstGeom>
            <a:noFill/>
          </p:spPr>
        </p:pic>
        <p:sp>
          <p:nvSpPr>
            <p:cNvPr id="17" name="TextBox 9"/>
            <p:cNvSpPr txBox="1"/>
            <p:nvPr/>
          </p:nvSpPr>
          <p:spPr>
            <a:xfrm>
              <a:off x="13778" y="3855"/>
              <a:ext cx="218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@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大敏姐姐</a:t>
              </a:r>
            </a:p>
          </p:txBody>
        </p:sp>
        <p:pic>
          <p:nvPicPr>
            <p:cNvPr id="1027" name="Picture 3" descr="C:\Users\Administrator\Desktop\微信_副本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561" y="4897"/>
              <a:ext cx="996" cy="1001"/>
            </a:xfrm>
            <a:prstGeom prst="rect">
              <a:avLst/>
            </a:prstGeom>
            <a:noFill/>
          </p:spPr>
        </p:pic>
        <p:sp>
          <p:nvSpPr>
            <p:cNvPr id="18" name="TextBox 10"/>
            <p:cNvSpPr txBox="1"/>
            <p:nvPr/>
          </p:nvSpPr>
          <p:spPr>
            <a:xfrm>
              <a:off x="13873" y="5046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3CB035"/>
                  </a:solidFill>
                  <a:latin typeface="微软雅黑" panose="020B0503020204020204" charset="-122"/>
                  <a:ea typeface="微软雅黑" panose="020B0503020204020204" charset="-122"/>
                </a:rPr>
                <a:t>dmgqs01</a:t>
              </a:r>
            </a:p>
          </p:txBody>
        </p:sp>
      </p:grpSp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6" name="图片 5" descr="D:\大敏\HSK课件宣传\图片素材\HSK5\封面.png封面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1280" y="1222375"/>
            <a:ext cx="597916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870710" y="5804535"/>
            <a:ext cx="8606155" cy="707390"/>
            <a:chOff x="1881" y="8688"/>
            <a:chExt cx="16683" cy="1114"/>
          </a:xfrm>
        </p:grpSpPr>
        <p:sp>
          <p:nvSpPr>
            <p:cNvPr id="16" name="圆角矩形 15"/>
            <p:cNvSpPr/>
            <p:nvPr/>
          </p:nvSpPr>
          <p:spPr>
            <a:xfrm>
              <a:off x="1881" y="8688"/>
              <a:ext cx="16683" cy="1106"/>
            </a:xfrm>
            <a:prstGeom prst="roundRect">
              <a:avLst/>
            </a:prstGeom>
            <a:noFill/>
            <a:ln>
              <a:solidFill>
                <a:srgbClr val="2536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Box 10"/>
            <p:cNvSpPr txBox="1"/>
            <p:nvPr/>
          </p:nvSpPr>
          <p:spPr>
            <a:xfrm>
              <a:off x="1881" y="8786"/>
              <a:ext cx="1668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本课件和教学视频著作权归大敏姐姐所有，未经授权进行搬运、洗稿、二次转发、销售等侵权行为，都属于</a:t>
              </a:r>
              <a:r>
                <a:rPr lang="zh-CN" altLang="en-US" b="1" dirty="0">
                  <a:solidFill>
                    <a:srgbClr val="FF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违法</a:t>
              </a:r>
              <a:r>
                <a:rPr lang="zh-CN" altLang="en-US" b="1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。</a:t>
              </a:r>
              <a:r>
                <a:rPr lang="zh-CN" altLang="en-US" b="1" dirty="0">
                  <a:solidFill>
                    <a:srgbClr val="FF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违者绝对追责到底！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870393" y="403860"/>
            <a:ext cx="84512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2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使用须知</a:t>
            </a:r>
            <a:r>
              <a:rPr lang="zh-CN" altLang="en-US" sz="3200" b="1" dirty="0">
                <a:solidFill>
                  <a:srgbClr val="FF000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👇</a:t>
            </a:r>
          </a:p>
        </p:txBody>
      </p:sp>
      <p:sp>
        <p:nvSpPr>
          <p:cNvPr id="23" name="矩形: 圆角 22"/>
          <p:cNvSpPr/>
          <p:nvPr/>
        </p:nvSpPr>
        <p:spPr bwMode="auto">
          <a:xfrm>
            <a:off x="2287588" y="2475230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4" name="矩形: 圆角 23"/>
          <p:cNvSpPr/>
          <p:nvPr/>
        </p:nvSpPr>
        <p:spPr bwMode="auto">
          <a:xfrm>
            <a:off x="2287588" y="3088640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" name="矩形: 圆角 19"/>
          <p:cNvSpPr/>
          <p:nvPr/>
        </p:nvSpPr>
        <p:spPr bwMode="auto">
          <a:xfrm>
            <a:off x="2287588" y="1861185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60333" y="1889760"/>
            <a:ext cx="6908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本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必须全屏播放才有动画和音效，手机打开和非全屏播放无效果。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60333" y="2503805"/>
            <a:ext cx="69627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本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包含：教学内容和目标、课堂中老师涉及的英语句子、学生教学内容。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60333" y="3117850"/>
            <a:ext cx="7411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动画修改方式：当前内容上，鼠标右键进行素材替换。请勿删除！否则无动效！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245043" y="1755140"/>
            <a:ext cx="248920" cy="248920"/>
            <a:chOff x="4536440" y="-1071880"/>
            <a:chExt cx="416560" cy="416560"/>
          </a:xfrm>
        </p:grpSpPr>
        <p:sp>
          <p:nvSpPr>
            <p:cNvPr id="33" name="椭圆 32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2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245043" y="2433955"/>
            <a:ext cx="248920" cy="248920"/>
            <a:chOff x="4536440" y="-1071880"/>
            <a:chExt cx="416560" cy="416560"/>
          </a:xfrm>
        </p:grpSpPr>
        <p:sp>
          <p:nvSpPr>
            <p:cNvPr id="36" name="椭圆 35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245043" y="3003550"/>
            <a:ext cx="248920" cy="248920"/>
            <a:chOff x="4536440" y="-1071880"/>
            <a:chExt cx="416560" cy="416560"/>
          </a:xfrm>
        </p:grpSpPr>
        <p:sp>
          <p:nvSpPr>
            <p:cNvPr id="39" name="椭圆 38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0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sp>
        <p:nvSpPr>
          <p:cNvPr id="4" name="矩形: 圆角 23"/>
          <p:cNvSpPr/>
          <p:nvPr/>
        </p:nvSpPr>
        <p:spPr bwMode="auto">
          <a:xfrm>
            <a:off x="2287588" y="3729355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60333" y="3758565"/>
            <a:ext cx="7167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sym typeface="+mn-ea"/>
              </a:rPr>
              <a:t>如有问题欢迎来大敏姐姐直播间连麦咨询，直播时间会提前在朋友圈发布：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Microsoft YaHei Light" panose="020B0502040204020203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245043" y="3644265"/>
            <a:ext cx="248920" cy="248920"/>
            <a:chOff x="4536440" y="-1071880"/>
            <a:chExt cx="416560" cy="416560"/>
          </a:xfrm>
        </p:grpSpPr>
        <p:sp>
          <p:nvSpPr>
            <p:cNvPr id="10" name="椭圆 9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pic>
        <p:nvPicPr>
          <p:cNvPr id="1027" name="Picture 3" descr="C:\Users\Administrator\Desktop\微信_副本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1783" y="4629150"/>
            <a:ext cx="632460" cy="635635"/>
          </a:xfrm>
          <a:prstGeom prst="rect">
            <a:avLst/>
          </a:prstGeom>
          <a:noFill/>
        </p:spPr>
      </p:pic>
      <p:sp>
        <p:nvSpPr>
          <p:cNvPr id="18" name="TextBox 10"/>
          <p:cNvSpPr txBox="1"/>
          <p:nvPr/>
        </p:nvSpPr>
        <p:spPr>
          <a:xfrm>
            <a:off x="8744903" y="4723765"/>
            <a:ext cx="132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CB035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dmgqs01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313" y="4323715"/>
            <a:ext cx="1350645" cy="1355090"/>
          </a:xfrm>
          <a:prstGeom prst="rect">
            <a:avLst/>
          </a:prstGeom>
        </p:spPr>
      </p:pic>
      <p:sp>
        <p:nvSpPr>
          <p:cNvPr id="21" name="矩形: 圆角 19"/>
          <p:cNvSpPr/>
          <p:nvPr/>
        </p:nvSpPr>
        <p:spPr bwMode="auto">
          <a:xfrm>
            <a:off x="2314258" y="1220470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687003" y="1249045"/>
            <a:ext cx="6908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本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需使用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WPS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软件，支持内容（图文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/GIF/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音频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动画）的编辑、修改。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271713" y="1114425"/>
            <a:ext cx="248920" cy="248920"/>
            <a:chOff x="4536440" y="-1071880"/>
            <a:chExt cx="416560" cy="416560"/>
          </a:xfrm>
        </p:grpSpPr>
        <p:sp>
          <p:nvSpPr>
            <p:cNvPr id="26" name="椭圆 25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7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pic>
        <p:nvPicPr>
          <p:cNvPr id="12" name="图片 1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7543701" y="0"/>
            <a:ext cx="4647030" cy="6858000"/>
          </a:xfrm>
          <a:prstGeom prst="rect">
            <a:avLst/>
          </a:prstGeom>
          <a:gradFill flip="none" rotWithShape="1">
            <a:gsLst>
              <a:gs pos="0">
                <a:srgbClr val="E3C982"/>
              </a:gs>
              <a:gs pos="42100">
                <a:srgbClr val="B49256"/>
              </a:gs>
              <a:gs pos="100000">
                <a:srgbClr val="B29054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方正兰亭黑简体" panose="02000000000000000000" charset="-122"/>
              <a:ea typeface="方正兰亭黑简体" panose="02000000000000000000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5207" y="1"/>
            <a:ext cx="4647030" cy="6858024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421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3470" y="392269"/>
            <a:ext cx="26765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教学内容和目标</a:t>
            </a:r>
          </a:p>
        </p:txBody>
      </p:sp>
      <p:cxnSp>
        <p:nvCxnSpPr>
          <p:cNvPr id="104" name="直接连接符 103"/>
          <p:cNvCxnSpPr/>
          <p:nvPr/>
        </p:nvCxnSpPr>
        <p:spPr>
          <a:xfrm>
            <a:off x="870585" y="3151263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70585" y="4894284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00949" y="6762998"/>
            <a:ext cx="1078675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352655" y="994611"/>
            <a:ext cx="811831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46125" y="1812465"/>
            <a:ext cx="12618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语言点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46125" y="3457333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词汇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010535" y="2249170"/>
            <a:ext cx="486737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辨析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打听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和“询问”的异同。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010535" y="1868170"/>
            <a:ext cx="566229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“替、说不定、似的、纷纷”的意义和用法。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010535" y="2650490"/>
            <a:ext cx="76885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制造、表达、天真、整个、询问、除、似的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等词语的搭配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027679" y="3300095"/>
            <a:ext cx="93753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“害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/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伤害、恨、无奈、杀、灾害、逃、影子、此外、熬夜、赶紧、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果然、吓、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010535" y="4034792"/>
            <a:ext cx="4521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 理解本课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4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个非大纲词语的意义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00949" y="5144865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>
                    <a:lumMod val="75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篇章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OPPOSans M" panose="00020600040101010101" pitchFamily="18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027680" y="5062612"/>
            <a:ext cx="91757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）本文主要介绍了年兽“夕”的民间传说以及过年时“守岁、放鞭炮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”等习俗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010535" y="6248494"/>
            <a:ext cx="642239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）讨论有关中国新年的风俗习惯，并完成命题写作。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280854" y="343647"/>
            <a:ext cx="3383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学生能够了解并掌握</a:t>
            </a:r>
          </a:p>
        </p:txBody>
      </p:sp>
      <p:cxnSp>
        <p:nvCxnSpPr>
          <p:cNvPr id="85" name="直接连接符 84"/>
          <p:cNvCxnSpPr/>
          <p:nvPr/>
        </p:nvCxnSpPr>
        <p:spPr>
          <a:xfrm>
            <a:off x="7543800" y="3151263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543800" y="4894283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C:\Users\Administrator\Desktop\我1.png我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65500" y="3649345"/>
            <a:ext cx="954976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追、射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(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击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)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、意义、鞭炮、风俗”等本课其他重点五级大纲词语的意义和用法。   </a:t>
            </a: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02280" y="4391662"/>
            <a:ext cx="91757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 了解并掌握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扩展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板块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8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个“旅游”类词语和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节日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类词语的意义和用法。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635969" y="5886484"/>
            <a:ext cx="309880" cy="329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05911" y="1106606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主题</a:t>
            </a:r>
          </a:p>
        </p:txBody>
      </p:sp>
      <p:cxnSp>
        <p:nvCxnSpPr>
          <p:cNvPr id="29" name="直接连接符 103"/>
          <p:cNvCxnSpPr/>
          <p:nvPr/>
        </p:nvCxnSpPr>
        <p:spPr>
          <a:xfrm>
            <a:off x="886793" y="1710725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175536" y="1206108"/>
            <a:ext cx="6069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除夕的由来</a:t>
            </a:r>
          </a:p>
        </p:txBody>
      </p:sp>
      <p:cxnSp>
        <p:nvCxnSpPr>
          <p:cNvPr id="31" name="直接连接符 84"/>
          <p:cNvCxnSpPr/>
          <p:nvPr/>
        </p:nvCxnSpPr>
        <p:spPr>
          <a:xfrm>
            <a:off x="7579464" y="1710719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515995" y="5433452"/>
            <a:ext cx="857766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的由来。要求学生阅读理解课文，掌握文章大意，并能运用所学词语、 语言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91230" y="5841584"/>
            <a:ext cx="349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点讲述“除夕”的民间故事。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3975" y="-110490"/>
            <a:ext cx="12245975" cy="8528685"/>
            <a:chOff x="-95" y="-188"/>
            <a:chExt cx="19285" cy="13431"/>
          </a:xfrm>
        </p:grpSpPr>
        <p:grpSp>
          <p:nvGrpSpPr>
            <p:cNvPr id="35" name="组合 34"/>
            <p:cNvGrpSpPr/>
            <p:nvPr/>
          </p:nvGrpSpPr>
          <p:grpSpPr>
            <a:xfrm>
              <a:off x="-95" y="-188"/>
              <a:ext cx="19285" cy="13431"/>
              <a:chOff x="-97" y="-188"/>
              <a:chExt cx="19285" cy="13431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-97" y="-186"/>
                <a:ext cx="9664" cy="11216"/>
                <a:chOff x="1953" y="1163"/>
                <a:chExt cx="7302" cy="8474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1964" y="3696"/>
                  <a:ext cx="7258" cy="3352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TextBox 3"/>
                <p:cNvSpPr txBox="1"/>
                <p:nvPr/>
              </p:nvSpPr>
              <p:spPr>
                <a:xfrm>
                  <a:off x="1975" y="4268"/>
                  <a:ext cx="7239" cy="18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ln w="28575">
                        <a:noFill/>
                      </a:ln>
                      <a:solidFill>
                        <a:schemeClr val="bg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</a:rPr>
                    <a:t>HSK 5</a:t>
                  </a: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963" y="1163"/>
                  <a:ext cx="7258" cy="2637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TextBox 3"/>
                <p:cNvSpPr txBox="1"/>
                <p:nvPr/>
              </p:nvSpPr>
              <p:spPr>
                <a:xfrm>
                  <a:off x="1964" y="1674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Standard Course</a:t>
                  </a: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953" y="7001"/>
                  <a:ext cx="7258" cy="2636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TextBox 3"/>
                <p:cNvSpPr txBox="1"/>
                <p:nvPr/>
              </p:nvSpPr>
              <p:spPr>
                <a:xfrm>
                  <a:off x="1975" y="7522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Lesson 6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1965" y="380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1964" y="696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矩形 21"/>
              <p:cNvSpPr/>
              <p:nvPr/>
            </p:nvSpPr>
            <p:spPr>
              <a:xfrm>
                <a:off x="9524" y="-188"/>
                <a:ext cx="9664" cy="112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C:\Users\Administrator\Desktop\小红书\对外汉语战略搞钱计划\教学素材\图片素材\我压缩.png我压缩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5130" y="77"/>
                <a:ext cx="13166" cy="13166"/>
              </a:xfrm>
              <a:prstGeom prst="rect">
                <a:avLst/>
              </a:prstGeom>
            </p:spPr>
          </p:pic>
        </p:grpSp>
        <p:pic>
          <p:nvPicPr>
            <p:cNvPr id="38" name="图片 37" descr="下一页按钮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0" y="8802"/>
              <a:ext cx="2899" cy="1498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第六课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849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6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30"/>
                <a:chOff x="3051" y="4499"/>
                <a:chExt cx="18916" cy="2930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4655" cy="904"/>
                  <a:chOff x="8865" y="6525"/>
                  <a:chExt cx="14655" cy="904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6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4724" y="6525"/>
                    <a:ext cx="8796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GB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Origin of </a:t>
                    </a:r>
                    <a:r>
                      <a:rPr lang="en-GB" altLang="zh-CN" sz="2400" dirty="0" err="1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Chuxi</a:t>
                    </a:r>
                    <a:endParaRPr lang="en-US" altLang="zh-CN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lang="en-US" altLang="zh-CN" sz="6600" b="1" dirty="0"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6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除夕的由来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1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说出第五课中有关文学的词语</a:t>
              </a: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933143" y="5682615"/>
            <a:ext cx="11097895" cy="461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作品、诗、传说、神话、戏剧、风格、形象、魅力、生动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6832" y="2141985"/>
            <a:ext cx="4505006" cy="25016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1274471" y="354755"/>
            <a:ext cx="10285095" cy="3264110"/>
            <a:chOff x="-3513638" y="334832"/>
            <a:chExt cx="10285095" cy="3264110"/>
          </a:xfrm>
        </p:grpSpPr>
        <p:sp>
          <p:nvSpPr>
            <p:cNvPr id="73" name="文本框 72"/>
            <p:cNvSpPr txBox="1"/>
            <p:nvPr/>
          </p:nvSpPr>
          <p:spPr>
            <a:xfrm>
              <a:off x="-3513638" y="1062542"/>
              <a:ext cx="9344660" cy="25364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A80023"/>
              </a:solidFill>
            </a:ln>
          </p:spPr>
          <p:txBody>
            <a:bodyPr wrap="square" rtlCol="0">
              <a:spAutoFit/>
            </a:bodyPr>
            <a:lstStyle/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许多文人都对泉水进行过描写，留下了许多赞美它的诗文。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百姓自然对泉水充满感激之情，从而也产生了许多美丽的传说。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为了不被坏人抢走，情急之下，他把壶埋入地下藏了起来。</a:t>
              </a:r>
              <a:endParaRPr lang="en-US" altLang="zh-CN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楷体" panose="02010600040101010101" charset="-122"/>
              </a:endParaRP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如今的济南市区内，分布着大大小小七百多个天然泉，这是极为少有的。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泉水的优美，还可从那独特优雅的命名上反映出来。</a:t>
              </a:r>
              <a:endParaRPr lang="en-US" altLang="zh-CN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楷体" panose="02010600040101010101" charset="-122"/>
              </a:endParaRP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地下水流到这里，碰到火成岩挡住了路，就积蓄起来。</a:t>
              </a:r>
            </a:p>
          </p:txBody>
        </p:sp>
        <p:pic>
          <p:nvPicPr>
            <p:cNvPr id="74" name="图片 73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143317" y="334832"/>
              <a:ext cx="1628140" cy="1628140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718560" y="386080"/>
            <a:ext cx="4754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听写句子、复习重点词、复述课文</a:t>
            </a:r>
            <a:endParaRPr lang="zh-CN" altLang="en-US" sz="24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55" y="3661911"/>
            <a:ext cx="6136491" cy="319608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06095" y="1261111"/>
            <a:ext cx="11263630" cy="649605"/>
            <a:chOff x="-3197" y="3732"/>
            <a:chExt cx="17738" cy="1201"/>
          </a:xfrm>
        </p:grpSpPr>
        <p:sp>
          <p:nvSpPr>
            <p:cNvPr id="13" name="文本框 12"/>
            <p:cNvSpPr txBox="1"/>
            <p:nvPr/>
          </p:nvSpPr>
          <p:spPr>
            <a:xfrm>
              <a:off x="-3197" y="3868"/>
              <a:ext cx="17649" cy="9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你</a:t>
              </a:r>
              <a:r>
                <a:rPr lang="zh-CN" altLang="zh-CN" sz="28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Calibri" panose="020F0502020204030204" charset="0"/>
                </a:rPr>
                <a:t>能用“物”组多少个两个字的词</a:t>
              </a:r>
              <a:r>
                <a:rPr lang="zh-CN" altLang="en-US" sz="28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？</a:t>
              </a:r>
              <a:endParaRPr lang="zh-CN" altLang="en-US" sz="2800" b="1" noProof="0" dirty="0">
                <a:ln>
                  <a:noFill/>
                </a:ln>
                <a:solidFill>
                  <a:srgbClr val="CFB26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宋体" pitchFamily="2" charset="-122"/>
                <a:sym typeface="Calibri" panose="020F0502020204030204" charset="0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-3197" y="3732"/>
              <a:ext cx="17738" cy="1201"/>
            </a:xfrm>
            <a:prstGeom prst="roundRect">
              <a:avLst/>
            </a:prstGeom>
            <a:noFill/>
            <a:ln w="19050">
              <a:solidFill>
                <a:srgbClr val="B8975A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674610" y="2628388"/>
            <a:ext cx="1833880" cy="1826772"/>
            <a:chOff x="13880" y="625"/>
            <a:chExt cx="5311" cy="5159"/>
          </a:xfrm>
        </p:grpSpPr>
        <p:pic>
          <p:nvPicPr>
            <p:cNvPr id="9" name="图片 8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3338" t="17467" r="18680" b="20221"/>
            <a:stretch>
              <a:fillRect/>
            </a:stretch>
          </p:blipFill>
          <p:spPr>
            <a:xfrm>
              <a:off x="13880" y="625"/>
              <a:ext cx="5311" cy="5159"/>
            </a:xfrm>
            <a:prstGeom prst="ellipse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4169" y="2165"/>
              <a:ext cx="4642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礼物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131009" y="1979295"/>
            <a:ext cx="2058757" cy="1974215"/>
            <a:chOff x="13476" y="314"/>
            <a:chExt cx="5961" cy="5576"/>
          </a:xfrm>
        </p:grpSpPr>
        <p:pic>
          <p:nvPicPr>
            <p:cNvPr id="6" name="图片 5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0593" t="13705" r="19080" b="18956"/>
            <a:stretch>
              <a:fillRect/>
            </a:stretch>
          </p:blipFill>
          <p:spPr>
            <a:xfrm>
              <a:off x="13628" y="314"/>
              <a:ext cx="5525" cy="5576"/>
            </a:xfrm>
            <a:prstGeom prst="ellipse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3476" y="2147"/>
              <a:ext cx="5961" cy="2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生物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303270" y="5023647"/>
            <a:ext cx="1827875" cy="1864198"/>
            <a:chOff x="13843" y="612"/>
            <a:chExt cx="5291" cy="5264"/>
          </a:xfrm>
        </p:grpSpPr>
        <p:pic>
          <p:nvPicPr>
            <p:cNvPr id="16" name="图片 15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938" t="17307" r="19303" b="19116"/>
            <a:stretch>
              <a:fillRect/>
            </a:stretch>
          </p:blipFill>
          <p:spPr>
            <a:xfrm>
              <a:off x="13843" y="612"/>
              <a:ext cx="5290" cy="52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4055" y="2072"/>
              <a:ext cx="5079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事物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99795" y="2148873"/>
            <a:ext cx="1897940" cy="1989422"/>
            <a:chOff x="13748" y="340"/>
            <a:chExt cx="5495" cy="5618"/>
          </a:xfrm>
        </p:grpSpPr>
        <p:pic>
          <p:nvPicPr>
            <p:cNvPr id="18" name="图片 17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745" t="14009" r="18101" b="18140"/>
            <a:stretch>
              <a:fillRect/>
            </a:stretch>
          </p:blipFill>
          <p:spPr>
            <a:xfrm>
              <a:off x="13825" y="340"/>
              <a:ext cx="5418" cy="5618"/>
            </a:xfrm>
            <a:prstGeom prst="ellipse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3748" y="1977"/>
              <a:ext cx="5493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植物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314055" y="4889082"/>
            <a:ext cx="1826895" cy="1864143"/>
            <a:chOff x="13843" y="612"/>
            <a:chExt cx="5290" cy="5264"/>
          </a:xfrm>
        </p:grpSpPr>
        <p:pic>
          <p:nvPicPr>
            <p:cNvPr id="22" name="图片 21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938" t="17307" r="19303" b="19116"/>
            <a:stretch>
              <a:fillRect/>
            </a:stretch>
          </p:blipFill>
          <p:spPr>
            <a:xfrm>
              <a:off x="13843" y="612"/>
              <a:ext cx="5290" cy="5264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13843" y="1933"/>
              <a:ext cx="5286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读物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642251" y="2246630"/>
            <a:ext cx="1938006" cy="1989455"/>
            <a:chOff x="13689" y="340"/>
            <a:chExt cx="5611" cy="5618"/>
          </a:xfrm>
        </p:grpSpPr>
        <p:pic>
          <p:nvPicPr>
            <p:cNvPr id="25" name="图片 24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745" t="14009" r="18101" b="18140"/>
            <a:stretch>
              <a:fillRect/>
            </a:stretch>
          </p:blipFill>
          <p:spPr>
            <a:xfrm>
              <a:off x="13825" y="340"/>
              <a:ext cx="5418" cy="5618"/>
            </a:xfrm>
            <a:prstGeom prst="ellipse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13689" y="2110"/>
              <a:ext cx="5611" cy="2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动物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34795" y="4309143"/>
            <a:ext cx="1897940" cy="1989422"/>
            <a:chOff x="13748" y="340"/>
            <a:chExt cx="5495" cy="5618"/>
          </a:xfrm>
        </p:grpSpPr>
        <p:pic>
          <p:nvPicPr>
            <p:cNvPr id="29" name="图片 28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745" t="14009" r="18101" b="18140"/>
            <a:stretch>
              <a:fillRect/>
            </a:stretch>
          </p:blipFill>
          <p:spPr>
            <a:xfrm>
              <a:off x="13825" y="340"/>
              <a:ext cx="5418" cy="5618"/>
            </a:xfrm>
            <a:prstGeom prst="ellipse">
              <a:avLst/>
            </a:prstGeom>
          </p:spPr>
        </p:pic>
        <p:sp>
          <p:nvSpPr>
            <p:cNvPr id="30" name="文本框 29"/>
            <p:cNvSpPr txBox="1"/>
            <p:nvPr/>
          </p:nvSpPr>
          <p:spPr>
            <a:xfrm>
              <a:off x="13748" y="1977"/>
              <a:ext cx="5493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食物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0260965" y="4138512"/>
            <a:ext cx="1826895" cy="1864143"/>
            <a:chOff x="13843" y="612"/>
            <a:chExt cx="5290" cy="5264"/>
          </a:xfrm>
        </p:grpSpPr>
        <p:pic>
          <p:nvPicPr>
            <p:cNvPr id="32" name="图片 31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938" t="17307" r="19303" b="19116"/>
            <a:stretch>
              <a:fillRect/>
            </a:stretch>
          </p:blipFill>
          <p:spPr>
            <a:xfrm>
              <a:off x="13843" y="612"/>
              <a:ext cx="5290" cy="5264"/>
            </a:xfrm>
            <a:prstGeom prst="rect">
              <a:avLst/>
            </a:prstGeom>
          </p:spPr>
        </p:pic>
        <p:sp>
          <p:nvSpPr>
            <p:cNvPr id="33" name="文本框 32"/>
            <p:cNvSpPr txBox="1"/>
            <p:nvPr/>
          </p:nvSpPr>
          <p:spPr>
            <a:xfrm>
              <a:off x="13843" y="1933"/>
              <a:ext cx="5286" cy="2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公物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624404" y="4269740"/>
            <a:ext cx="2058757" cy="1974215"/>
            <a:chOff x="13476" y="314"/>
            <a:chExt cx="5961" cy="5576"/>
          </a:xfrm>
        </p:grpSpPr>
        <p:pic>
          <p:nvPicPr>
            <p:cNvPr id="36" name="图片 35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0593" t="13705" r="19080" b="18956"/>
            <a:stretch>
              <a:fillRect/>
            </a:stretch>
          </p:blipFill>
          <p:spPr>
            <a:xfrm>
              <a:off x="13628" y="314"/>
              <a:ext cx="5525" cy="5576"/>
            </a:xfrm>
            <a:prstGeom prst="ellipse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13476" y="2147"/>
              <a:ext cx="5961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购物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0149205" y="1910838"/>
            <a:ext cx="1833880" cy="1826772"/>
            <a:chOff x="13880" y="625"/>
            <a:chExt cx="5311" cy="5159"/>
          </a:xfrm>
        </p:grpSpPr>
        <p:pic>
          <p:nvPicPr>
            <p:cNvPr id="39" name="图片 38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3338" t="17467" r="18680" b="20221"/>
            <a:stretch>
              <a:fillRect/>
            </a:stretch>
          </p:blipFill>
          <p:spPr>
            <a:xfrm>
              <a:off x="13880" y="625"/>
              <a:ext cx="5311" cy="5159"/>
            </a:xfrm>
            <a:prstGeom prst="ellipse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14169" y="2165"/>
              <a:ext cx="4642" cy="2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怪物</a:t>
              </a:r>
            </a:p>
          </p:txBody>
        </p:sp>
      </p:grpSp>
    </p:spTree>
    <p:custDataLst>
      <p:tags r:id="rId1"/>
    </p:custDataLst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3250" y="3423285"/>
            <a:ext cx="2311400" cy="1878965"/>
          </a:xfrm>
          <a:prstGeom prst="round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7985" y="3423285"/>
            <a:ext cx="2311400" cy="1878965"/>
          </a:xfrm>
          <a:prstGeom prst="round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7790" y="3061335"/>
            <a:ext cx="3208020" cy="260286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6190" y="3061335"/>
            <a:ext cx="3208020" cy="260286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9755" y="2280920"/>
            <a:ext cx="5952490" cy="4163695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yóu</a:t>
              </a:r>
              <a:r>
                <a:rPr lang="zh-CN" altLang="en-US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lái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由来</a:t>
              </a:r>
              <a:r>
                <a:rPr lang="en-US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  </a:t>
              </a:r>
              <a:endPara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906179" y="765864"/>
            <a:ext cx="1262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CN" sz="2800" dirty="0">
                <a:solidFill>
                  <a:schemeClr val="bg1"/>
                </a:solidFill>
              </a:rPr>
              <a:t>Nguồn gốc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28000" y="1506220"/>
            <a:ext cx="3208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春节的由来是什么呢</a:t>
            </a:r>
            <a:r>
              <a:rPr lang="en-US" altLang="zh-CN" sz="2400"/>
              <a:t>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896870" y="2063750"/>
            <a:ext cx="9281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她告诉了我这件事的经过</a:t>
            </a:r>
            <a:r>
              <a:rPr lang="en-US" altLang="zh-CN" sz="2400"/>
              <a:t>，</a:t>
            </a:r>
            <a:r>
              <a:rPr lang="zh-CN" altLang="en-US" sz="2400"/>
              <a:t>我也知道了这只小狗的由来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1980" y="3472815"/>
            <a:ext cx="2313940" cy="1881505"/>
          </a:xfrm>
          <a:prstGeom prst="round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6715" y="3472815"/>
            <a:ext cx="2313940" cy="1881505"/>
          </a:xfrm>
          <a:prstGeom prst="round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4615" y="3108960"/>
            <a:ext cx="3214370" cy="260794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3015" y="3108960"/>
            <a:ext cx="3214370" cy="260794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4040" y="2327910"/>
            <a:ext cx="5963920" cy="4171950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GB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</a:t>
              </a:r>
              <a:r>
                <a:rPr lang="zh-CN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hāng</a:t>
              </a:r>
              <a:r>
                <a:rPr lang="zh-CN" altLang="en-US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hài</a:t>
              </a:r>
              <a:r>
                <a:rPr lang="zh-CN" altLang="en-US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  伤害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364615" y="1070610"/>
            <a:ext cx="26822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伤害动物</a:t>
            </a:r>
          </a:p>
          <a:p>
            <a:r>
              <a:rPr lang="zh-CN" altLang="en-US" sz="2800"/>
              <a:t>动物受到伤害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157845" y="1247140"/>
            <a:ext cx="25609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/>
              <a:t>Tổn th</a:t>
            </a:r>
            <a:r>
              <a:rPr lang="" altLang="en-US" sz="2800"/>
              <a:t>ư</a:t>
            </a:r>
            <a:r>
              <a:rPr lang="en-US" altLang="en-US" sz="2800"/>
              <a:t>ơ</a:t>
            </a:r>
            <a:r>
              <a:rPr lang="en-US" altLang="zh-CN" sz="2800"/>
              <a:t>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55785" y="3411855"/>
            <a:ext cx="2386330" cy="1939925"/>
          </a:xfrm>
          <a:prstGeom prst="round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50520" y="3411855"/>
            <a:ext cx="2386330" cy="1939925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15085" y="3037205"/>
            <a:ext cx="3313430" cy="2688590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63485" y="3037205"/>
            <a:ext cx="3313430" cy="2688590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22600" y="2231390"/>
            <a:ext cx="6146800" cy="4300220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3200" b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</a:defRPr>
              </a:lvl1pPr>
            </a:lstStyle>
            <a:p>
              <a:r>
                <a:rPr lang="zh-CN" altLang="zh-CN" dirty="0">
                  <a:sym typeface="华文细黑" panose="02010600040101010101" pitchFamily="2" charset="-122"/>
                </a:rPr>
                <a:t>hèn</a:t>
              </a:r>
              <a:r>
                <a:rPr lang="en-US" dirty="0">
                  <a:sym typeface="+mn-ea"/>
                </a:rPr>
                <a:t> </a:t>
              </a:r>
            </a:p>
            <a:p>
              <a:r>
                <a:rPr lang="zh-CN" altLang="en-US" dirty="0">
                  <a:sym typeface="+mn-ea"/>
                </a:rPr>
                <a:t>恨</a:t>
              </a:r>
              <a:endParaRPr lang="zh-CN" dirty="0"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204835" y="1331595"/>
            <a:ext cx="2859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下雨天就不能出去玩了</a:t>
            </a:r>
            <a:r>
              <a:rPr lang="en-US" altLang="zh-CN" sz="2000"/>
              <a:t>，</a:t>
            </a:r>
            <a:r>
              <a:rPr lang="zh-CN" altLang="en-US" sz="2000"/>
              <a:t>我恨下雨天</a:t>
            </a:r>
            <a:r>
              <a:rPr lang="en-US" altLang="zh-CN" sz="2000"/>
              <a:t>！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760845" y="1331595"/>
            <a:ext cx="12820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/>
              <a:t>Hận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74835" y="3320415"/>
            <a:ext cx="2348230" cy="1908810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69570" y="3320415"/>
            <a:ext cx="2348230" cy="1908810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43025" y="2952750"/>
            <a:ext cx="3257550" cy="264350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91425" y="2952750"/>
            <a:ext cx="3257550" cy="264350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72765" y="2159635"/>
            <a:ext cx="6046470" cy="4229735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bg2"/>
            </a:solidFill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gǔ(tou)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 骨（头）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38640" y="3233420"/>
            <a:ext cx="2420620" cy="1967230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33375" y="3233420"/>
            <a:ext cx="2420620" cy="1967230"/>
          </a:xfrm>
          <a:prstGeom prst="round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290955" y="2853055"/>
            <a:ext cx="3361690" cy="272732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39355" y="2853055"/>
            <a:ext cx="3361690" cy="272732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2977515" y="2035175"/>
            <a:ext cx="6236970" cy="4363720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GB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w</a:t>
              </a:r>
              <a:r>
                <a:rPr lang="zh-CN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ú</a:t>
              </a:r>
              <a:r>
                <a:rPr lang="zh-CN" altLang="en-US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nài</a:t>
              </a:r>
              <a:endParaRPr lang="en-US" sz="32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无奈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082915" y="1459230"/>
            <a:ext cx="37763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小明一点都不听话</a:t>
            </a:r>
            <a:r>
              <a:rPr lang="en-US" altLang="zh-CN" sz="2400"/>
              <a:t>，</a:t>
            </a:r>
            <a:r>
              <a:rPr lang="zh-CN" altLang="en-US" sz="2400"/>
              <a:t>他妈妈也没办法</a:t>
            </a:r>
            <a:r>
              <a:rPr lang="en-US" altLang="zh-CN" sz="2400"/>
              <a:t>，</a:t>
            </a:r>
            <a:r>
              <a:rPr lang="zh-CN" altLang="en-US" sz="2400"/>
              <a:t>感到非常无奈</a:t>
            </a:r>
            <a:r>
              <a:rPr lang="en-US" altLang="zh-CN" sz="2400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098155" y="214290"/>
            <a:ext cx="223266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 err="1"/>
              <a:t>Bất</a:t>
            </a:r>
            <a:r>
              <a:rPr lang="en-US" altLang="zh-CN" sz="2400" dirty="0"/>
              <a:t> </a:t>
            </a:r>
            <a:r>
              <a:rPr lang="" altLang="en-US" sz="2400" dirty="0"/>
              <a:t>đ</a:t>
            </a:r>
            <a:r>
              <a:rPr lang="en-US" altLang="zh-CN" sz="2400" dirty="0" err="1"/>
              <a:t>ắc</a:t>
            </a:r>
            <a:r>
              <a:rPr lang="en-US" altLang="zh-CN" sz="2400" dirty="0"/>
              <a:t> d</a:t>
            </a:r>
            <a:r>
              <a:rPr lang="" altLang="en-US" sz="2400" dirty="0"/>
              <a:t>ĩ</a:t>
            </a:r>
            <a:r>
              <a:rPr lang="vi-VN" altLang="en-US" sz="2400" dirty="0"/>
              <a:t>, không biết phài làm sao</a:t>
            </a:r>
            <a:endParaRPr lang="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60094">
        <p159:morph option="byObject"/>
      </p:transition>
    </mc:Choice>
    <mc:Fallback xmlns="">
      <p:transition spd="med" advTm="36009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290" y="1061037"/>
            <a:ext cx="2870395" cy="4735926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-177165" y="1459230"/>
            <a:ext cx="5665470" cy="3802380"/>
            <a:chOff x="-279" y="2298"/>
            <a:chExt cx="8922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-279" y="3253"/>
              <a:ext cx="8640" cy="353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</a:t>
              </a:r>
              <a:r>
                <a:rPr lang="en-GB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y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īng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xióng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英 雄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517467" y="5621257"/>
            <a:ext cx="2425065" cy="582635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353" y="9282"/>
              <a:ext cx="2553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  <a:sym typeface="+mn-ea"/>
                </a:rPr>
                <a:t>雷锋精神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353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en-GB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y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īng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jùn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英 俊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</p:txBody>
        </p:sp>
      </p:grpSp>
      <p:pic>
        <p:nvPicPr>
          <p:cNvPr id="16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423" y="1061037"/>
            <a:ext cx="2872800" cy="473592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8" name="组合 17"/>
          <p:cNvGrpSpPr/>
          <p:nvPr/>
        </p:nvGrpSpPr>
        <p:grpSpPr>
          <a:xfrm>
            <a:off x="7335455" y="5648549"/>
            <a:ext cx="2715825" cy="1075870"/>
            <a:chOff x="-599" y="9126"/>
            <a:chExt cx="9658" cy="2094"/>
          </a:xfrm>
        </p:grpSpPr>
        <p:sp>
          <p:nvSpPr>
            <p:cNvPr id="19" name="圆角矩形 18"/>
            <p:cNvSpPr/>
            <p:nvPr/>
          </p:nvSpPr>
          <p:spPr>
            <a:xfrm>
              <a:off x="196" y="9126"/>
              <a:ext cx="8624" cy="209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-599" y="9126"/>
              <a:ext cx="9658" cy="185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  <a:sym typeface="+mn-ea"/>
                </a:rPr>
                <a:t>容貌俊秀</a:t>
              </a:r>
            </a:p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Comic Sans MS" panose="030F0902030302020204" pitchFamily="66" charset="0"/>
                  <a:sym typeface="+mn-ea"/>
                </a:rPr>
                <a:t>长得帅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由来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origin, source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yóu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lái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 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恨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 eaLnBrk="1"/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hate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hèn</a:t>
            </a:r>
            <a:endParaRPr lang="en-US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伤害</a:t>
              </a:r>
              <a:endParaRPr 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eaLnBrk="1"/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  </a:t>
              </a: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hurt, to harm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4966155" y="863600"/>
            <a:ext cx="2385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</a:t>
            </a:r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hāng</a:t>
            </a:r>
            <a:r>
              <a:rPr lang="zh-CN" altLang="en-US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hài</a:t>
            </a:r>
            <a:r>
              <a:rPr lang="zh-CN" altLang="en-US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 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骨</a:t>
              </a:r>
              <a:r>
                <a:rPr lang="en-US" altLang="zh-CN" sz="4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(</a:t>
              </a:r>
              <a:r>
                <a:rPr lang="zh-CN" altLang="en-US" sz="4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头</a:t>
              </a:r>
              <a:r>
                <a:rPr lang="en-US" altLang="zh-CN" sz="4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)</a:t>
              </a:r>
              <a:endPara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bone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g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ǔ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(tou)</a:t>
            </a:r>
            <a:endParaRPr lang="en-US" altLang="zh-CN" sz="32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194050"/>
            <a:chOff x="4717" y="1909"/>
            <a:chExt cx="3511" cy="5030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无奈</a:t>
              </a:r>
              <a:endParaRPr lang="en-US" altLang="zh-CN" sz="5400" b="1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have no way out, to be helpless</a:t>
              </a: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ú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nài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英雄</a:t>
              </a: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hero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</a:t>
            </a:r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īng</a:t>
            </a:r>
            <a:r>
              <a:rPr lang="zh-CN" altLang="en-US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xióng</a:t>
            </a:r>
            <a:endParaRPr lang="en-US" altLang="zh-CN" sz="32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英俊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 eaLnBrk="1"/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handsome</a:t>
              </a: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īng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jùn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Users/huangkafi/Downloads/IMG_7066.jpgIMG_7066"/>
          <p:cNvPicPr>
            <a:picLocks noChangeAspect="1"/>
          </p:cNvPicPr>
          <p:nvPr/>
        </p:nvPicPr>
        <p:blipFill>
          <a:blip r:embed="rId2"/>
          <a:srcRect l="28406"/>
          <a:stretch>
            <a:fillRect/>
          </a:stretch>
        </p:blipFill>
        <p:spPr>
          <a:xfrm>
            <a:off x="3456940" y="0"/>
            <a:ext cx="872871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图片 33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2" name="图片 1" descr="IMG_7066"/>
          <p:cNvPicPr>
            <a:picLocks noChangeAspect="1"/>
          </p:cNvPicPr>
          <p:nvPr/>
        </p:nvPicPr>
        <p:blipFill>
          <a:blip r:embed="rId2">
            <a:alphaModFix amt="40000"/>
          </a:blip>
          <a:srcRect r="67771"/>
          <a:stretch>
            <a:fillRect/>
          </a:stretch>
        </p:blipFill>
        <p:spPr>
          <a:xfrm>
            <a:off x="8255" y="0"/>
            <a:ext cx="392938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25095" y="1983105"/>
            <a:ext cx="3150870" cy="3651250"/>
          </a:xfrm>
          <a:prstGeom prst="rect">
            <a:avLst/>
          </a:prstGeom>
          <a:effectLst>
            <a:softEdge rad="3175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272" y="2531840"/>
            <a:ext cx="3248166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b="1" dirty="0">
                <a:solidFill>
                  <a:schemeClr val="accent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请用前面学过的词编一个有关怪物的故事（开头已给出）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Users/huangkafi/Downloads/IMG_7066.jpgIMG_7066"/>
          <p:cNvPicPr>
            <a:picLocks noChangeAspect="1"/>
          </p:cNvPicPr>
          <p:nvPr/>
        </p:nvPicPr>
        <p:blipFill>
          <a:blip r:embed="rId2"/>
          <a:srcRect l="89124"/>
          <a:stretch>
            <a:fillRect/>
          </a:stretch>
        </p:blipFill>
        <p:spPr>
          <a:xfrm>
            <a:off x="10974705" y="33020"/>
            <a:ext cx="1339215" cy="6926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 descr="/Users/huangkafi/Downloads/IMG_7066.jpgIMG_7066"/>
          <p:cNvPicPr>
            <a:picLocks noChangeAspect="1"/>
          </p:cNvPicPr>
          <p:nvPr/>
        </p:nvPicPr>
        <p:blipFill>
          <a:blip r:embed="rId2"/>
          <a:srcRect r="39654"/>
          <a:stretch>
            <a:fillRect/>
          </a:stretch>
        </p:blipFill>
        <p:spPr>
          <a:xfrm>
            <a:off x="0" y="33655"/>
            <a:ext cx="7430135" cy="6925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1" descr="/Users/huangkafi/Downloads/IMG_7066.jpgIMG_7066"/>
          <p:cNvPicPr/>
          <p:nvPr/>
        </p:nvPicPr>
        <p:blipFill>
          <a:blip r:embed="rId2">
            <a:alphaModFix amt="60000"/>
          </a:blip>
          <a:srcRect l="60184" r="10148"/>
          <a:stretch>
            <a:fillRect/>
          </a:stretch>
        </p:blipFill>
        <p:spPr>
          <a:xfrm>
            <a:off x="7350760" y="13335"/>
            <a:ext cx="3635375" cy="6926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图片 33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67055" y="3451225"/>
            <a:ext cx="77825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>
              <a:lnSpc>
                <a:spcPct val="100000"/>
              </a:lnSpc>
              <a:buClrTx/>
              <a:buSzTx/>
              <a:buNone/>
            </a:pPr>
            <a:r>
              <a:rPr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从前，有一个怪物......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503795" y="1115060"/>
            <a:ext cx="3248025" cy="4763770"/>
            <a:chOff x="12270" y="1902"/>
            <a:chExt cx="5115" cy="7502"/>
          </a:xfrm>
        </p:grpSpPr>
        <p:sp>
          <p:nvSpPr>
            <p:cNvPr id="4" name="圆角矩形 3"/>
            <p:cNvSpPr/>
            <p:nvPr/>
          </p:nvSpPr>
          <p:spPr>
            <a:xfrm>
              <a:off x="13602" y="1902"/>
              <a:ext cx="2587" cy="7502"/>
            </a:xfrm>
            <a:prstGeom prst="roundRect">
              <a:avLst/>
            </a:prstGeom>
            <a:solidFill>
              <a:schemeClr val="bg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270" y="2224"/>
              <a:ext cx="5115" cy="6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由来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伤害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恨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骨</a:t>
              </a:r>
              <a:r>
                <a:rPr lang="en-US" altLang="zh-CN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(</a:t>
              </a:r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头</a:t>
              </a:r>
              <a:r>
                <a:rPr lang="en-US" altLang="zh-CN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)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无奈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英雄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英俊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此外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cǐ wài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此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外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conj. in addition, moreover</a:t>
              </a:r>
            </a:p>
          </p:txBody>
        </p:sp>
      </p:grpSp>
      <p:grpSp>
        <p:nvGrpSpPr>
          <p:cNvPr id="16" name="影子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698"/>
              <a:ext cx="7429" cy="397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yǐng zi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影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子</a:t>
              </a:r>
            </a:p>
            <a:p>
              <a:pPr algn="ctr"/>
              <a:r>
                <a:rPr sz="2400">
                  <a:sym typeface="+mn-ea"/>
                </a:rPr>
                <a:t>n. shadow</a:t>
              </a: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灾害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zāi hài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灾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害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disaster , calamity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制造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zhì zào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制造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make, to produce</a:t>
              </a:r>
            </a:p>
          </p:txBody>
        </p:sp>
      </p:grpSp>
      <p:grpSp>
        <p:nvGrpSpPr>
          <p:cNvPr id="6" name="代替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dài tì</a:t>
              </a:r>
            </a:p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(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代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)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替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prep. for, on behalf of</a:t>
              </a:r>
            </a:p>
          </p:txBody>
        </p:sp>
      </p:grpSp>
      <p:grpSp>
        <p:nvGrpSpPr>
          <p:cNvPr id="21" name="天真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18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tiān</a:t>
              </a:r>
              <a:r>
                <a:rPr lang="en-US" sz="600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sz="600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zhēn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天真</a:t>
              </a: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adj. naive, innocent</a:t>
              </a:r>
            </a:p>
          </p:txBody>
        </p:sp>
      </p:grpSp>
      <p:grpSp>
        <p:nvGrpSpPr>
          <p:cNvPr id="37" name="询问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54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xún</a:t>
              </a:r>
              <a:r>
                <a:rPr lang="en-US" sz="54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sz="54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wèn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询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问</a:t>
              </a: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ask, to inquire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385445" y="1520825"/>
            <a:ext cx="2386330" cy="3194050"/>
            <a:chOff x="2640" y="218"/>
            <a:chExt cx="3758" cy="5030"/>
          </a:xfrm>
        </p:grpSpPr>
        <p:grpSp>
          <p:nvGrpSpPr>
            <p:cNvPr id="2" name="组合 1"/>
            <p:cNvGrpSpPr/>
            <p:nvPr/>
          </p:nvGrpSpPr>
          <p:grpSpPr>
            <a:xfrm>
              <a:off x="2708" y="218"/>
              <a:ext cx="3491" cy="5030"/>
              <a:chOff x="304" y="2028"/>
              <a:chExt cx="3491" cy="503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44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9" name="文本框 7"/>
              <p:cNvSpPr txBox="1"/>
              <p:nvPr/>
            </p:nvSpPr>
            <p:spPr>
              <a:xfrm>
                <a:off x="304" y="4252"/>
                <a:ext cx="3491" cy="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dirty="0"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询问</a:t>
                </a:r>
                <a:endPara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algn="ctr">
                  <a:defRPr/>
                </a:pPr>
                <a:r>
                  <a:rPr lang="zh-CN" altLang="zh-CN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ask, to inquire</a:t>
                </a:r>
              </a:p>
            </p:txBody>
          </p:sp>
        </p:grpSp>
        <p:sp>
          <p:nvSpPr>
            <p:cNvPr id="10" name="文本框 7"/>
            <p:cNvSpPr txBox="1"/>
            <p:nvPr/>
          </p:nvSpPr>
          <p:spPr>
            <a:xfrm>
              <a:off x="2640" y="1377"/>
              <a:ext cx="3759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ún</a:t>
              </a:r>
              <a:r>
                <a:rPr lang="zh-CN" altLang="en-US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wèn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</a:t>
              </a:r>
            </a:p>
          </p:txBody>
        </p:sp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6"/>
          <a:stretch>
            <a:fillRect/>
          </a:stretch>
        </p:blipFill>
        <p:spPr>
          <a:xfrm>
            <a:off x="3997325" y="594360"/>
            <a:ext cx="5497830" cy="274129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3978910" y="3921760"/>
            <a:ext cx="5275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如果不舒服</a:t>
            </a:r>
            <a:r>
              <a:rPr lang="en-US" altLang="zh-CN" sz="2400"/>
              <a:t>，</a:t>
            </a:r>
            <a:r>
              <a:rPr lang="zh-CN" altLang="en-US" sz="2400"/>
              <a:t>要及时向医生询问</a:t>
            </a:r>
            <a:r>
              <a:rPr lang="en-US" altLang="zh-CN" sz="2400"/>
              <a:t>。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978910" y="4714875"/>
            <a:ext cx="6401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我们遇到不理解的地方</a:t>
            </a:r>
            <a:r>
              <a:rPr lang="en-US" altLang="zh-CN" sz="2400"/>
              <a:t>，</a:t>
            </a:r>
            <a:r>
              <a:rPr lang="zh-CN" altLang="en-US" sz="2400"/>
              <a:t>要向老师询问</a:t>
            </a:r>
            <a:r>
              <a:rPr lang="en-US" altLang="zh-CN" sz="24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2" grpId="0"/>
      <p:bldP spid="4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61315" y="1308100"/>
            <a:ext cx="2385060" cy="3194050"/>
            <a:chOff x="7821" y="201"/>
            <a:chExt cx="3756" cy="5030"/>
          </a:xfrm>
        </p:grpSpPr>
        <p:grpSp>
          <p:nvGrpSpPr>
            <p:cNvPr id="6" name="组合 5"/>
            <p:cNvGrpSpPr/>
            <p:nvPr/>
          </p:nvGrpSpPr>
          <p:grpSpPr>
            <a:xfrm>
              <a:off x="7916" y="201"/>
              <a:ext cx="3479" cy="5030"/>
              <a:chOff x="9330" y="2028"/>
              <a:chExt cx="3479" cy="50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天真</a:t>
                </a:r>
                <a:endParaRPr 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algn="ctr">
                  <a:defRPr/>
                </a:pPr>
                <a:r>
                  <a:rPr lang="zh-CN" altLang="zh-CN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adj. naive, innocent</a:t>
                </a:r>
                <a:endPara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20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7821" y="1360"/>
              <a:ext cx="3757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t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iān</a:t>
              </a:r>
              <a:r>
                <a:rPr lang="zh-CN" altLang="en-US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zhēn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2932430" y="453390"/>
            <a:ext cx="4288790" cy="5003800"/>
            <a:chOff x="4618" y="714"/>
            <a:chExt cx="6754" cy="7880"/>
          </a:xfrm>
        </p:grpSpPr>
        <p:pic>
          <p:nvPicPr>
            <p:cNvPr id="40" name="图片 39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618" y="714"/>
              <a:ext cx="6755" cy="6575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4852" y="7870"/>
              <a:ext cx="585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/>
                <a:t>这个小女孩真是天真可爱</a:t>
              </a:r>
              <a:r>
                <a:rPr lang="en-US" altLang="zh-CN" sz="2400"/>
                <a:t>。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388225" y="453390"/>
            <a:ext cx="3853815" cy="5188585"/>
            <a:chOff x="11635" y="714"/>
            <a:chExt cx="6069" cy="8171"/>
          </a:xfrm>
        </p:grpSpPr>
        <p:pic>
          <p:nvPicPr>
            <p:cNvPr id="42" name="图片 4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1635" y="714"/>
              <a:ext cx="5459" cy="6576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/>
          </p:nvSpPr>
          <p:spPr>
            <a:xfrm>
              <a:off x="11666" y="7579"/>
              <a:ext cx="6038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/>
                <a:t>小时候我们什么都不懂</a:t>
              </a:r>
              <a:r>
                <a:rPr lang="en-US" altLang="zh-CN" sz="2400"/>
                <a:t>，</a:t>
              </a:r>
              <a:r>
                <a:rPr lang="zh-CN" altLang="en-US" sz="2400"/>
                <a:t>非常天真</a:t>
              </a:r>
              <a:r>
                <a:rPr lang="en-US" altLang="zh-CN" sz="2400"/>
                <a:t>。</a:t>
              </a: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688975" y="4628515"/>
            <a:ext cx="1885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Ng</a:t>
            </a:r>
            <a:r>
              <a:rPr lang="en-US" altLang="en-US" sz="2400"/>
              <a:t>â</a:t>
            </a:r>
            <a:r>
              <a:rPr lang="en-US" altLang="zh-CN" sz="2400"/>
              <a:t>y th</a:t>
            </a:r>
            <a:r>
              <a:rPr lang="en-US" altLang="en-US" sz="2400"/>
              <a:t>ơ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37490" y="1501775"/>
            <a:ext cx="2385060" cy="3194050"/>
            <a:chOff x="13036" y="260"/>
            <a:chExt cx="3756" cy="5030"/>
          </a:xfrm>
        </p:grpSpPr>
        <p:grpSp>
          <p:nvGrpSpPr>
            <p:cNvPr id="4" name="组合 3"/>
            <p:cNvGrpSpPr/>
            <p:nvPr/>
          </p:nvGrpSpPr>
          <p:grpSpPr>
            <a:xfrm>
              <a:off x="13188" y="260"/>
              <a:ext cx="3465" cy="5030"/>
              <a:chOff x="9330" y="2028"/>
              <a:chExt cx="3465" cy="5030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5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59" name="图片 5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60" name="文本框 7"/>
              <p:cNvSpPr txBox="1"/>
              <p:nvPr/>
            </p:nvSpPr>
            <p:spPr>
              <a:xfrm>
                <a:off x="9385" y="4252"/>
                <a:ext cx="3353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4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 </a:t>
                </a:r>
                <a:r>
                  <a:rPr lang="en-US" altLang="zh-CN" sz="4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(</a:t>
                </a:r>
                <a:r>
                  <a:rPr lang="zh-CN" altLang="en-US" sz="4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代</a:t>
                </a:r>
                <a:r>
                  <a:rPr lang="en-US" altLang="zh-CN" sz="4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)</a:t>
                </a: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替</a:t>
                </a:r>
              </a:p>
              <a:p>
                <a:pPr algn="ctr">
                  <a:defRPr/>
                </a:pPr>
                <a:r>
                  <a:rPr lang="zh-CN" altLang="zh-CN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prep. for, on </a:t>
                </a:r>
                <a:endPara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endParaRPr>
              </a:p>
              <a:p>
                <a:pPr algn="ctr">
                  <a:defRPr/>
                </a:pPr>
                <a:r>
                  <a:rPr lang="zh-CN" altLang="zh-CN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behalf of</a:t>
                </a:r>
              </a:p>
            </p:txBody>
          </p:sp>
        </p:grpSp>
        <p:sp>
          <p:nvSpPr>
            <p:cNvPr id="62" name="文本框 7"/>
            <p:cNvSpPr txBox="1"/>
            <p:nvPr/>
          </p:nvSpPr>
          <p:spPr>
            <a:xfrm>
              <a:off x="13036" y="1419"/>
              <a:ext cx="3757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altLang="zh-CN" sz="32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(d</a:t>
              </a:r>
              <a:r>
                <a:rPr lang="zh-CN" altLang="zh-CN" sz="32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ài</a:t>
              </a:r>
              <a:r>
                <a:rPr lang="en-US" altLang="zh-CN" sz="32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)</a:t>
              </a:r>
              <a:r>
                <a:rPr lang="zh-CN" altLang="en-US" sz="32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tì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3383915" y="614680"/>
            <a:ext cx="6073140" cy="3551555"/>
            <a:chOff x="5329" y="968"/>
            <a:chExt cx="9564" cy="5593"/>
          </a:xfrm>
        </p:grpSpPr>
        <p:pic>
          <p:nvPicPr>
            <p:cNvPr id="40" name="图片 39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310" y="968"/>
              <a:ext cx="4745" cy="4586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5329" y="5837"/>
              <a:ext cx="956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/>
                <a:t>小明受伤了</a:t>
              </a:r>
              <a:r>
                <a:rPr lang="en-US" altLang="zh-CN" sz="2400"/>
                <a:t>，</a:t>
              </a:r>
              <a:r>
                <a:rPr lang="zh-CN" altLang="en-US" sz="2400"/>
                <a:t>只能让小刚代替他参加比赛</a:t>
              </a:r>
              <a:r>
                <a:rPr lang="en-US" altLang="zh-CN" sz="2400"/>
                <a:t>。</a:t>
              </a: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498475" y="4832985"/>
            <a:ext cx="21247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Thay thế</a:t>
            </a:r>
          </a:p>
          <a:p>
            <a:endParaRPr lang="en-US" altLang="zh-CN" sz="2800"/>
          </a:p>
        </p:txBody>
      </p:sp>
      <p:sp>
        <p:nvSpPr>
          <p:cNvPr id="46" name="文本框 45"/>
          <p:cNvSpPr txBox="1"/>
          <p:nvPr/>
        </p:nvSpPr>
        <p:spPr>
          <a:xfrm>
            <a:off x="3383915" y="4567555"/>
            <a:ext cx="60731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A:</a:t>
            </a:r>
            <a:r>
              <a:rPr lang="zh-CN" altLang="en-US" sz="2400"/>
              <a:t>我忘记带电脑了</a:t>
            </a:r>
            <a:r>
              <a:rPr lang="en-US" altLang="zh-CN" sz="2400"/>
              <a:t>。</a:t>
            </a:r>
          </a:p>
          <a:p>
            <a:r>
              <a:rPr lang="en-US" altLang="zh-CN" sz="2400"/>
              <a:t>B:</a:t>
            </a:r>
            <a:r>
              <a:rPr lang="zh-CN" altLang="en-US" sz="2400"/>
              <a:t>你可以用平板代替</a:t>
            </a:r>
            <a:r>
              <a:rPr lang="en-US" altLang="zh-CN" sz="24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37490" y="1836420"/>
            <a:ext cx="2754630" cy="3194050"/>
            <a:chOff x="55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408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制造</a:t>
                </a:r>
              </a:p>
              <a:p>
                <a:pPr algn="ctr">
                  <a:defRPr/>
                </a:pPr>
                <a:r>
                  <a:rPr lang="zh-CN" altLang="zh-CN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make, to produce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5" y="6975"/>
              <a:ext cx="4338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hì</a:t>
              </a:r>
              <a:r>
                <a:rPr lang="zh-CN" altLang="en-US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zào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3156585" y="339725"/>
            <a:ext cx="5191125" cy="3029585"/>
            <a:chOff x="4971" y="535"/>
            <a:chExt cx="8175" cy="4771"/>
          </a:xfrm>
        </p:grpSpPr>
        <p:pic>
          <p:nvPicPr>
            <p:cNvPr id="40" name="图片 39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394" y="535"/>
              <a:ext cx="7753" cy="3646"/>
            </a:xfrm>
            <a:prstGeom prst="rect">
              <a:avLst/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4971" y="4582"/>
              <a:ext cx="721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/>
                <a:t>很多东西都是中国制造的</a:t>
              </a:r>
              <a:r>
                <a:rPr lang="en-US" altLang="zh-CN" sz="2400"/>
                <a:t>。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374900" y="3797935"/>
            <a:ext cx="9078595" cy="2832735"/>
            <a:chOff x="3740" y="5981"/>
            <a:chExt cx="14297" cy="4461"/>
          </a:xfrm>
        </p:grpSpPr>
        <p:pic>
          <p:nvPicPr>
            <p:cNvPr id="41" name="图片 40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8396" y="5981"/>
              <a:ext cx="9641" cy="4461"/>
            </a:xfrm>
            <a:prstGeom prst="rect">
              <a:avLst/>
            </a:prstGeom>
          </p:spPr>
        </p:pic>
        <p:sp>
          <p:nvSpPr>
            <p:cNvPr id="47" name="文本框 46"/>
            <p:cNvSpPr txBox="1"/>
            <p:nvPr/>
          </p:nvSpPr>
          <p:spPr>
            <a:xfrm>
              <a:off x="3740" y="7282"/>
              <a:ext cx="465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/>
                <a:t>这是一个汽车制造厂</a:t>
              </a: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544830" y="5084445"/>
            <a:ext cx="224218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altLang="zh-CN" sz="2800" dirty="0"/>
              <a:t>Chế tạo</a:t>
            </a:r>
            <a:endParaRPr lang="en-US" altLang="zh-CN" sz="2800" dirty="0"/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334645" y="146050"/>
            <a:ext cx="2228850" cy="3194050"/>
            <a:chOff x="5648" y="5714"/>
            <a:chExt cx="3510" cy="5030"/>
          </a:xfrm>
        </p:grpSpPr>
        <p:grpSp>
          <p:nvGrpSpPr>
            <p:cNvPr id="14" name="组合 13"/>
            <p:cNvGrpSpPr/>
            <p:nvPr/>
          </p:nvGrpSpPr>
          <p:grpSpPr>
            <a:xfrm>
              <a:off x="5648" y="5714"/>
              <a:ext cx="3511" cy="5030"/>
              <a:chOff x="4717" y="1909"/>
              <a:chExt cx="3511" cy="5030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717" y="4133"/>
                <a:ext cx="3511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dirty="0"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灾害</a:t>
                </a: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algn="ctr">
                  <a:defRPr/>
                </a:pPr>
                <a:r>
                  <a:rPr lang="zh-CN" altLang="zh-CN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disaster , calamity</a:t>
                </a: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5648" y="6873"/>
              <a:ext cx="3511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āi</a:t>
              </a:r>
              <a:r>
                <a:rPr lang="zh-CN" altLang="en-US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hài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144780" y="3498215"/>
            <a:ext cx="2754630" cy="3194050"/>
            <a:chOff x="9905" y="5714"/>
            <a:chExt cx="4338" cy="5030"/>
          </a:xfrm>
        </p:grpSpPr>
        <p:grpSp>
          <p:nvGrpSpPr>
            <p:cNvPr id="3" name="组合 2"/>
            <p:cNvGrpSpPr/>
            <p:nvPr/>
          </p:nvGrpSpPr>
          <p:grpSpPr>
            <a:xfrm>
              <a:off x="10258" y="5714"/>
              <a:ext cx="3533" cy="5030"/>
              <a:chOff x="9262" y="2028"/>
              <a:chExt cx="3533" cy="503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2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4" name="文本框 7"/>
              <p:cNvSpPr txBox="1"/>
              <p:nvPr/>
            </p:nvSpPr>
            <p:spPr>
              <a:xfrm>
                <a:off x="9262" y="4252"/>
                <a:ext cx="3532" cy="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dirty="0"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 影子</a:t>
                </a: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algn="ctr">
                  <a:defRPr/>
                </a:pPr>
                <a:r>
                  <a:rPr lang="zh-CN" altLang="zh-CN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shadow</a:t>
                </a:r>
              </a:p>
            </p:txBody>
          </p:sp>
        </p:grpSp>
        <p:sp>
          <p:nvSpPr>
            <p:cNvPr id="30" name="文本框 7"/>
            <p:cNvSpPr txBox="1"/>
            <p:nvPr/>
          </p:nvSpPr>
          <p:spPr>
            <a:xfrm>
              <a:off x="9905" y="7003"/>
              <a:ext cx="4338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ǐng</a:t>
              </a:r>
              <a:r>
                <a:rPr lang="zh-CN" altLang="en-US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zi</a:t>
              </a:r>
            </a:p>
          </p:txBody>
        </p:sp>
      </p:grpSp>
      <p:pic>
        <p:nvPicPr>
          <p:cNvPr id="42" name="图片 41"/>
          <p:cNvPicPr/>
          <p:nvPr/>
        </p:nvPicPr>
        <p:blipFill>
          <a:blip r:embed="rId6"/>
          <a:stretch>
            <a:fillRect/>
          </a:stretch>
        </p:blipFill>
        <p:spPr>
          <a:xfrm>
            <a:off x="2731770" y="146050"/>
            <a:ext cx="4759960" cy="2419985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2899410" y="221615"/>
            <a:ext cx="130175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4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洪水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73010" y="2566035"/>
            <a:ext cx="4456430" cy="2862580"/>
            <a:chOff x="11926" y="4041"/>
            <a:chExt cx="7018" cy="4508"/>
          </a:xfrm>
        </p:grpSpPr>
        <p:pic>
          <p:nvPicPr>
            <p:cNvPr id="47" name="图片 46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1926" y="4041"/>
              <a:ext cx="7018" cy="4509"/>
            </a:xfrm>
            <a:prstGeom prst="rect">
              <a:avLst/>
            </a:prstGeom>
          </p:spPr>
        </p:pic>
        <p:sp>
          <p:nvSpPr>
            <p:cNvPr id="49" name="矩形 48"/>
            <p:cNvSpPr/>
            <p:nvPr/>
          </p:nvSpPr>
          <p:spPr>
            <a:xfrm>
              <a:off x="12046" y="4202"/>
              <a:ext cx="2210" cy="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sz="4800" b="1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</a:rPr>
                <a:t>地震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573010" y="146050"/>
            <a:ext cx="4481830" cy="2419350"/>
            <a:chOff x="11926" y="230"/>
            <a:chExt cx="7058" cy="3810"/>
          </a:xfrm>
        </p:grpSpPr>
        <p:pic>
          <p:nvPicPr>
            <p:cNvPr id="46" name="图片 45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1926" y="230"/>
              <a:ext cx="7059" cy="3811"/>
            </a:xfrm>
            <a:prstGeom prst="rect">
              <a:avLst/>
            </a:prstGeom>
          </p:spPr>
        </p:pic>
        <p:sp>
          <p:nvSpPr>
            <p:cNvPr id="50" name="矩形 49"/>
            <p:cNvSpPr/>
            <p:nvPr/>
          </p:nvSpPr>
          <p:spPr>
            <a:xfrm>
              <a:off x="12116" y="349"/>
              <a:ext cx="1846" cy="12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noAutofit/>
            </a:bodyPr>
            <a:lstStyle/>
            <a:p>
              <a:pPr algn="ctr"/>
              <a:r>
                <a:rPr lang="zh-CN" altLang="en-US" sz="4800" b="1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</a:rPr>
                <a:t>台风</a:t>
              </a:r>
            </a:p>
          </p:txBody>
        </p:sp>
      </p:grpSp>
      <p:sp>
        <p:nvSpPr>
          <p:cNvPr id="54" name="矩形 53"/>
          <p:cNvSpPr/>
          <p:nvPr/>
        </p:nvSpPr>
        <p:spPr>
          <a:xfrm>
            <a:off x="4036060" y="2510155"/>
            <a:ext cx="262382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自然灾害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pic>
        <p:nvPicPr>
          <p:cNvPr id="55" name="图片 54"/>
          <p:cNvPicPr/>
          <p:nvPr/>
        </p:nvPicPr>
        <p:blipFill>
          <a:blip r:embed="rId9"/>
          <a:stretch>
            <a:fillRect/>
          </a:stretch>
        </p:blipFill>
        <p:spPr>
          <a:xfrm>
            <a:off x="3235960" y="3251835"/>
            <a:ext cx="2624455" cy="34404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8" grpId="1"/>
      <p:bldP spid="54" grpId="0"/>
      <p:bldP spid="5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387985" y="1758950"/>
            <a:ext cx="2228850" cy="3194050"/>
            <a:chOff x="15498" y="5742"/>
            <a:chExt cx="3510" cy="5030"/>
          </a:xfrm>
        </p:grpSpPr>
        <p:grpSp>
          <p:nvGrpSpPr>
            <p:cNvPr id="31" name="组合 30"/>
            <p:cNvGrpSpPr/>
            <p:nvPr/>
          </p:nvGrpSpPr>
          <p:grpSpPr>
            <a:xfrm>
              <a:off x="15498" y="5742"/>
              <a:ext cx="3511" cy="5030"/>
              <a:chOff x="4717" y="1909"/>
              <a:chExt cx="3511" cy="5030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33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36" name="文本框 7"/>
              <p:cNvSpPr txBox="1"/>
              <p:nvPr/>
            </p:nvSpPr>
            <p:spPr>
              <a:xfrm>
                <a:off x="4717" y="4133"/>
                <a:ext cx="3511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此外</a:t>
                </a:r>
              </a:p>
              <a:p>
                <a:pPr algn="ctr">
                  <a:defRPr/>
                </a:pPr>
                <a:r>
                  <a:rPr lang="zh-CN" altLang="zh-CN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conj. in addition, moreover</a:t>
                </a:r>
              </a:p>
            </p:txBody>
          </p:sp>
        </p:grpSp>
        <p:sp>
          <p:nvSpPr>
            <p:cNvPr id="38" name="文本框 7"/>
            <p:cNvSpPr txBox="1"/>
            <p:nvPr/>
          </p:nvSpPr>
          <p:spPr>
            <a:xfrm>
              <a:off x="15498" y="6901"/>
              <a:ext cx="3511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c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ǐ</a:t>
              </a:r>
              <a:r>
                <a:rPr lang="zh-CN" altLang="en-US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wài</a:t>
              </a: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3232785" y="2026285"/>
            <a:ext cx="77368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他喜欢唱歌</a:t>
            </a:r>
            <a:r>
              <a:rPr lang="en-US" altLang="zh-CN" sz="3200"/>
              <a:t>、</a:t>
            </a:r>
            <a:r>
              <a:rPr lang="zh-CN" altLang="en-US" sz="3200"/>
              <a:t>跳舞</a:t>
            </a:r>
            <a:r>
              <a:rPr lang="en-US" altLang="zh-CN" sz="3200"/>
              <a:t>，</a:t>
            </a:r>
            <a:r>
              <a:rPr lang="zh-CN" altLang="en-US" sz="3200"/>
              <a:t>此外他还喜欢打篮球</a:t>
            </a:r>
            <a:r>
              <a:rPr lang="en-US" altLang="zh-CN" sz="3200"/>
              <a:t>。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510540" y="5127625"/>
            <a:ext cx="2161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Ngoài ra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3232785" y="2845435"/>
            <a:ext cx="77368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学校规定上课不能迟到，此外还规定了不能提前离开</a:t>
            </a:r>
            <a:r>
              <a:rPr lang="en-US" altLang="zh-CN" sz="32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8" grpId="0"/>
      <p:bldP spid="48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询问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ask, to inquire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ún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wèn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 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</a:t>
              </a:r>
              <a:r>
                <a:rPr lang="en-US" altLang="zh-CN" sz="4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(</a:t>
              </a:r>
              <a:r>
                <a:rPr lang="zh-CN" altLang="en-US" sz="4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代</a:t>
              </a:r>
              <a:r>
                <a:rPr lang="en-US" altLang="zh-CN" sz="4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)</a:t>
              </a: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替</a:t>
              </a: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prep. for, on </a:t>
              </a:r>
              <a:endParaRPr lang="en-US" altLang="zh-CN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behalf of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(d</a:t>
            </a:r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ài</a:t>
            </a:r>
            <a:r>
              <a:rPr lang="en-US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)</a:t>
            </a:r>
            <a:r>
              <a:rPr lang="zh-CN" altLang="en-US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tì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天真</a:t>
              </a:r>
              <a:endParaRPr 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naive, innocent</a:t>
              </a:r>
              <a:endParaRPr lang="en-US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0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4966155" y="863600"/>
            <a:ext cx="2385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iān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zhēn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制造</a:t>
              </a: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make, to produce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hì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zào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194050"/>
            <a:chOff x="4717" y="1909"/>
            <a:chExt cx="3511" cy="5030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灾害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disaster , calamity</a:t>
              </a: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āi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hài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影子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shadow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ǐng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zi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此外</a:t>
              </a: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conj. in addition, moreover</a:t>
              </a: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ǐ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wài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237490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75080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sp>
        <p:nvSpPr>
          <p:cNvPr id="33" name="圆角矩形 32"/>
          <p:cNvSpPr/>
          <p:nvPr/>
        </p:nvSpPr>
        <p:spPr>
          <a:xfrm>
            <a:off x="9784715" y="3764280"/>
            <a:ext cx="1793240" cy="8769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/>
        </p:nvGrpSpPr>
        <p:grpSpPr>
          <a:xfrm>
            <a:off x="465543" y="2137248"/>
            <a:ext cx="8487812" cy="956283"/>
            <a:chOff x="1038" y="2570"/>
            <a:chExt cx="13475" cy="2210"/>
          </a:xfrm>
        </p:grpSpPr>
        <p:sp>
          <p:nvSpPr>
            <p:cNvPr id="62" name="圆角矩形 61"/>
            <p:cNvSpPr/>
            <p:nvPr/>
          </p:nvSpPr>
          <p:spPr>
            <a:xfrm>
              <a:off x="1066" y="2601"/>
              <a:ext cx="13447" cy="2179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1038" y="2570"/>
              <a:ext cx="13447" cy="1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我跟您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打听</a:t>
              </a: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一下，附近有邮局吗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？</a:t>
              </a:r>
              <a:endParaRPr lang="en-US" altLang="zh-CN" sz="28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483345" y="3454643"/>
            <a:ext cx="8452398" cy="889490"/>
            <a:chOff x="517" y="3615"/>
            <a:chExt cx="17690" cy="1683"/>
          </a:xfrm>
        </p:grpSpPr>
        <p:sp>
          <p:nvSpPr>
            <p:cNvPr id="77" name="圆角矩形 76"/>
            <p:cNvSpPr/>
            <p:nvPr/>
          </p:nvSpPr>
          <p:spPr>
            <a:xfrm>
              <a:off x="517" y="3641"/>
              <a:ext cx="17690" cy="1657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"/>
            <p:cNvSpPr txBox="1"/>
            <p:nvPr/>
          </p:nvSpPr>
          <p:spPr>
            <a:xfrm>
              <a:off x="541" y="3615"/>
              <a:ext cx="13762" cy="1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我到处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打听</a:t>
              </a: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也没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打听</a:t>
              </a: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到这家公司</a:t>
              </a:r>
              <a:r>
                <a:rPr lang="zh-CN" altLang="en-US" sz="28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。 </a:t>
              </a:r>
              <a:endParaRPr lang="zh-CN" altLang="en-US" sz="28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80060" y="4772025"/>
            <a:ext cx="8477250" cy="875665"/>
            <a:chOff x="512" y="3239"/>
            <a:chExt cx="13452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7" y="3239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2" y="3487"/>
              <a:ext cx="13352" cy="7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打听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/</a:t>
              </a:r>
              <a:r>
                <a:rPr lang="en-US" altLang="zh-CN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en-US" sz="2800" b="1" dirty="0">
                  <a:solidFill>
                    <a:schemeClr val="accent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询问</a:t>
              </a: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了老人的身体和生活情况</a:t>
              </a:r>
              <a:r>
                <a:rPr lang="zh-CN" altLang="en-US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？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43382" y="3872865"/>
            <a:ext cx="2837185" cy="1872414"/>
            <a:chOff x="2558" y="1358"/>
            <a:chExt cx="5660" cy="3735"/>
          </a:xfrm>
        </p:grpSpPr>
        <p:sp>
          <p:nvSpPr>
            <p:cNvPr id="3" name="圆角矩形 2"/>
            <p:cNvSpPr/>
            <p:nvPr/>
          </p:nvSpPr>
          <p:spPr>
            <a:xfrm>
              <a:off x="3646" y="33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558" y="1358"/>
              <a:ext cx="5660" cy="1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打听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9243997" y="4922520"/>
            <a:ext cx="28371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4400" b="1" kern="100" dirty="0">
                <a:solidFill>
                  <a:schemeClr val="accent1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rPr>
              <a:t>询问</a:t>
            </a:r>
          </a:p>
        </p:txBody>
      </p:sp>
      <p:pic>
        <p:nvPicPr>
          <p:cNvPr id="7" name="图片 6" descr="IMG_6869-20220925221628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" y="4853305"/>
            <a:ext cx="3729355" cy="1524000"/>
          </a:xfrm>
          <a:prstGeom prst="rect">
            <a:avLst/>
          </a:prstGeom>
        </p:spPr>
      </p:pic>
      <p:pic>
        <p:nvPicPr>
          <p:cNvPr id="10" name="图片 9" descr="/Users/huangkafi/Downloads/docsmall/IMG_7071-20220928212530.pngIMG_7071-2022092821253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261418" y="1516380"/>
            <a:ext cx="1548130" cy="1524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27680" y="5848985"/>
            <a:ext cx="36195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highlight>
                  <a:srgbClr val="FFFF00"/>
                </a:highlight>
              </a:rPr>
              <a:t>表示“问”</a:t>
            </a:r>
            <a:r>
              <a:rPr lang="vi-VN" altLang="zh-CN" sz="3200" dirty="0">
                <a:highlight>
                  <a:srgbClr val="FFFF00"/>
                </a:highlight>
              </a:rPr>
              <a:t>biểu thị : hỏi</a:t>
            </a:r>
            <a:r>
              <a:rPr lang="en-US" altLang="zh-CN" sz="3200" dirty="0">
                <a:highlight>
                  <a:srgbClr val="FFFF00"/>
                </a:highlight>
              </a:rPr>
              <a:t>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6750" y="1485265"/>
            <a:ext cx="8119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highlight>
                  <a:srgbClr val="FFFF00"/>
                </a:highlight>
              </a:rPr>
              <a:t>多用于口语</a:t>
            </a:r>
            <a:r>
              <a:rPr lang="en-US" altLang="zh-CN" sz="3200" dirty="0">
                <a:highlight>
                  <a:srgbClr val="FFFF00"/>
                </a:highlight>
              </a:rPr>
              <a:t>。</a:t>
            </a:r>
            <a:r>
              <a:rPr lang="vi-VN" altLang="zh-CN" sz="3200" dirty="0">
                <a:highlight>
                  <a:srgbClr val="FFFF00"/>
                </a:highlight>
              </a:rPr>
              <a:t>DÙNG TRONG KHẨU NGỮ</a:t>
            </a:r>
            <a:endParaRPr lang="en-US" altLang="zh-CN" sz="3200" dirty="0">
              <a:highlight>
                <a:srgbClr val="FFFF00"/>
              </a:highligh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80125" y="3394710"/>
            <a:ext cx="3362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highlight>
                  <a:srgbClr val="FFFF00"/>
                </a:highlight>
              </a:rPr>
              <a:t>用于寻找</a:t>
            </a:r>
            <a:r>
              <a:rPr lang="en-US" altLang="zh-CN" sz="2400" dirty="0">
                <a:highlight>
                  <a:srgbClr val="FFFF00"/>
                </a:highlight>
              </a:rPr>
              <a:t>、</a:t>
            </a:r>
            <a:r>
              <a:rPr lang="zh-CN" altLang="en-US" sz="2400" dirty="0">
                <a:highlight>
                  <a:srgbClr val="FFFF00"/>
                </a:highlight>
              </a:rPr>
              <a:t>了解相关信息</a:t>
            </a:r>
            <a:r>
              <a:rPr lang="en-US" altLang="zh-CN" sz="2400" dirty="0">
                <a:highlight>
                  <a:srgbClr val="FFFF00"/>
                </a:highlight>
              </a:rPr>
              <a:t>。</a:t>
            </a:r>
            <a:r>
              <a:rPr lang="vi-VN" altLang="zh-CN" sz="2400" dirty="0">
                <a:highlight>
                  <a:srgbClr val="FFFF00"/>
                </a:highlight>
              </a:rPr>
              <a:t>Dùng để tìm, hiểu thông tin </a:t>
            </a:r>
            <a:endParaRPr lang="en-US" altLang="zh-CN" sz="2400" dirty="0">
              <a:highlight>
                <a:srgbClr val="FFFF00"/>
              </a:highlight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33" grpId="0" bldLvl="0" animBg="1"/>
      <p:bldP spid="6" grpId="0"/>
      <p:bldP spid="8" grpId="0"/>
      <p:bldP spid="8" grpId="1"/>
      <p:bldP spid="11" grpId="0"/>
      <p:bldP spid="11" grpId="1"/>
      <p:bldP spid="12" grpId="0"/>
      <p:bldP spid="1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237490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960" y="3764280"/>
            <a:ext cx="2837185" cy="876801"/>
            <a:chOff x="7787" y="3144"/>
            <a:chExt cx="5660" cy="1749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1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询问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66751" y="2790968"/>
            <a:ext cx="8233193" cy="875665"/>
            <a:chOff x="494" y="1935"/>
            <a:chExt cx="13808" cy="1657"/>
          </a:xfrm>
        </p:grpSpPr>
        <p:sp>
          <p:nvSpPr>
            <p:cNvPr id="22" name="圆角矩形 21"/>
            <p:cNvSpPr/>
            <p:nvPr/>
          </p:nvSpPr>
          <p:spPr>
            <a:xfrm>
              <a:off x="494" y="1935"/>
              <a:ext cx="13786" cy="1657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24" name="文本框 7"/>
            <p:cNvSpPr txBox="1"/>
            <p:nvPr/>
          </p:nvSpPr>
          <p:spPr>
            <a:xfrm>
              <a:off x="563" y="1951"/>
              <a:ext cx="13739" cy="1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他打电话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询问</a:t>
              </a: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刘教授对论文的意见</a:t>
              </a:r>
              <a:r>
                <a:rPr lang="zh-CN" altLang="en-US" sz="28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。 </a:t>
              </a:r>
              <a:endParaRPr lang="zh-CN" altLang="en-US" sz="28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66656" y="1645127"/>
            <a:ext cx="8249124" cy="890019"/>
            <a:chOff x="517" y="3615"/>
            <a:chExt cx="13786" cy="1684"/>
          </a:xfrm>
        </p:grpSpPr>
        <p:sp>
          <p:nvSpPr>
            <p:cNvPr id="26" name="圆角矩形 25"/>
            <p:cNvSpPr/>
            <p:nvPr/>
          </p:nvSpPr>
          <p:spPr>
            <a:xfrm>
              <a:off x="517" y="3642"/>
              <a:ext cx="13786" cy="1657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27" name="文本框 7"/>
            <p:cNvSpPr txBox="1"/>
            <p:nvPr/>
          </p:nvSpPr>
          <p:spPr>
            <a:xfrm>
              <a:off x="541" y="3615"/>
              <a:ext cx="13739" cy="1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他仔细地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询问</a:t>
              </a: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了公司近年来的发展情况</a:t>
              </a:r>
              <a:r>
                <a:rPr lang="zh-CN" altLang="en-US" sz="28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。 </a:t>
              </a:r>
              <a:endParaRPr lang="zh-CN" altLang="en-US" sz="28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224086" y="5249634"/>
            <a:ext cx="8151058" cy="875750"/>
            <a:chOff x="517" y="3615"/>
            <a:chExt cx="18324" cy="1684"/>
          </a:xfrm>
        </p:grpSpPr>
        <p:sp>
          <p:nvSpPr>
            <p:cNvPr id="29" name="圆角矩形 28"/>
            <p:cNvSpPr/>
            <p:nvPr/>
          </p:nvSpPr>
          <p:spPr>
            <a:xfrm>
              <a:off x="517" y="3642"/>
              <a:ext cx="18324" cy="1657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32" name="文本框 7"/>
            <p:cNvSpPr txBox="1"/>
            <p:nvPr/>
          </p:nvSpPr>
          <p:spPr>
            <a:xfrm>
              <a:off x="541" y="3615"/>
              <a:ext cx="13739" cy="1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zh-CN" sz="28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他详细地回答了病人的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询问</a:t>
              </a:r>
              <a:r>
                <a:rPr lang="zh-CN" altLang="en-US" sz="28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。 </a:t>
              </a:r>
              <a:endParaRPr lang="zh-CN" altLang="en-US" sz="28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3" name="圆角矩形 2"/>
          <p:cNvSpPr/>
          <p:nvPr/>
        </p:nvSpPr>
        <p:spPr>
          <a:xfrm>
            <a:off x="1183261" y="4020328"/>
            <a:ext cx="8220075" cy="875665"/>
          </a:xfrm>
          <a:prstGeom prst="round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E2AEAB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7"/>
          <p:cNvSpPr txBox="1"/>
          <p:nvPr/>
        </p:nvSpPr>
        <p:spPr>
          <a:xfrm>
            <a:off x="1183128" y="3988143"/>
            <a:ext cx="8192051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algn="ctr" defTabSz="914400" rtl="0" eaLnBrk="1" fontAlgn="base" latinLnBrk="0" hangingPunct="0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zh-CN" sz="2800" b="1" dirty="0"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警察</a:t>
            </a:r>
            <a:r>
              <a:rPr lang="zh-CN" altLang="zh-CN" sz="28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询问</a:t>
            </a:r>
            <a:r>
              <a:rPr lang="zh-CN" altLang="zh-CN" sz="2800" b="1" dirty="0"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了当天见过他的邻居。</a:t>
            </a:r>
          </a:p>
        </p:txBody>
      </p:sp>
      <p:pic>
        <p:nvPicPr>
          <p:cNvPr id="10" name="图片 9" descr="/Users/huangkafi/Downloads/docsmall/IMG_7072-20220928212547.pngIMG_7072-2022092821254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42063" y="4725670"/>
            <a:ext cx="892810" cy="1524000"/>
          </a:xfrm>
          <a:prstGeom prst="rect">
            <a:avLst/>
          </a:prstGeom>
        </p:spPr>
      </p:pic>
      <p:pic>
        <p:nvPicPr>
          <p:cNvPr id="11" name="图片 10" descr="/Users/huangkafi/Downloads/docsmall/IMG_7073-20220928212710.pngIMG_7073-202209282127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35075" y="3669030"/>
            <a:ext cx="1581785" cy="1524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72000" y="1136650"/>
            <a:ext cx="484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多用于书面语</a:t>
            </a:r>
            <a:r>
              <a:rPr lang="en-US" altLang="zh-CN" sz="2800" dirty="0">
                <a:highlight>
                  <a:srgbClr val="FFFF00"/>
                </a:highlight>
              </a:rPr>
              <a:t>。</a:t>
            </a:r>
            <a:r>
              <a:rPr lang="vi-VN" altLang="zh-CN" sz="2800" dirty="0">
                <a:highlight>
                  <a:srgbClr val="FFFF00"/>
                </a:highlight>
              </a:rPr>
              <a:t>Văn viết</a:t>
            </a:r>
            <a:endParaRPr lang="en-US" altLang="zh-CN" sz="2800" dirty="0">
              <a:highlight>
                <a:srgbClr val="FFFF0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78320" y="2942590"/>
            <a:ext cx="33013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用于征求意见</a:t>
            </a:r>
            <a:r>
              <a:rPr lang="en-US" altLang="zh-CN" sz="2800" dirty="0">
                <a:highlight>
                  <a:srgbClr val="FFFF00"/>
                </a:highlight>
              </a:rPr>
              <a:t>。</a:t>
            </a:r>
            <a:r>
              <a:rPr lang="vi-VN" altLang="zh-CN" sz="2800" dirty="0">
                <a:highlight>
                  <a:srgbClr val="FFFF00"/>
                </a:highlight>
              </a:rPr>
              <a:t>Trưng cầu ý kiến</a:t>
            </a:r>
            <a:endParaRPr lang="en-US" altLang="zh-CN" sz="2800" dirty="0"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46315" y="5451475"/>
            <a:ext cx="39014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可以作名词</a:t>
            </a:r>
            <a:r>
              <a:rPr lang="en-US" altLang="zh-CN" sz="2800" dirty="0">
                <a:highlight>
                  <a:srgbClr val="FFFF00"/>
                </a:highlight>
              </a:rPr>
              <a:t>。</a:t>
            </a:r>
            <a:r>
              <a:rPr lang="vi-VN" altLang="zh-CN" sz="2800" dirty="0">
                <a:highlight>
                  <a:srgbClr val="FFFF00"/>
                </a:highlight>
              </a:rPr>
              <a:t>Có thể Làm danh từ</a:t>
            </a:r>
            <a:endParaRPr lang="en-US" altLang="zh-CN" sz="2800" dirty="0">
              <a:highlight>
                <a:srgbClr val="FFFF00"/>
              </a:highlight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55905" y="1639570"/>
          <a:ext cx="11708130" cy="4240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5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1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3270">
                <a:tc>
                  <a:txBody>
                    <a:bodyPr/>
                    <a:lstStyle/>
                    <a:p>
                      <a:pPr algn="ctr"/>
                      <a:endParaRPr lang="zh-CN" altLang="en-US" sz="20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aseline="0" dirty="0"/>
                        <a:t>打听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aseline="0" dirty="0"/>
                        <a:t>询问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270">
                <a:tc>
                  <a:txBody>
                    <a:bodyPr/>
                    <a:lstStyle/>
                    <a:p>
                      <a:pPr marL="0" indent="0" algn="just" eaLnBrk="1">
                        <a:lnSpc>
                          <a:spcPct val="120000"/>
                        </a:lnSpc>
                        <a:buSzPct val="100000"/>
                        <a:buFontTx/>
                        <a:buNone/>
                      </a:pPr>
                      <a:r>
                        <a:rPr lang="en-US" altLang="zh-CN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A</a:t>
                      </a:r>
                      <a:r>
                        <a:rPr lang="zh-CN" altLang="en-US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+mn-cs"/>
                          <a:sym typeface="华文细黑" panose="02010600040101010101" pitchFamily="2" charset="-122"/>
                        </a:rPr>
                        <a:t>：</a:t>
                      </a:r>
                      <a:r>
                        <a:rPr lang="zh-CN" altLang="zh-CN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打扰一下，向您</a:t>
                      </a:r>
                      <a:r>
                        <a:rPr lang="zh-CN" altLang="zh-CN" sz="2000" u="sng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华文细黑" panose="02010600040101010101" pitchFamily="2" charset="-122"/>
                        </a:rPr>
                        <a:t>        </a:t>
                      </a:r>
                      <a:r>
                        <a:rPr lang="zh-CN" altLang="zh-CN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件事。你知道王老板有什么兴趣爱好吗？</a:t>
                      </a:r>
                    </a:p>
                    <a:p>
                      <a:pPr algn="l" eaLnBrk="1">
                        <a:lnSpc>
                          <a:spcPct val="120000"/>
                        </a:lnSpc>
                      </a:pPr>
                      <a:r>
                        <a:rPr lang="en-US" altLang="zh-CN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B</a:t>
                      </a:r>
                      <a:r>
                        <a:rPr lang="zh-CN" altLang="en-US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：</a:t>
                      </a:r>
                      <a:r>
                        <a:rPr lang="zh-CN" altLang="zh-CN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他最大的爱好就是去各地旅游了，</a:t>
                      </a:r>
                      <a:r>
                        <a:rPr lang="zh-CN" altLang="zh-CN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+mn-cs"/>
                          <a:sym typeface="华文细黑" panose="02010600040101010101" pitchFamily="2" charset="-122"/>
                        </a:rPr>
                        <a:t>平时也喜欢看看书、看看电影</a:t>
                      </a:r>
                      <a:endParaRPr lang="en-US" altLang="zh-CN" sz="2000" kern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华文细黑" panose="02010600040101010101" pitchFamily="2" charset="-122"/>
                        <a:ea typeface="华文细黑" panose="02010600040101010101" pitchFamily="2" charset="-122"/>
                        <a:cs typeface="+mn-cs"/>
                        <a:sym typeface="华文细黑" panose="02010600040101010101" pitchFamily="2" charset="-122"/>
                      </a:endParaRPr>
                    </a:p>
                    <a:p>
                      <a:pPr algn="l" eaLnBrk="1">
                        <a:lnSpc>
                          <a:spcPct val="120000"/>
                        </a:lnSpc>
                      </a:pPr>
                      <a:r>
                        <a:rPr lang="zh-CN" altLang="en-US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+mn-cs"/>
                          <a:sym typeface="华文细黑" panose="02010600040101010101" pitchFamily="2" charset="-122"/>
                        </a:rPr>
                        <a:t>       </a:t>
                      </a:r>
                      <a:r>
                        <a:rPr lang="zh-CN" altLang="zh-CN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+mn-cs"/>
                          <a:sym typeface="华文细黑" panose="02010600040101010101" pitchFamily="2" charset="-122"/>
                        </a:rPr>
                        <a:t>什么的</a:t>
                      </a:r>
                      <a:r>
                        <a:rPr sz="2000" kern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+mn-cs"/>
                          <a:sym typeface="华文细黑" panose="02010600040101010101" pitchFamily="2" charset="-122"/>
                        </a:rPr>
                        <a:t>。</a:t>
                      </a: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eaLnBrk="1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270">
                <a:tc>
                  <a:txBody>
                    <a:bodyPr/>
                    <a:lstStyle/>
                    <a:p>
                      <a:pPr algn="l"/>
                      <a:r>
                        <a:rPr lang="zh-CN" altLang="zh-CN" sz="2000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她</a:t>
                      </a:r>
                      <a:r>
                        <a:rPr lang="zh-CN" altLang="zh-CN" sz="2000" u="sng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         </a:t>
                      </a:r>
                      <a:r>
                        <a:rPr lang="zh-CN" altLang="zh-CN" sz="2000" kern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到北京有位医生能治这个病，就带着孩子来了。</a:t>
                      </a:r>
                      <a:endParaRPr sz="2000" kern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华文细黑" panose="02010600040101010101" pitchFamily="2" charset="-122"/>
                        <a:ea typeface="华文细黑" panose="02010600040101010101" pitchFamily="2" charset="-122"/>
                        <a:cs typeface="华文细黑" panose="02010600040101010101" pitchFamily="2" charset="-122"/>
                        <a:sym typeface="华文细黑" panose="02010600040101010101" pitchFamily="2" charset="-122"/>
                      </a:endParaRP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270">
                <a:tc>
                  <a:txBody>
                    <a:bodyPr/>
                    <a:lstStyle/>
                    <a:p>
                      <a:pPr algn="l"/>
                      <a:r>
                        <a:rPr lang="zh-CN" altLang="zh-CN" sz="2000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我</a:t>
                      </a:r>
                      <a:r>
                        <a:rPr lang="zh-CN" altLang="zh-CN" sz="2000" u="sng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         </a:t>
                      </a:r>
                      <a:r>
                        <a:rPr lang="zh-CN" altLang="zh-CN" sz="2000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了一下，附近像这样的房子，差不多都得一百万。</a:t>
                      </a:r>
                      <a:endParaRPr sz="2000" kern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华文细黑" panose="02010600040101010101" pitchFamily="2" charset="-122"/>
                        <a:ea typeface="华文细黑" panose="02010600040101010101" pitchFamily="2" charset="-122"/>
                        <a:cs typeface="华文细黑" panose="02010600040101010101" pitchFamily="2" charset="-122"/>
                        <a:sym typeface="华文细黑" panose="02010600040101010101" pitchFamily="2" charset="-122"/>
                      </a:endParaRP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2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华文细黑" panose="02010600040101010101" pitchFamily="2" charset="-122"/>
                        </a:defRPr>
                      </a:pPr>
                      <a:r>
                        <a:rPr lang="zh-CN" altLang="zh-CN" sz="2000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我</a:t>
                      </a:r>
                      <a:r>
                        <a:rPr lang="zh-CN" altLang="zh-CN" sz="2000" u="sng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         </a:t>
                      </a:r>
                      <a:r>
                        <a:rPr lang="zh-CN" altLang="zh-CN" sz="2000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sym typeface="华文细黑" panose="02010600040101010101" pitchFamily="2" charset="-122"/>
                        </a:rPr>
                        <a:t>了几个修过机器的顾客，他们对小刘的服务都很满意。</a:t>
                      </a:r>
                      <a:endParaRPr sz="2000" kern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sym typeface="华文细黑" panose="02010600040101010101" pitchFamily="2" charset="-122"/>
                      </a:endParaRP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7490" y="702310"/>
            <a:ext cx="10490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755900" y="716280"/>
            <a:ext cx="7035165" cy="522605"/>
          </a:xfrm>
          <a:prstGeom prst="roundRect">
            <a:avLst/>
          </a:prstGeom>
          <a:noFill/>
          <a:ln w="19050">
            <a:solidFill>
              <a:srgbClr val="B8975A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6920" y="824865"/>
            <a:ext cx="1120711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algn="ctr" defTabSz="914400" rtl="0" fontAlgn="auto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选词填空</a:t>
            </a:r>
            <a:r>
              <a:rPr lang="en-US" altLang="zh-CN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</a:t>
            </a:r>
            <a:r>
              <a:rPr lang="zh-CN" altLang="en-US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✓</a:t>
            </a:r>
            <a:r>
              <a:rPr lang="en-US" altLang="zh-CN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</a:t>
            </a:r>
            <a:r>
              <a:rPr lang="zh-CN" altLang="en-US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✕</a:t>
            </a:r>
            <a:r>
              <a:rPr lang="en-US" altLang="zh-CN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</a:t>
            </a:r>
            <a:endParaRPr lang="zh-CN" altLang="en-US" sz="2800" dirty="0">
              <a:solidFill>
                <a:srgbClr val="B8975A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grpSp>
        <p:nvGrpSpPr>
          <p:cNvPr id="70" name="小钩"/>
          <p:cNvGrpSpPr/>
          <p:nvPr/>
        </p:nvGrpSpPr>
        <p:grpSpPr>
          <a:xfrm>
            <a:off x="8720455" y="2676525"/>
            <a:ext cx="579755" cy="560070"/>
            <a:chOff x="677837" y="1446312"/>
            <a:chExt cx="633828" cy="612000"/>
          </a:xfrm>
        </p:grpSpPr>
        <p:sp>
          <p:nvSpPr>
            <p:cNvPr id="65" name="椭圆 6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67" name="图片 66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小钩"/>
          <p:cNvGrpSpPr/>
          <p:nvPr/>
        </p:nvGrpSpPr>
        <p:grpSpPr>
          <a:xfrm>
            <a:off x="8754745" y="3712845"/>
            <a:ext cx="579755" cy="560070"/>
            <a:chOff x="677837" y="1446312"/>
            <a:chExt cx="633828" cy="612000"/>
          </a:xfrm>
        </p:grpSpPr>
        <p:sp>
          <p:nvSpPr>
            <p:cNvPr id="5" name="椭圆 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小钩"/>
          <p:cNvGrpSpPr/>
          <p:nvPr/>
        </p:nvGrpSpPr>
        <p:grpSpPr>
          <a:xfrm>
            <a:off x="8756650" y="4491990"/>
            <a:ext cx="579755" cy="560070"/>
            <a:chOff x="677837" y="1446312"/>
            <a:chExt cx="633828" cy="612000"/>
          </a:xfrm>
        </p:grpSpPr>
        <p:sp>
          <p:nvSpPr>
            <p:cNvPr id="12" name="椭圆 11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小钩"/>
          <p:cNvGrpSpPr/>
          <p:nvPr/>
        </p:nvGrpSpPr>
        <p:grpSpPr>
          <a:xfrm>
            <a:off x="8776335" y="5253355"/>
            <a:ext cx="579755" cy="560070"/>
            <a:chOff x="677837" y="1446312"/>
            <a:chExt cx="633828" cy="612000"/>
          </a:xfrm>
        </p:grpSpPr>
        <p:sp>
          <p:nvSpPr>
            <p:cNvPr id="20" name="椭圆 19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" name="小钩"/>
          <p:cNvGrpSpPr/>
          <p:nvPr/>
        </p:nvGrpSpPr>
        <p:grpSpPr>
          <a:xfrm>
            <a:off x="10785475" y="5246370"/>
            <a:ext cx="579755" cy="560070"/>
            <a:chOff x="677837" y="1446312"/>
            <a:chExt cx="633828" cy="612000"/>
          </a:xfrm>
        </p:grpSpPr>
        <p:sp>
          <p:nvSpPr>
            <p:cNvPr id="25" name="椭圆 2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5613" y="-66569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1572260"/>
            <a:chOff x="7787" y="3144"/>
            <a:chExt cx="5660" cy="1749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1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替</a:t>
              </a:r>
              <a:r>
                <a:rPr lang="vi-VN" altLang="zh-CN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 thay</a:t>
              </a:r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动词</a:t>
              </a:r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-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代替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331845" y="2398450"/>
            <a:ext cx="6529377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见了外公，你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替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我向他问好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889000" y="4989941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刘老师今天有点儿事来不了，你能替替他吗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？</a:t>
              </a:r>
              <a:endParaRPr lang="zh-CN" altLang="en-US" sz="3200" b="1" dirty="0"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7" name="图片 6" descr="/Users/huangkafi/Downloads/docsmall/IMG_7074-20220928212718.pngIMG_7074-202209282127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771333" y="1732280"/>
            <a:ext cx="2730500" cy="1524000"/>
          </a:xfrm>
          <a:prstGeom prst="rect">
            <a:avLst/>
          </a:prstGeom>
        </p:spPr>
      </p:pic>
      <p:pic>
        <p:nvPicPr>
          <p:cNvPr id="3" name="图片 2" descr="/Users/huangkafi/Downloads/docsmall/IMG_7075-20220928212725.pngIMG_7075-202209282127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65735" y="3806190"/>
            <a:ext cx="1605915" cy="1524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1760140"/>
            <a:chOff x="7787" y="3144"/>
            <a:chExt cx="5660" cy="1958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替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介词</a:t>
              </a:r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-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给、为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Giới từ: = 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给，为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613741" y="2349722"/>
            <a:ext cx="8767569" cy="1227022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510"/>
              <a:ext cx="13446" cy="11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base">
                <a:buClrTx/>
                <a:buSzTx/>
                <a:buFontTx/>
              </a:pP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他暗暗下定决心，一定要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替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百姓杀死这个制造灾害的东西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200" b="1" dirty="0"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614109" y="4863044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李阳要去留学了，我们都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替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他高兴。 </a:t>
              </a:r>
              <a:endParaRPr lang="zh-CN" altLang="en-US" sz="3200" b="1" dirty="0"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2" name="图片 1" descr="/Users/huangkafi/Downloads/docsmall/IMG_7077-20220928212739.pngIMG_7077-2022092821273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053580" y="4101465"/>
            <a:ext cx="1655445" cy="1524000"/>
          </a:xfrm>
          <a:prstGeom prst="rect">
            <a:avLst/>
          </a:prstGeom>
        </p:spPr>
      </p:pic>
      <p:pic>
        <p:nvPicPr>
          <p:cNvPr id="3" name="图片 2" descr="/Users/huangkafi/Downloads/docsmall/IMG_7076-20220928212732.pngIMG_7076-2022092821273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373755" y="1308735"/>
            <a:ext cx="1368425" cy="1524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用下列词语造句。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4990" y="2883599"/>
            <a:ext cx="38404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询问：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04990" y="3826212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制造：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88535" y="3863863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4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灾害：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02947" y="4817237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5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影子：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86492" y="4800676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6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此外：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03465" y="2923330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天真：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用“替”完成下列句子或对话。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90062" y="2619375"/>
            <a:ext cx="8345554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1.你放心吧，他借的钱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0062" y="3342515"/>
            <a:ext cx="6253635" cy="108266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.后天就要考试了，小明的病还没好，</a:t>
            </a: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   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  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？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90062" y="4630420"/>
            <a:ext cx="8140065" cy="11245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：明天，我去上海出差，要带点儿什么东西吗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？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B： 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_________________________________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</a:t>
            </a: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第六课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849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6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5064" cy="902"/>
                  <a:chOff x="8865" y="6525"/>
                  <a:chExt cx="15064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6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5133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Origin</a:t>
                    </a:r>
                    <a:r>
                      <a:rPr lang="zh-CN" alt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 </a:t>
                    </a:r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of</a:t>
                    </a:r>
                    <a:r>
                      <a:rPr lang="zh-CN" alt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 </a:t>
                    </a:r>
                    <a:r>
                      <a:rPr lang="en-US" altLang="zh-CN" sz="2400" dirty="0" err="1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Chuxi</a:t>
                    </a:r>
                    <a:endPara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lang="en-US" altLang="zh-CN" sz="6600" b="1" dirty="0"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6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除夕的由来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2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42803" y="1726469"/>
            <a:ext cx="12121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咬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27575" y="1247742"/>
            <a:ext cx="12426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4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华文细黑" panose="02010600040101010101" pitchFamily="2" charset="-122"/>
              </a:rPr>
              <a:t>yǎo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13545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-64017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18757" y="3028890"/>
            <a:ext cx="126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v. to bite</a:t>
            </a:r>
          </a:p>
        </p:txBody>
      </p: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916" y="2079836"/>
            <a:ext cx="3311525" cy="32405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983492" y="1702851"/>
            <a:ext cx="12121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杀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27575" y="1247742"/>
            <a:ext cx="11336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华文细黑" panose="02010600040101010101" pitchFamily="2" charset="-122"/>
              </a:rPr>
              <a:t>s</a:t>
            </a:r>
            <a:r>
              <a:rPr lang="zh-CN" altLang="zh-CN" sz="44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华文细黑" panose="02010600040101010101" pitchFamily="2" charset="-122"/>
              </a:rPr>
              <a:t>hā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13545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-64017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32571" y="2962677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v. to kill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915" y="2068406"/>
            <a:ext cx="3311525" cy="32405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3223" y="1673004"/>
            <a:ext cx="12121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除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27575" y="1247742"/>
            <a:ext cx="12378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chú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13545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-64017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79762" y="2992217"/>
            <a:ext cx="20233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v. to get rid of, </a:t>
            </a:r>
            <a:endParaRPr lang="en-US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  <a:sym typeface="Times New Roman" panose="02020603050405020304" pitchFamily="18" charset="0"/>
            </a:endParaRPr>
          </a:p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to remove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916" y="2068406"/>
            <a:ext cx="3307301" cy="32364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411" y="2079836"/>
            <a:ext cx="3240534" cy="32405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945822" y="1726469"/>
            <a:ext cx="12121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逃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27575" y="1247742"/>
            <a:ext cx="11304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táo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13545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-64017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93288" y="3028890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v. to escape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411" y="2079836"/>
            <a:ext cx="3240534" cy="32405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897731" y="1726469"/>
            <a:ext cx="12121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吓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27575" y="1247742"/>
            <a:ext cx="9525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xià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13545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-64017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41372" y="3049908"/>
            <a:ext cx="18646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v. to frighten, </a:t>
            </a:r>
            <a:endParaRPr lang="en-US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  <a:sym typeface="Times New Roman" panose="02020603050405020304" pitchFamily="18" charset="0"/>
            </a:endParaRPr>
          </a:p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to scare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40399" y="1782143"/>
            <a:ext cx="12121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追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27575" y="1247742"/>
            <a:ext cx="1225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zhuī</a:t>
            </a:r>
            <a:endParaRPr lang="zh-CN" altLang="zh-CN" sz="44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  <a:sym typeface="华文细黑" panose="02010600040101010101" pitchFamily="2" charset="-122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-13545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-64017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99940" y="3034559"/>
            <a:ext cx="16802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v. to chase, </a:t>
            </a:r>
            <a:endParaRPr lang="en-US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  <a:sym typeface="Times New Roman" panose="02020603050405020304" pitchFamily="18" charset="0"/>
            </a:endParaRPr>
          </a:p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to go after</a:t>
            </a:r>
          </a:p>
        </p:txBody>
      </p: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411" y="2079836"/>
            <a:ext cx="3240534" cy="32405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411" y="2079836"/>
            <a:ext cx="3240534" cy="32405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883858" y="1839293"/>
            <a:ext cx="23695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射</a:t>
            </a:r>
            <a:r>
              <a:rPr lang="en-US" altLang="zh-CN" sz="54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(</a:t>
            </a:r>
            <a:r>
              <a:rPr lang="zh-CN" altLang="en-US" sz="54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击</a:t>
            </a:r>
            <a:r>
              <a:rPr lang="en-US" altLang="zh-CN" sz="54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)</a:t>
            </a:r>
            <a:endParaRPr lang="zh-CN" altLang="en-US" sz="5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27575" y="1247742"/>
            <a:ext cx="17588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4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华文细黑" panose="02010600040101010101" pitchFamily="2" charset="-122"/>
              </a:rPr>
              <a:t>shè</a:t>
            </a:r>
            <a:r>
              <a:rPr lang="zh-CN"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(jī)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13545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-64017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62786" y="3162732"/>
            <a:ext cx="1460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v. to shoot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咬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bite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yǎo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除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get rid of,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to remove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chú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杀</a:t>
              </a:r>
              <a:endParaRPr 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kill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4966155" y="863600"/>
            <a:ext cx="2385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shā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 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逃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escape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táo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194050"/>
            <a:chOff x="4717" y="1909"/>
            <a:chExt cx="3511" cy="5030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吓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frighten, to scare</a:t>
              </a: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xià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追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chase, to go after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zhuī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射</a:t>
              </a:r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(</a:t>
              </a:r>
              <a:r>
                <a:rPr kumimoji="0" lang="zh-CN" alt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击</a:t>
              </a:r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)</a:t>
              </a:r>
              <a:endPara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shoot</a:t>
              </a: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hè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(jī)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6427470" cy="708025"/>
            <a:chOff x="4428" y="448"/>
            <a:chExt cx="3124" cy="1115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咬  杀  除  逃  吓  追  射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(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击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)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他一定要替百姓</a:t>
              </a:r>
              <a:r>
                <a:rPr lang="zh-CN" altLang="zh-CN" sz="3600" u="sng" dirty="0">
                  <a:solidFill>
                    <a:srgbClr val="C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     </a:t>
              </a:r>
              <a:r>
                <a:rPr lang="zh-CN" altLang="en-US" sz="3600" u="sng" dirty="0">
                  <a:solidFill>
                    <a:srgbClr val="C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 </a:t>
              </a:r>
              <a:r>
                <a:rPr lang="zh-CN" altLang="zh-CN" sz="3600" u="sng" dirty="0">
                  <a:solidFill>
                    <a:srgbClr val="C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掉这个害人的东西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541250" cy="1979295"/>
            <a:chOff x="-443" y="1654"/>
            <a:chExt cx="19750" cy="3117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847" cy="2161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听说，那个男人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了自己的女朋友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，然后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走了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孩子被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得哇哇大哭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5090795" y="356425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杀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08323" y="424751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逃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975918" y="203517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除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720020" y="541591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吓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我从小怕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狗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，因为被狗</a:t>
              </a:r>
              <a:r>
                <a:rPr lang="zh-CN" altLang="zh-CN" sz="3600" u="sng" dirty="0">
                  <a:solidFill>
                    <a:srgbClr val="C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    </a:t>
              </a:r>
              <a:r>
                <a:rPr lang="zh-CN" altLang="en-US" sz="3600" u="sng" dirty="0">
                  <a:solidFill>
                    <a:srgbClr val="C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   </a:t>
              </a:r>
              <a:r>
                <a:rPr lang="zh-CN" altLang="zh-CN" sz="3600" u="sng" dirty="0">
                  <a:solidFill>
                    <a:srgbClr val="C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过</a:t>
              </a:r>
              <a:r>
                <a:rPr lang="zh-CN" altLang="zh-CN" sz="3600" dirty="0">
                  <a:solidFill>
                    <a:srgbClr val="282828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。 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6817714" y="2029560"/>
            <a:ext cx="2861871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咬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李广一下子就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中了一只正在飞的鸟</a:t>
              </a:r>
              <a:r>
                <a:rPr lang="zh-CN" altLang="zh-CN" sz="3600" dirty="0">
                  <a:solidFill>
                    <a:srgbClr val="282828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快看，那两只小狗互相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着玩儿，真可爱。 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4573594" y="3714115"/>
            <a:ext cx="1995170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射</a:t>
            </a:r>
            <a:r>
              <a:rPr lang="en-US" altLang="zh-CN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/</a:t>
            </a:r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击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82640" y="541591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追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882265" y="372745"/>
            <a:ext cx="6427470" cy="708025"/>
            <a:chOff x="4428" y="448"/>
            <a:chExt cx="3124" cy="1115"/>
          </a:xfrm>
        </p:grpSpPr>
        <p:sp>
          <p:nvSpPr>
            <p:cNvPr id="26" name="圆角矩形 25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429" y="448"/>
              <a:ext cx="3123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咬  杀  除  逃  吓  追  射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(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击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)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4" grpId="0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501" y="438502"/>
            <a:ext cx="1458000" cy="126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665" y="5148665"/>
            <a:ext cx="1080000" cy="1008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2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6" name="Picture 8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667" y="7355666"/>
            <a:ext cx="768667" cy="768667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20" name="椭圆形标注 19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64" y="3113"/>
              <a:ext cx="8640" cy="48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en-GB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s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huō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bu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dìng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说不定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>
                <a:defRPr sz="1800"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adv. perhaps, possibly, it’s </a:t>
              </a:r>
              <a:endParaRPr lang="en-US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Times New Roman" panose="02020603050405020304" pitchFamily="18" charset="0"/>
              </a:endParaRPr>
            </a:p>
            <a:p>
              <a:pPr algn="ctr">
                <a:defRPr sz="1800"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likely that…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38125" y="5401945"/>
            <a:ext cx="5476240" cy="720090"/>
            <a:chOff x="197" y="9126"/>
            <a:chExt cx="8624" cy="1134"/>
          </a:xfrm>
        </p:grpSpPr>
        <p:sp>
          <p:nvSpPr>
            <p:cNvPr id="3" name="圆角矩形 2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97" y="9282"/>
              <a:ext cx="7642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今晚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说不定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会有烟花节目呢。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  <p:pic>
        <p:nvPicPr>
          <p:cNvPr id="15" name="Picture 4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420" y="2386800"/>
            <a:ext cx="2815200" cy="20844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1633855" y="6156960"/>
            <a:ext cx="10801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</a:rPr>
              <a:t>可能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27" y="5301913"/>
            <a:ext cx="1080000" cy="1008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067" y="473200"/>
            <a:ext cx="1620000" cy="126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15" y="-1380784"/>
            <a:ext cx="1309370" cy="96156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645" y="7312645"/>
            <a:ext cx="854710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áo yè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熬 夜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lvl="0" algn="ctr" fontAlgn="auto">
                <a:defRPr sz="1800"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 to </a:t>
              </a: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stay up late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476240" cy="720090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09" y="9282"/>
              <a:ext cx="7023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大年三十我们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熬夜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守岁吗</a:t>
              </a: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？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  <p:pic>
        <p:nvPicPr>
          <p:cNvPr id="18" name="Picture 6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420" y="2386800"/>
            <a:ext cx="2815200" cy="20844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2832100" y="6262370"/>
            <a:ext cx="19856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晚上很晚睡觉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862" y="397861"/>
            <a:ext cx="1620000" cy="126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15" y="-1380784"/>
            <a:ext cx="1309370" cy="96156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645" y="7312645"/>
            <a:ext cx="854710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8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en-GB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g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ǎn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jǐn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赶 紧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>
                <a:defRPr sz="1800"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adv. immediately, at once</a:t>
              </a:r>
            </a:p>
            <a:p>
              <a:pPr lvl="0" algn="ctr" fontAlgn="auto">
                <a:defRPr sz="1800"/>
              </a:pP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476240" cy="720090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14" y="9282"/>
              <a:ext cx="8207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春晚快开始啦，我们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赶紧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过去。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  <p:pic>
        <p:nvPicPr>
          <p:cNvPr id="16" name="Picture 6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362" y="2377440"/>
            <a:ext cx="2815200" cy="20853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8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28" y="5164878"/>
            <a:ext cx="1080000" cy="1008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963" y="2377440"/>
            <a:ext cx="2780453" cy="20853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27" y="5437113"/>
            <a:ext cx="1080000" cy="1008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15" y="-1380784"/>
            <a:ext cx="1309370" cy="96156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645" y="7312645"/>
            <a:ext cx="854710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8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en-GB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g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uǒ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rán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hangingPunct="0"/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果 然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>
                <a:defRPr sz="1800"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adv. as expected, really</a:t>
              </a:r>
            </a:p>
            <a:p>
              <a:pPr lvl="0" algn="ctr" fontAlgn="auto">
                <a:defRPr sz="1800"/>
              </a:pP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476240" cy="720090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649" y="9282"/>
              <a:ext cx="5946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大年初一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果然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下雨了。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  <p:pic>
        <p:nvPicPr>
          <p:cNvPr id="21" name="Picture 4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067" y="505978"/>
            <a:ext cx="1620000" cy="126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文本框 2"/>
          <p:cNvSpPr txBox="1"/>
          <p:nvPr/>
        </p:nvSpPr>
        <p:spPr>
          <a:xfrm>
            <a:off x="2336165" y="6325870"/>
            <a:ext cx="3378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和预想的一样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27" y="5204226"/>
            <a:ext cx="1080000" cy="1008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067" y="537800"/>
            <a:ext cx="1620000" cy="126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15" y="-1380784"/>
            <a:ext cx="1309370" cy="96156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645" y="7312645"/>
            <a:ext cx="854710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en-GB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f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ēn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fēn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纷 纷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>
                <a:defRPr sz="1800"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adj. girl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476240" cy="720090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98" y="9282"/>
              <a:ext cx="4249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清明时节雨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纷纷</a:t>
              </a:r>
              <a:endParaRPr lang="zh-CN" altLang="en-US" sz="28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  <a:sym typeface="华文细黑" panose="02010600040101010101" pitchFamily="2" charset="-122"/>
              </a:endParaRPr>
            </a:p>
          </p:txBody>
        </p:sp>
      </p:grpSp>
      <p:pic>
        <p:nvPicPr>
          <p:cNvPr id="16" name="Picture 6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760" y="2377440"/>
            <a:ext cx="2816860" cy="2054562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3691890" y="6212205"/>
            <a:ext cx="10052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</a:rPr>
              <a:t>多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27" y="5297381"/>
            <a:ext cx="1080000" cy="1008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15" y="-1380784"/>
            <a:ext cx="1309370" cy="96156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645" y="7312645"/>
            <a:ext cx="854710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en-GB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z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hěng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gè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整 个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>
                <a:defRPr sz="1800"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adj. whole, entire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476240" cy="720090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320" y="9282"/>
              <a:ext cx="6597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Comic Sans MS" panose="030F0902030302020204" pitchFamily="66" charset="0"/>
                  <a:sym typeface="+mn-ea"/>
                </a:rPr>
                <a:t>哇，这一</a:t>
              </a:r>
              <a:r>
                <a:rPr lang="zh-CN" altLang="en-US" sz="2800" b="1" dirty="0">
                  <a:solidFill>
                    <a:srgbClr val="FF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Comic Sans MS" panose="030F0902030302020204" pitchFamily="66" charset="0"/>
                  <a:sym typeface="+mn-ea"/>
                </a:rPr>
                <a:t>整个</a:t>
              </a:r>
              <a:r>
                <a:rPr lang="zh-CN" altLang="en-US" sz="28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Comic Sans MS" panose="030F0902030302020204" pitchFamily="66" charset="0"/>
                  <a:sym typeface="+mn-ea"/>
                </a:rPr>
                <a:t>西瓜好大呀</a:t>
              </a:r>
            </a:p>
          </p:txBody>
        </p:sp>
      </p:grpSp>
      <p:pic>
        <p:nvPicPr>
          <p:cNvPr id="20" name="Picture 4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067" y="401925"/>
            <a:ext cx="1620000" cy="126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Picture 6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420" y="2377440"/>
            <a:ext cx="2815200" cy="20853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851" y="2377440"/>
            <a:ext cx="2815200" cy="20853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27" y="5204226"/>
            <a:ext cx="1080000" cy="1008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862" y="397861"/>
            <a:ext cx="1620000" cy="126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15" y="-1380784"/>
            <a:ext cx="1309370" cy="96156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645" y="7312645"/>
            <a:ext cx="854710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8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en-GB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s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hì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de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似 的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>
                <a:defRPr sz="1800"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part. (indicating similarity) </a:t>
              </a:r>
              <a:endParaRPr lang="en-US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Times New Roman" panose="02020603050405020304" pitchFamily="18" charset="0"/>
              </a:endParaRPr>
            </a:p>
            <a:p>
              <a:pPr algn="ctr">
                <a:defRPr sz="1800"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like, as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476240" cy="720090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364" y="9282"/>
              <a:ext cx="6511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天上的云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像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一团棉花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似的</a:t>
              </a:r>
              <a:endParaRPr lang="zh-CN" altLang="en-US" sz="28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  <a:sym typeface="华文细黑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27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8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说不定</a:t>
              </a: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adv. perhaps, possibly, it’s likely that…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531260" y="874395"/>
            <a:ext cx="259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280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</a:t>
            </a:r>
            <a:r>
              <a:rPr lang="zh-CN" altLang="zh-CN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huō</a:t>
            </a:r>
            <a:r>
              <a:rPr lang="zh-CN" altLang="en-US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bu</a:t>
            </a:r>
            <a:r>
              <a:rPr lang="zh-CN" altLang="en-US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dìng</a:t>
            </a:r>
            <a:r>
              <a:rPr lang="en-US" altLang="zh-CN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 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2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赶紧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adv. immediately, at once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gǎn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jǐn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熬夜</a:t>
              </a:r>
              <a:endParaRPr 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 eaLnBrk="1"/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stay up late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4966155" y="863600"/>
            <a:ext cx="2385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áo yè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果然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adv. as expected, really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g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uǒ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rán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194050"/>
            <a:chOff x="4717" y="1909"/>
            <a:chExt cx="3511" cy="5030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纷纷</a:t>
              </a: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girl</a:t>
              </a: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f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ēn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fēn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整个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 adj. whole, entire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556375" y="4446905"/>
            <a:ext cx="2242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</a:t>
            </a:r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hěng</a:t>
            </a:r>
            <a:r>
              <a:rPr lang="zh-CN" altLang="en-US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gè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似的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zh-CN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part. (indicating similarity) like, as</a:t>
              </a: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hì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de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9945" y="372745"/>
            <a:ext cx="7992110" cy="708025"/>
            <a:chOff x="4428" y="448"/>
            <a:chExt cx="3124" cy="1115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赶紧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无奈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制造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果然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伤害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此外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还真让你说对了，他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还不知道这件事。 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两岁的果果是我们家最能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麻烦的人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姑娘脸上表现出很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的样子。 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842125" y="3720652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制造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82998" y="539577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无奈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758182" y="2033996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果然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9945" y="372745"/>
            <a:ext cx="7992110" cy="708025"/>
            <a:chOff x="4428" y="448"/>
            <a:chExt cx="3124" cy="1115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赶紧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无奈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制造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果然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伤害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此外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他喜欢音乐、电影、运动，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还喜欢旅行</a:t>
              </a:r>
              <a:r>
                <a:rPr lang="zh-CN" altLang="zh-CN" sz="3600" dirty="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。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541250" cy="2003425"/>
            <a:chOff x="-443" y="1654"/>
            <a:chExt cx="19750" cy="3155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847" cy="219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不用送了，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回去吧，家里还有别的客人呢</a:t>
              </a:r>
              <a:r>
                <a:rPr lang="zh-CN" altLang="zh-CN" sz="3600" dirty="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经常熬夜对身体的</a:t>
              </a:r>
              <a:r>
                <a:rPr lang="zh-CN" altLang="en-US" sz="3600" b="1" u="sng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 </a:t>
              </a:r>
              <a:r>
                <a:rPr lang="zh-CN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极大。  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3742419" y="3564164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赶紧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010967" y="5390786"/>
            <a:ext cx="1995170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伤害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07268" y="202891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此外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A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840672" y="2318363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你的担心不是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没有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道理的，今天李阳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没有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通过面试。</a:t>
            </a:r>
            <a:endParaRPr lang="zh-CN" altLang="zh-CN" sz="2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840671" y="4964829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学院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所有的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老师和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同学</a:t>
            </a:r>
            <a:endParaRPr lang="en-US" altLang="zh-CN" sz="2400" dirty="0">
              <a:solidFill>
                <a:srgbClr val="000000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Helvetica Light" charset="0"/>
              <a:sym typeface="华文细黑" panose="02010600040101010101" pitchFamily="2" charset="-122"/>
            </a:endParaRPr>
          </a:p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都在议论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这件事。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果然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8025"/>
            <a:chOff x="4428" y="448"/>
            <a:chExt cx="3124" cy="1115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整个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B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D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2356" y="2358498"/>
            <a:ext cx="474916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路上的人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他着急，拉住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他的马，阻止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他说：“方向错了”。</a:t>
            </a:r>
            <a:endParaRPr lang="zh-CN" altLang="en-US" sz="2400" b="1" noProof="0" dirty="0">
              <a:ln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4765" y="4989976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algn="ctr" defTabSz="914400" rtl="0" eaLnBrk="1" latinLnBrk="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忽然，他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看见小木屋的方向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升起了黑烟，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他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跑过去看。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替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急忙</a:t>
              </a:r>
            </a:p>
          </p:txBody>
        </p:sp>
      </p:grpSp>
      <p:sp>
        <p:nvSpPr>
          <p:cNvPr id="7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2522"/>
            <a:ext cx="2837180" cy="2308503"/>
            <a:chOff x="7787" y="3143"/>
            <a:chExt cx="5660" cy="2568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143"/>
              <a:ext cx="5660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说不定</a:t>
              </a:r>
              <a:endParaRPr lang="en-US" altLang="zh-CN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动词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-</a:t>
              </a:r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不能</a:t>
              </a:r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说得</a:t>
              </a:r>
              <a:endParaRPr lang="en-US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很清楚、肯定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Không nói rõ được, chưa chắc chắn được</a:t>
              </a:r>
              <a:endParaRPr lang="en-US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864995"/>
            <a:ext cx="8538845" cy="1217295"/>
            <a:chOff x="518" y="2814"/>
            <a:chExt cx="13447" cy="1917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917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962"/>
              <a:ext cx="13446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这事儿经理已经同意了，只是出发的时间</a:t>
              </a:r>
              <a:endParaRPr lang="en-US" altLang="zh-CN" sz="3200" b="1" dirty="0"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  <a:p>
              <a:pPr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还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说不定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200" b="1" dirty="0"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1" y="4643755"/>
            <a:ext cx="8165084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635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eaLnBrk="1" fontAlgn="base" hangingPunct="0"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咱俩到底谁赢谁输还真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说不定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呢。 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4" name="图片 3" descr="/Users/huangkafi/Downloads/docsmall/IMG_7078-20220928212748.pngIMG_7078-2022092821274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1013" y="3883660"/>
            <a:ext cx="1557020" cy="1524000"/>
          </a:xfrm>
          <a:prstGeom prst="rect">
            <a:avLst/>
          </a:prstGeom>
        </p:spPr>
      </p:pic>
      <p:pic>
        <p:nvPicPr>
          <p:cNvPr id="6" name="图片 5" descr="/Users/huangkafi/Downloads/docsmall/IMG_7079-20220928212757.pngIMG_7079-2022092821275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665980" y="2569845"/>
            <a:ext cx="1655445" cy="1524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74543"/>
            <a:ext cx="2837180" cy="2615944"/>
            <a:chOff x="7787" y="3123"/>
            <a:chExt cx="5660" cy="291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123"/>
              <a:ext cx="5660" cy="2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说不定</a:t>
              </a: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副词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-</a:t>
              </a:r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表示</a:t>
              </a:r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估计，</a:t>
              </a:r>
              <a:endPara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可能性很大</a:t>
              </a:r>
              <a:endParaRPr lang="vi-VN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Phó từ:khả năng rất lớn</a:t>
              </a:r>
            </a:p>
            <a:p>
              <a:pPr algn="ctr" fontAlgn="ctr"/>
              <a:r>
                <a:rPr lang="vi-VN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(nói không chừng)</a:t>
              </a:r>
            </a:p>
            <a:p>
              <a:pPr algn="ctr" fontAlgn="ctr"/>
              <a:endPara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0" y="2185821"/>
            <a:ext cx="8662669" cy="837565"/>
            <a:chOff x="518" y="3412"/>
            <a:chExt cx="13447" cy="1319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412"/>
              <a:ext cx="13446" cy="1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周末他起得晚，这会儿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说不定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还在睡觉呢。 </a:t>
              </a:r>
              <a:endParaRPr lang="zh-CN" altLang="en-US" sz="3200" b="1" dirty="0"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118871" y="3981886"/>
            <a:ext cx="8538845" cy="829310"/>
            <a:chOff x="518" y="3425"/>
            <a:chExt cx="13447" cy="1306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425"/>
              <a:ext cx="13446" cy="1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 hangingPunct="0">
                <a:lnSpc>
                  <a:spcPct val="150000"/>
                </a:lnSpc>
                <a:buClrTx/>
                <a:buSzTx/>
                <a:buFontTx/>
              </a:pP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别随随便便就说放弃，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说不定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下次就成功了。 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365" y="4130261"/>
            <a:ext cx="2794834" cy="2794834"/>
          </a:xfrm>
          <a:prstGeom prst="rect">
            <a:avLst/>
          </a:prstGeom>
        </p:spPr>
      </p:pic>
      <p:pic>
        <p:nvPicPr>
          <p:cNvPr id="7" name="图片 6" descr="/Users/huangkafi/Downloads/docsmall/IMG_7080-20220928212805.pngIMG_7080-2022092821280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722880" y="1063625"/>
            <a:ext cx="1482725" cy="1524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43666" y="3193415"/>
            <a:ext cx="2837180" cy="1691821"/>
            <a:chOff x="7697" y="3144"/>
            <a:chExt cx="5660" cy="188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97" y="3630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29" y="1908539"/>
            <a:ext cx="9294041" cy="833120"/>
            <a:chOff x="518" y="2814"/>
            <a:chExt cx="13447" cy="1312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962"/>
              <a:ext cx="13446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消息一出来，询问情况的电话雪片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似的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纷纷打来。</a:t>
              </a:r>
              <a:endParaRPr lang="zh-CN" altLang="en-US" sz="3200" b="1" dirty="0"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16014" y="4212772"/>
            <a:ext cx="8727986" cy="859971"/>
            <a:chOff x="508" y="3220"/>
            <a:chExt cx="13447" cy="1881"/>
          </a:xfrm>
        </p:grpSpPr>
        <p:sp>
          <p:nvSpPr>
            <p:cNvPr id="81" name="圆角矩形 80"/>
            <p:cNvSpPr/>
            <p:nvPr/>
          </p:nvSpPr>
          <p:spPr>
            <a:xfrm>
              <a:off x="508" y="3220"/>
              <a:ext cx="13447" cy="188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09" y="3436"/>
              <a:ext cx="13446" cy="12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hangingPunct="0"/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我不敢相信这是真的，好像做梦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似的</a:t>
              </a:r>
              <a:r>
                <a:rPr lang="zh-CN" altLang="zh-CN" sz="3200" dirty="0">
                  <a:solidFill>
                    <a:srgbClr val="282828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370695" y="3191252"/>
            <a:ext cx="283718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rPr>
              <a:t>似的</a:t>
            </a:r>
            <a:endParaRPr lang="zh-CN" altLang="zh-CN" sz="2000" dirty="0">
              <a:solidFill>
                <a:schemeClr val="bg1">
                  <a:lumMod val="6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  <a:p>
            <a:pPr algn="ctr" fontAlgn="ctr"/>
            <a:r>
              <a:rPr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助词</a:t>
            </a:r>
          </a:p>
          <a:p>
            <a:pPr algn="ctr" fontAlgn="ctr"/>
            <a:r>
              <a:rPr sz="2000" b="1" dirty="0" err="1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表示</a:t>
            </a:r>
            <a:r>
              <a:rPr sz="2000" b="1" dirty="0" err="1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跟某种事物、情况相似</a:t>
            </a:r>
            <a:endParaRPr lang="vi-VN" sz="2000" b="1" dirty="0">
              <a:solidFill>
                <a:srgbClr val="FF0000"/>
              </a:solidFill>
              <a:highlight>
                <a:srgbClr val="FFFF00"/>
              </a:highligh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  <a:p>
            <a:pPr algn="ctr" fontAlgn="ctr"/>
            <a:r>
              <a:rPr lang="vi-V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Trợ từ:giống</a:t>
            </a:r>
            <a:endParaRPr sz="2000" b="1" dirty="0">
              <a:solidFill>
                <a:srgbClr val="FF0000"/>
              </a:solidFill>
              <a:highlight>
                <a:srgbClr val="FFFF00"/>
              </a:highligh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pic>
        <p:nvPicPr>
          <p:cNvPr id="7" name="图片 6" descr="/Users/huangkafi/Desktop/IMG_6868-20220925220810.pngIMG_6868-202209252208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09048" y="636905"/>
            <a:ext cx="1531620" cy="1524000"/>
          </a:xfrm>
          <a:prstGeom prst="rect">
            <a:avLst/>
          </a:prstGeom>
        </p:spPr>
      </p:pic>
      <p:pic>
        <p:nvPicPr>
          <p:cNvPr id="3" name="图片 2" descr="/Users/huangkafi/Downloads/docsmall/IMG_7081-20220928212812.pngIMG_7081-202209282128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18325" y="3361690"/>
            <a:ext cx="2370455" cy="22612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58704" y="3193421"/>
            <a:ext cx="2837180" cy="1691823"/>
            <a:chOff x="7727" y="3144"/>
            <a:chExt cx="5660" cy="188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27" y="3657"/>
              <a:ext cx="5660" cy="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295" y="2181860"/>
            <a:ext cx="8538845" cy="1217295"/>
            <a:chOff x="518" y="2814"/>
            <a:chExt cx="13447" cy="1917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917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962"/>
              <a:ext cx="13446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刘方背着重重的电脑包挤地铁，下班回到家累得什么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似的</a:t>
              </a:r>
              <a:r>
                <a:rPr lang="zh-CN" altLang="zh-CN" sz="3200" dirty="0">
                  <a:solidFill>
                    <a:srgbClr val="282828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。</a:t>
              </a:r>
              <a:endParaRPr lang="zh-CN" altLang="en-US" sz="3200" b="1" dirty="0"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38125" y="4885055"/>
            <a:ext cx="8749030" cy="1076960"/>
            <a:chOff x="384" y="3426"/>
            <a:chExt cx="13581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384" y="3755"/>
              <a:ext cx="13446" cy="7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eaLnBrk="1" fontAlgn="base" hangingPunct="0"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“夕”吓得什么</a:t>
              </a:r>
              <a:r>
                <a:rPr lang="zh-CN" altLang="zh-CN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似的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急忙往外逃</a:t>
              </a:r>
              <a:r>
                <a:rPr lang="zh-CN" altLang="zh-CN" sz="3200" dirty="0">
                  <a:solidFill>
                    <a:srgbClr val="282828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。 </a:t>
              </a:r>
              <a:r>
                <a:rPr lang="zh-CN" altLang="zh-CN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9370695" y="3191252"/>
            <a:ext cx="283718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rPr>
              <a:t>似的</a:t>
            </a:r>
            <a:endParaRPr lang="zh-CN" altLang="zh-CN" sz="2000" dirty="0">
              <a:solidFill>
                <a:schemeClr val="bg1">
                  <a:lumMod val="6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  <a:p>
            <a:pPr algn="ctr" fontAlgn="ctr"/>
            <a:r>
              <a:rPr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在“……得+什么似的”结构中，</a:t>
            </a:r>
          </a:p>
          <a:p>
            <a:pPr algn="ctr" fontAlgn="ctr"/>
            <a:r>
              <a:rPr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“什么似的”</a:t>
            </a:r>
          </a:p>
          <a:p>
            <a:pPr algn="ctr" fontAlgn="ctr"/>
            <a:r>
              <a:rPr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代替想表示的情态</a:t>
            </a:r>
            <a:r>
              <a:rPr 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，</a:t>
            </a:r>
            <a:endParaRPr sz="2000" b="1" dirty="0">
              <a:solidFill>
                <a:schemeClr val="bg1">
                  <a:lumMod val="6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  <a:p>
            <a:pPr algn="ctr" fontAlgn="ctr"/>
            <a:r>
              <a:rPr sz="2000" b="1" dirty="0" err="1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有</a:t>
            </a:r>
            <a:r>
              <a:rPr sz="2000" b="1" dirty="0" err="1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夸张的语气</a:t>
            </a:r>
            <a:r>
              <a:rPr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。</a:t>
            </a:r>
            <a:endParaRPr lang="vi-VN" sz="2000" b="1" dirty="0">
              <a:solidFill>
                <a:schemeClr val="bg1">
                  <a:lumMod val="6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  <a:p>
            <a:pPr algn="ctr" fontAlgn="ctr"/>
            <a:r>
              <a:rPr lang="vi-V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Ngữ khí khoa trương </a:t>
            </a:r>
          </a:p>
          <a:p>
            <a:pPr algn="ctr" fontAlgn="ctr"/>
            <a:r>
              <a:rPr lang="vi-V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Cấu trúc: ... 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的什么似的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  <a:p>
            <a:pPr algn="ctr" fontAlgn="ctr"/>
            <a:endParaRPr sz="2000" b="1" dirty="0">
              <a:solidFill>
                <a:schemeClr val="bg1">
                  <a:lumMod val="6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pic>
        <p:nvPicPr>
          <p:cNvPr id="7" name="图片 6" descr="/Users/huangkafi/Downloads/docsmall/IMG_7083-20220928212830.pngIMG_7083-2022092821283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3280" y="4251325"/>
            <a:ext cx="1731010" cy="1710690"/>
          </a:xfrm>
          <a:prstGeom prst="rect">
            <a:avLst/>
          </a:prstGeom>
        </p:spPr>
      </p:pic>
      <p:pic>
        <p:nvPicPr>
          <p:cNvPr id="6" name="图片 5" descr="/Users/huangkafi/Downloads/docsmall/IMG_7082-20220928212820.pngIMG_7082-202209282128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791710" y="2480945"/>
            <a:ext cx="1706245" cy="1524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用“说不定”完成下列句子或对话。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207422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1.你再去图书馆或书店转转，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 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316787"/>
            <a:ext cx="7784465" cy="11245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.A：今年的优秀毕业生定了吗？李阳有希望吗？</a:t>
            </a: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 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630420"/>
            <a:ext cx="8140065" cy="11245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想要达到他那样的成就，我这辈子是不敢想了</a:t>
            </a: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 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___ 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用“居然”完成下列句子或对话。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52033"/>
            <a:ext cx="8735084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1.丽丽爱读书，一天要是不看点儿什么，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447419"/>
            <a:ext cx="5503430" cy="56560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.李阳考上了北大，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323553"/>
            <a:ext cx="7241085" cy="108266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小刘怎么了？她今天有点儿不太高兴。</a:t>
            </a: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 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第六课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849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6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5064" cy="902"/>
                  <a:chOff x="8865" y="6525"/>
                  <a:chExt cx="15064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6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5133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Origin</a:t>
                    </a:r>
                    <a:r>
                      <a:rPr lang="zh-CN" alt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 </a:t>
                    </a:r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of</a:t>
                    </a:r>
                    <a:r>
                      <a:rPr lang="zh-CN" alt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 </a:t>
                    </a:r>
                    <a:r>
                      <a:rPr lang="en-US" altLang="zh-CN" sz="2400" dirty="0" err="1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Chuxi</a:t>
                    </a:r>
                    <a:endPara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lang="en-US" altLang="zh-CN" sz="6600" b="1" dirty="0"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6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除夕的由来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3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2248626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6831" y="2534376"/>
            <a:ext cx="4505007" cy="250063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你对</a:t>
              </a:r>
              <a:r>
                <a:rPr lang="zh-CN" altLang="zh-CN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Calibri" panose="020F0502020204030204" charset="0"/>
                </a:rPr>
                <a:t>“</a:t>
              </a: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Calibri" panose="020F0502020204030204" charset="0"/>
                </a:rPr>
                <a:t>除夕</a:t>
              </a:r>
              <a:r>
                <a:rPr lang="zh-CN" altLang="zh-CN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Calibri" panose="020F0502020204030204" charset="0"/>
                </a:rPr>
                <a:t>”</a:t>
              </a: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Calibri" panose="020F0502020204030204" charset="0"/>
                </a:rPr>
                <a:t>了解吗？说一说你知道的</a:t>
              </a:r>
              <a:r>
                <a:rPr lang="zh-CN" altLang="zh-CN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Calibri" panose="020F0502020204030204" charset="0"/>
                </a:rPr>
                <a:t>“</a:t>
              </a: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Calibri" panose="020F0502020204030204" charset="0"/>
                </a:rPr>
                <a:t>除夕</a:t>
              </a:r>
              <a:r>
                <a:rPr lang="zh-CN" altLang="zh-CN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Calibri" panose="020F0502020204030204" charset="0"/>
                </a:rPr>
                <a:t>”</a:t>
              </a:r>
              <a:endParaRPr lang="zh-CN" altLang="en-US" sz="2400" b="1" noProof="0" dirty="0">
                <a:ln>
                  <a:noFill/>
                </a:ln>
                <a:solidFill>
                  <a:srgbClr val="CFB26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宋体" pitchFamily="2" charset="-122"/>
                <a:sym typeface="Calibri" panose="020F0502020204030204" charset="0"/>
              </a:endParaRP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4226651"/>
            <a:ext cx="1261110" cy="1217295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关闭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fēng sú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风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俗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custom, convention</a:t>
              </a:r>
            </a:p>
          </p:txBody>
        </p:sp>
      </p:grpSp>
      <p:grpSp>
        <p:nvGrpSpPr>
          <p:cNvPr id="64" name="鞭炮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biān pào</a:t>
              </a:r>
              <a:r>
                <a:rPr lang="en-US" sz="60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鞭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炮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n. firecrackers</a:t>
              </a:r>
            </a:p>
          </p:txBody>
        </p:sp>
      </p:grpSp>
      <p:grpSp>
        <p:nvGrpSpPr>
          <p:cNvPr id="58" name="风俗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fēng sú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风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俗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n. custom, convention</a:t>
              </a:r>
            </a:p>
          </p:txBody>
        </p:sp>
      </p:grpSp>
      <p:grpSp>
        <p:nvGrpSpPr>
          <p:cNvPr id="34" name="姑娘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086"/>
              <a:ext cx="7429" cy="4605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  </a:t>
              </a:r>
              <a:r>
                <a:rPr lang="en-GB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ū</a:t>
              </a:r>
              <a:r>
                <a:rPr lang="zh-CN" alt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niang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姑 娘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</a:t>
              </a:r>
              <a:r>
                <a:rPr lang="zh-CN" altLang="zh-CN" sz="2400" dirty="0">
                  <a:solidFill>
                    <a:srgbClr val="2A2A2B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zh-CN" altLang="zh-CN" sz="2400" dirty="0">
                  <a:solidFill>
                    <a:schemeClr val="lt1"/>
                  </a:solidFill>
                  <a:sym typeface="Times New Roman" panose="02020603050405020304" pitchFamily="18" charset="0"/>
                </a:rPr>
                <a:t>girl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16" name="盆（子）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4556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altLang="zh-CN" sz="5400" dirty="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p</a:t>
              </a:r>
              <a:r>
                <a:rPr lang="zh-CN" altLang="zh-CN" sz="5400" dirty="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én</a:t>
              </a:r>
              <a:r>
                <a:rPr lang="zh-CN" altLang="en-US" sz="5400" dirty="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dirty="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(zi)</a:t>
              </a:r>
              <a:endParaRPr lang="en-US" altLang="zh-CN" sz="5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 盆 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(</a:t>
              </a:r>
              <a:r>
                <a:rPr lang="zh-CN" altLang="en-US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子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)</a:t>
              </a:r>
              <a:endParaRPr lang="zh-CN" sz="6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zh-CN" sz="2400" dirty="0">
                  <a:sym typeface="Times New Roman" panose="02020603050405020304" pitchFamily="18" charset="0"/>
                </a:rPr>
                <a:t>n. basin, tub</a:t>
              </a:r>
            </a:p>
            <a:p>
              <a:pPr algn="ctr"/>
              <a:endParaRPr sz="2400" dirty="0">
                <a:sym typeface="+mn-ea"/>
              </a:endParaRPr>
            </a:p>
          </p:txBody>
        </p:sp>
      </p:grpSp>
      <p:grpSp>
        <p:nvGrpSpPr>
          <p:cNvPr id="29" name="游戏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373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 </a:t>
              </a:r>
              <a:r>
                <a:rPr lang="en-GB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ū</a:t>
              </a:r>
              <a:r>
                <a:rPr lang="zh-CN" alt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niang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姑 娘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</a:t>
              </a:r>
              <a:r>
                <a:rPr lang="zh-CN" altLang="zh-CN" sz="2400" dirty="0">
                  <a:solidFill>
                    <a:srgbClr val="2A2A2B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zh-CN" altLang="zh-CN" sz="2400" dirty="0">
                  <a:solidFill>
                    <a:schemeClr val="lt1"/>
                  </a:solidFill>
                  <a:sym typeface="Times New Roman" panose="02020603050405020304" pitchFamily="18" charset="0"/>
                </a:rPr>
                <a:t>girl</a:t>
              </a:r>
              <a:endParaRPr lang="en-US" altLang="zh-CN" sz="2400" dirty="0">
                <a:solidFill>
                  <a:schemeClr val="lt1"/>
                </a:solidFill>
                <a:sym typeface="+mn-ea"/>
              </a:endParaRPr>
            </a:p>
          </p:txBody>
        </p:sp>
      </p:grpSp>
      <p:grpSp>
        <p:nvGrpSpPr>
          <p:cNvPr id="2" name="守岁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5138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hǒu</a:t>
              </a:r>
              <a:r>
                <a:rPr lang="zh-CN" alt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suì</a:t>
              </a:r>
              <a:endParaRPr lang="en-US" altLang="zh-CN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守 岁</a:t>
              </a:r>
            </a:p>
            <a:p>
              <a:pPr algn="ctr"/>
              <a:r>
                <a:rPr lang="zh-CN" altLang="zh-CN" sz="2400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 to stay up late or all night </a:t>
              </a:r>
              <a:endParaRPr lang="en-US" altLang="zh-CN" sz="2400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Times New Roman" panose="02020603050405020304" pitchFamily="18" charset="0"/>
              </a:endParaRPr>
            </a:p>
            <a:p>
              <a:pPr algn="ctr"/>
              <a:r>
                <a:rPr lang="zh-CN" altLang="zh-CN" sz="2400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on New Year’s Eve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农历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3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n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óng</a:t>
              </a:r>
              <a:r>
                <a:rPr lang="zh-CN" alt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lì</a:t>
              </a:r>
              <a:r>
                <a:rPr lang="en-US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农 历</a:t>
              </a:r>
            </a:p>
            <a:p>
              <a:pPr algn="ctr"/>
              <a:r>
                <a:rPr lang="zh-CN" altLang="zh-CN" sz="2400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n. lunar calendar</a:t>
              </a:r>
              <a:endParaRPr lang="en-US" altLang="zh-CN" sz="2400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" name="锅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556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l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guō</a:t>
              </a:r>
              <a:endParaRPr lang="en-US" sz="5400" dirty="0">
                <a:solidFill>
                  <a:schemeClr val="l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锅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Times New Roman" panose="02020603050405020304" pitchFamily="18" charset="0"/>
                </a:rPr>
                <a:t>n. pot, pan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1" name="外公"/>
          <p:cNvGrpSpPr/>
          <p:nvPr/>
        </p:nvGrpSpPr>
        <p:grpSpPr>
          <a:xfrm>
            <a:off x="1337628" y="735965"/>
            <a:ext cx="4717415" cy="5817235"/>
            <a:chOff x="2105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5" y="3753"/>
              <a:ext cx="7429" cy="4556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GB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w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ài</a:t>
              </a:r>
              <a:r>
                <a:rPr lang="zh-CN" alt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gōng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外 公</a:t>
              </a:r>
            </a:p>
            <a:p>
              <a:pPr algn="ctr"/>
              <a:r>
                <a:rPr lang="zh-CN" altLang="zh-CN" sz="2400" dirty="0">
                  <a:sym typeface="Times New Roman" panose="02020603050405020304" pitchFamily="18" charset="0"/>
                </a:rPr>
                <a:t>n. maternal grandfather</a:t>
              </a:r>
            </a:p>
            <a:p>
              <a:pPr algn="ctr"/>
              <a:endParaRPr sz="2400" dirty="0">
                <a:sym typeface="+mn-ea"/>
              </a:endParaRPr>
            </a:p>
          </p:txBody>
        </p:sp>
      </p:grpSp>
      <p:grpSp>
        <p:nvGrpSpPr>
          <p:cNvPr id="37" name="箭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813"/>
              <a:ext cx="7429" cy="397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jiàn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箭</a:t>
              </a:r>
            </a:p>
            <a:p>
              <a:pPr algn="ctr"/>
              <a:r>
                <a:rPr lang="zh-CN" altLang="zh-CN" sz="2400" dirty="0">
                  <a:sym typeface="Times New Roman" panose="02020603050405020304" pitchFamily="18" charset="0"/>
                </a:rPr>
                <a:t>n. arrow</a:t>
              </a:r>
            </a:p>
          </p:txBody>
        </p:sp>
      </p:grpSp>
      <p:grpSp>
        <p:nvGrpSpPr>
          <p:cNvPr id="61" name="表达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413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biǎo</a:t>
              </a:r>
              <a:r>
                <a:rPr lang="en-US" sz="6000">
                  <a:sym typeface="+mn-ea"/>
                </a:rPr>
                <a:t> </a:t>
              </a:r>
              <a:r>
                <a:rPr sz="6000">
                  <a:sym typeface="+mn-ea"/>
                </a:rPr>
                <a:t>dá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表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达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express, to voice</a:t>
              </a:r>
            </a:p>
          </p:txBody>
        </p:sp>
      </p:grpSp>
      <p:grpSp>
        <p:nvGrpSpPr>
          <p:cNvPr id="67" name="意义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yì</a:t>
              </a:r>
              <a:r>
                <a:rPr lang="en-US" sz="6600">
                  <a:sym typeface="+mn-ea"/>
                </a:rPr>
                <a:t> </a:t>
              </a:r>
              <a:r>
                <a:rPr sz="6600">
                  <a:sym typeface="+mn-ea"/>
                </a:rPr>
                <a:t>yì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意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义</a:t>
              </a:r>
            </a:p>
            <a:p>
              <a:pPr algn="ctr"/>
              <a:r>
                <a:rPr sz="2400">
                  <a:sym typeface="+mn-ea"/>
                </a:rPr>
                <a:t>n. meaning, significance</a:t>
              </a:r>
            </a:p>
          </p:txBody>
        </p:sp>
      </p:grpSp>
      <p:grpSp>
        <p:nvGrpSpPr>
          <p:cNvPr id="27" name="关闭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290195" y="241935"/>
            <a:ext cx="2386330" cy="3194050"/>
            <a:chOff x="2640" y="218"/>
            <a:chExt cx="3758" cy="5030"/>
          </a:xfrm>
        </p:grpSpPr>
        <p:grpSp>
          <p:nvGrpSpPr>
            <p:cNvPr id="2" name="组合 1"/>
            <p:cNvGrpSpPr/>
            <p:nvPr/>
          </p:nvGrpSpPr>
          <p:grpSpPr>
            <a:xfrm>
              <a:off x="2708" y="218"/>
              <a:ext cx="3491" cy="5030"/>
              <a:chOff x="304" y="2028"/>
              <a:chExt cx="3491" cy="503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44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9" name="文本框 7"/>
              <p:cNvSpPr txBox="1"/>
              <p:nvPr/>
            </p:nvSpPr>
            <p:spPr>
              <a:xfrm>
                <a:off x="304" y="4252"/>
                <a:ext cx="3491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农历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lunar calendar</a:t>
                </a:r>
              </a:p>
            </p:txBody>
          </p:sp>
        </p:grpSp>
        <p:sp>
          <p:nvSpPr>
            <p:cNvPr id="10" name="文本框 7"/>
            <p:cNvSpPr txBox="1"/>
            <p:nvPr/>
          </p:nvSpPr>
          <p:spPr>
            <a:xfrm>
              <a:off x="2640" y="1377"/>
              <a:ext cx="3759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nóng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lì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94005" y="3435985"/>
            <a:ext cx="2208530" cy="3257550"/>
            <a:chOff x="7916" y="201"/>
            <a:chExt cx="3478" cy="5130"/>
          </a:xfrm>
        </p:grpSpPr>
        <p:grpSp>
          <p:nvGrpSpPr>
            <p:cNvPr id="6" name="组合 5"/>
            <p:cNvGrpSpPr/>
            <p:nvPr/>
          </p:nvGrpSpPr>
          <p:grpSpPr>
            <a:xfrm>
              <a:off x="7916" y="201"/>
              <a:ext cx="3479" cy="5130"/>
              <a:chOff x="9330" y="2028"/>
              <a:chExt cx="3479" cy="51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2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守岁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stay up late or all night on New Year’s Eve</a:t>
                </a: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7935" y="1360"/>
              <a:ext cx="345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shǒu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suì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695960" y="486410"/>
            <a:ext cx="1575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/>
              <a:t>Â</a:t>
            </a:r>
            <a:r>
              <a:rPr lang="en-US" altLang="zh-CN" sz="2400"/>
              <a:t>m lịch</a:t>
            </a:r>
          </a:p>
        </p:txBody>
      </p:sp>
      <p:pic>
        <p:nvPicPr>
          <p:cNvPr id="42" name="图片 41"/>
          <p:cNvPicPr/>
          <p:nvPr/>
        </p:nvPicPr>
        <p:blipFill>
          <a:blip r:embed="rId6"/>
          <a:srcRect t="15278" r="55324"/>
          <a:stretch>
            <a:fillRect/>
          </a:stretch>
        </p:blipFill>
        <p:spPr>
          <a:xfrm>
            <a:off x="3557270" y="317500"/>
            <a:ext cx="2701290" cy="5810250"/>
          </a:xfrm>
          <a:prstGeom prst="rect">
            <a:avLst/>
          </a:prstGeom>
        </p:spPr>
      </p:pic>
      <p:pic>
        <p:nvPicPr>
          <p:cNvPr id="46" name="图片 45"/>
          <p:cNvPicPr/>
          <p:nvPr/>
        </p:nvPicPr>
        <p:blipFill>
          <a:blip r:embed="rId7"/>
          <a:stretch>
            <a:fillRect/>
          </a:stretch>
        </p:blipFill>
        <p:spPr>
          <a:xfrm>
            <a:off x="6350635" y="1160780"/>
            <a:ext cx="5477510" cy="36874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-129540" y="138430"/>
            <a:ext cx="2754630" cy="3194050"/>
            <a:chOff x="55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408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表达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express,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to voice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5" y="6975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biǎo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dá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37490" y="3493135"/>
            <a:ext cx="2228850" cy="3194050"/>
            <a:chOff x="5648" y="5714"/>
            <a:chExt cx="3510" cy="5030"/>
          </a:xfrm>
        </p:grpSpPr>
        <p:grpSp>
          <p:nvGrpSpPr>
            <p:cNvPr id="14" name="组合 13"/>
            <p:cNvGrpSpPr/>
            <p:nvPr/>
          </p:nvGrpSpPr>
          <p:grpSpPr>
            <a:xfrm>
              <a:off x="5648" y="5714"/>
              <a:ext cx="3511" cy="5030"/>
              <a:chOff x="4717" y="1909"/>
              <a:chExt cx="3511" cy="5030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717" y="4133"/>
                <a:ext cx="3511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意义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meaning, significance</a:t>
                </a: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5648" y="6873"/>
              <a:ext cx="3511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yì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yì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2957195" y="702310"/>
            <a:ext cx="66230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“你好”用英语表达是“</a:t>
            </a:r>
            <a:r>
              <a:rPr lang="en-US" altLang="zh-CN" sz="2800"/>
              <a:t>hello</a:t>
            </a:r>
            <a:r>
              <a:rPr lang="zh-CN" altLang="en-US" sz="2800"/>
              <a:t>”</a:t>
            </a:r>
            <a:r>
              <a:rPr lang="en-US" altLang="zh-CN" sz="2800"/>
              <a:t>。</a:t>
            </a:r>
          </a:p>
          <a:p>
            <a:endParaRPr lang="en-US" altLang="zh-CN" sz="2800"/>
          </a:p>
          <a:p>
            <a:r>
              <a:rPr lang="zh-CN" altLang="en-US" sz="2800"/>
              <a:t>她的语言表达能力很强</a:t>
            </a:r>
            <a:r>
              <a:rPr lang="en-US" altLang="zh-CN" sz="2800"/>
              <a:t>。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3635375" y="3482975"/>
            <a:ext cx="5544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过新年对每个中国人而言意义重大</a:t>
            </a:r>
            <a:r>
              <a:rPr lang="en-US" altLang="zh-CN" sz="2400"/>
              <a:t>。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3671570" y="4403090"/>
            <a:ext cx="6198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她认为生活的意义就是要去尝试新事物</a:t>
            </a:r>
            <a:r>
              <a:rPr lang="en-US" altLang="zh-CN" sz="24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6" grpId="0"/>
      <p:bldP spid="46" grpId="1"/>
      <p:bldP spid="47" grpId="0"/>
      <p:bldP spid="47" grpId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-129540" y="89535"/>
            <a:ext cx="2754630" cy="3194050"/>
            <a:chOff x="9905" y="5714"/>
            <a:chExt cx="4338" cy="5030"/>
          </a:xfrm>
        </p:grpSpPr>
        <p:grpSp>
          <p:nvGrpSpPr>
            <p:cNvPr id="3" name="组合 2"/>
            <p:cNvGrpSpPr/>
            <p:nvPr/>
          </p:nvGrpSpPr>
          <p:grpSpPr>
            <a:xfrm>
              <a:off x="10258" y="5714"/>
              <a:ext cx="3533" cy="5030"/>
              <a:chOff x="9262" y="2028"/>
              <a:chExt cx="3533" cy="503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2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4" name="文本框 7"/>
              <p:cNvSpPr txBox="1"/>
              <p:nvPr/>
            </p:nvSpPr>
            <p:spPr>
              <a:xfrm>
                <a:off x="9262" y="4252"/>
                <a:ext cx="3532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鞭炮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firecrackers</a:t>
                </a:r>
              </a:p>
            </p:txBody>
          </p:sp>
        </p:grpSp>
        <p:sp>
          <p:nvSpPr>
            <p:cNvPr id="30" name="文本框 7"/>
            <p:cNvSpPr txBox="1"/>
            <p:nvPr/>
          </p:nvSpPr>
          <p:spPr>
            <a:xfrm>
              <a:off x="9905" y="7003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biān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pào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42875" y="3497580"/>
            <a:ext cx="2228850" cy="3780790"/>
            <a:chOff x="15498" y="5742"/>
            <a:chExt cx="3510" cy="5954"/>
          </a:xfrm>
        </p:grpSpPr>
        <p:grpSp>
          <p:nvGrpSpPr>
            <p:cNvPr id="31" name="组合 30"/>
            <p:cNvGrpSpPr/>
            <p:nvPr/>
          </p:nvGrpSpPr>
          <p:grpSpPr>
            <a:xfrm>
              <a:off x="15498" y="5742"/>
              <a:ext cx="3511" cy="5954"/>
              <a:chOff x="4717" y="1909"/>
              <a:chExt cx="3511" cy="5954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33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36" name="文本框 7"/>
              <p:cNvSpPr txBox="1"/>
              <p:nvPr/>
            </p:nvSpPr>
            <p:spPr>
              <a:xfrm>
                <a:off x="4717" y="4133"/>
                <a:ext cx="3511" cy="37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风俗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custom, convention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</p:txBody>
          </p:sp>
        </p:grpSp>
        <p:sp>
          <p:nvSpPr>
            <p:cNvPr id="38" name="文本框 7"/>
            <p:cNvSpPr txBox="1"/>
            <p:nvPr/>
          </p:nvSpPr>
          <p:spPr>
            <a:xfrm>
              <a:off x="15498" y="6901"/>
              <a:ext cx="3511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fēng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sú</a:t>
              </a:r>
            </a:p>
          </p:txBody>
        </p:sp>
      </p:grpSp>
      <p:pic>
        <p:nvPicPr>
          <p:cNvPr id="42" name="图片 41"/>
          <p:cNvPicPr/>
          <p:nvPr/>
        </p:nvPicPr>
        <p:blipFill>
          <a:blip r:embed="rId6"/>
          <a:stretch>
            <a:fillRect/>
          </a:stretch>
        </p:blipFill>
        <p:spPr>
          <a:xfrm>
            <a:off x="2625090" y="213995"/>
            <a:ext cx="6021070" cy="3740785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3004185" y="4950460"/>
            <a:ext cx="72758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放鞭炮是中国人过新年的一个风俗</a:t>
            </a:r>
            <a:r>
              <a:rPr lang="en-US" altLang="zh-CN" sz="32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6" grpId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农历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lunar calendar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nóng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lì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姑娘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girl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gū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niang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257550"/>
            <a:chOff x="9330" y="2028"/>
            <a:chExt cx="3479" cy="51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守岁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stay up late or all night on New Year’s Eve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shǒu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suì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表达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express,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to voice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biǎo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dá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194050"/>
            <a:chOff x="4717" y="1909"/>
            <a:chExt cx="3511" cy="5030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意义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meaning, significance</a:t>
              </a: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yì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yì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鞭炮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firecrackers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biān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pào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780790"/>
            <a:chOff x="4717" y="1909"/>
            <a:chExt cx="3511" cy="5954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3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风俗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custom, convention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fēng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sú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7513632" y="2736232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表达</a:t>
            </a:r>
            <a:endParaRPr lang="zh-CN" altLang="es-ES_tradnl" sz="32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3550295" y="273632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表示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68880" y="1070610"/>
            <a:ext cx="8526780" cy="145923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eaLnBrk="1">
              <a:lnSpc>
                <a:spcPct val="120000"/>
              </a:lnSpc>
              <a:buSzPct val="100000"/>
            </a:pPr>
            <a:r>
              <a:rPr lang="zh-CN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人的思想感情是非常丰富的，有些是无法用语言准确</a:t>
            </a:r>
            <a:r>
              <a:rPr lang="zh-CN" altLang="en-US" sz="3200" b="1" u="sng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            </a:t>
            </a:r>
            <a:r>
              <a:rPr lang="zh-CN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的。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3550457" y="164465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表达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16653" y="3645240"/>
            <a:ext cx="852678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2800" b="1" i="0" dirty="0">
                <a:solidFill>
                  <a:srgbClr val="FF0000"/>
                </a:solidFill>
                <a:latin typeface="宋体" charset="0"/>
                <a:ea typeface="宋体" charset="0"/>
              </a:rPr>
              <a:t>表示</a:t>
            </a:r>
            <a:r>
              <a:rPr lang="en-US" altLang="zh-CN" sz="28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：</a:t>
            </a:r>
            <a:r>
              <a:rPr lang="zh-CN" altLang="en-US" sz="24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直接表明、说明</a:t>
            </a:r>
            <a:r>
              <a:rPr lang="en-US" altLang="zh-CN" sz="24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 </a:t>
            </a:r>
            <a:r>
              <a:rPr lang="zh-CN" altLang="en-US" sz="24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某个事实、态度或意图 </a:t>
            </a:r>
            <a:r>
              <a:rPr lang="vi-VN" altLang="zh-CN" sz="24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nói rõ thái độ, sự thật(</a:t>
            </a:r>
            <a:r>
              <a:rPr lang="vi-VN" altLang="zh-CN" sz="2400" b="1" i="0" dirty="0">
                <a:solidFill>
                  <a:srgbClr val="404040"/>
                </a:solidFill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biểu thị)</a:t>
            </a:r>
            <a:endParaRPr lang="zh-CN" altLang="en-US" sz="2400" b="1" i="0" dirty="0">
              <a:solidFill>
                <a:srgbClr val="404040"/>
              </a:solidFill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  <a:p>
            <a:pPr marL="0" indent="0" algn="l"/>
            <a:r>
              <a:rPr lang="en-US" altLang="zh-CN" sz="24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          </a:t>
            </a:r>
            <a:r>
              <a:rPr lang="en-US" altLang="zh-CN" sz="2400" b="1" i="0" dirty="0" err="1">
                <a:solidFill>
                  <a:srgbClr val="404040"/>
                </a:solidFill>
                <a:latin typeface="宋体" charset="0"/>
                <a:ea typeface="宋体" charset="0"/>
              </a:rPr>
              <a:t>eg</a:t>
            </a:r>
            <a:r>
              <a:rPr lang="en-US" altLang="zh-CN" sz="24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：</a:t>
            </a:r>
            <a:r>
              <a:rPr lang="zh-CN" altLang="en-US" sz="24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点头表示同意</a:t>
            </a:r>
          </a:p>
          <a:p>
            <a:pPr marL="0" algn="l">
              <a:buClrTx/>
              <a:buSzTx/>
              <a:buFontTx/>
            </a:pPr>
            <a:r>
              <a:rPr lang="zh-CN" altLang="en-US" sz="2800" b="1" i="0" dirty="0">
                <a:solidFill>
                  <a:srgbClr val="FF0000"/>
                </a:solidFill>
                <a:latin typeface="宋体" charset="0"/>
                <a:ea typeface="宋体" charset="0"/>
              </a:rPr>
              <a:t>表达</a:t>
            </a:r>
            <a:r>
              <a:rPr lang="en-US" altLang="zh-CN" sz="28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：</a:t>
            </a:r>
            <a:r>
              <a:rPr lang="zh-CN" altLang="en-US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强调将内心的情感、思想或观点主动传递给他人</a:t>
            </a:r>
            <a:r>
              <a:rPr lang="vi-VN" altLang="zh-CN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Nhấn mạnh tình cảm bên trong,tư tưởng hoặc tư tưởng chủ quan truyền đạt cho người khác </a:t>
            </a:r>
            <a:r>
              <a:rPr lang="vi-VN" altLang="zh-CN" sz="2000" b="1" dirty="0">
                <a:solidFill>
                  <a:srgbClr val="404040"/>
                </a:solidFill>
                <a:latin typeface="宋体" charset="0"/>
                <a:ea typeface="宋体" charset="0"/>
              </a:rPr>
              <a:t>(</a:t>
            </a:r>
            <a:r>
              <a:rPr lang="vi-VN" altLang="zh-CN" sz="2000" b="1" i="0" dirty="0">
                <a:solidFill>
                  <a:srgbClr val="404040"/>
                </a:solidFill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Biểu đạt</a:t>
            </a:r>
            <a:r>
              <a:rPr lang="zh-CN" altLang="en-US" sz="2000" b="1" i="0" dirty="0">
                <a:solidFill>
                  <a:srgbClr val="404040"/>
                </a:solidFill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 </a:t>
            </a:r>
            <a:r>
              <a:rPr lang="vi-VN" altLang="zh-CN" sz="2000" b="1" i="0" dirty="0">
                <a:solidFill>
                  <a:srgbClr val="404040"/>
                </a:solidFill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)</a:t>
            </a:r>
            <a:r>
              <a:rPr lang="zh-CN" altLang="en-US" sz="2000" b="1" i="0" dirty="0">
                <a:solidFill>
                  <a:srgbClr val="404040"/>
                </a:solidFill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          </a:t>
            </a:r>
          </a:p>
          <a:p>
            <a:pPr marL="0" algn="l">
              <a:buClrTx/>
              <a:buSzTx/>
              <a:buFontTx/>
            </a:pPr>
            <a:r>
              <a:rPr lang="zh-CN" altLang="en-US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         与情感、思想、观点搭配</a:t>
            </a:r>
            <a:r>
              <a:rPr lang="en-US" altLang="zh-CN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。</a:t>
            </a:r>
            <a:r>
              <a:rPr lang="vi-VN" altLang="zh-CN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Kết hợp với tình cảm, tư tưởng, quan điểm </a:t>
            </a:r>
            <a:endParaRPr lang="en-US" altLang="zh-CN" sz="2000" b="1" i="0" dirty="0">
              <a:solidFill>
                <a:srgbClr val="404040"/>
              </a:solidFill>
              <a:latin typeface="宋体" charset="0"/>
              <a:ea typeface="宋体" charset="0"/>
            </a:endParaRPr>
          </a:p>
          <a:p>
            <a:pPr marL="0" algn="l">
              <a:buClrTx/>
              <a:buSzTx/>
              <a:buFontTx/>
            </a:pPr>
            <a:r>
              <a:rPr lang="en-US" altLang="zh-CN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            </a:t>
            </a:r>
            <a:r>
              <a:rPr lang="en-US" altLang="zh-CN" sz="2000" b="1" i="0" dirty="0" err="1">
                <a:solidFill>
                  <a:srgbClr val="404040"/>
                </a:solidFill>
                <a:latin typeface="宋体" charset="0"/>
                <a:ea typeface="宋体" charset="0"/>
              </a:rPr>
              <a:t>eg</a:t>
            </a:r>
            <a:r>
              <a:rPr lang="en-US" altLang="zh-CN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：</a:t>
            </a:r>
            <a:r>
              <a:rPr lang="zh-CN" altLang="en-US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表达感谢</a:t>
            </a:r>
            <a:r>
              <a:rPr lang="en-US" altLang="zh-CN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。</a:t>
            </a:r>
            <a:r>
              <a:rPr lang="zh-CN" altLang="en-US" sz="2000" b="1" i="0" dirty="0">
                <a:solidFill>
                  <a:srgbClr val="404040"/>
                </a:solidFill>
                <a:latin typeface="宋体" charset="0"/>
                <a:ea typeface="宋体" charset="0"/>
              </a:rPr>
              <a:t>表达不满</a:t>
            </a:r>
          </a:p>
          <a:p>
            <a:pPr marL="0" algn="l">
              <a:buClrTx/>
              <a:buSzTx/>
              <a:buFontTx/>
            </a:pPr>
            <a:endParaRPr lang="zh-CN" altLang="en-US" sz="2400" b="1" i="0" dirty="0">
              <a:solidFill>
                <a:srgbClr val="404040"/>
              </a:solidFill>
              <a:latin typeface="宋体" charset="0"/>
              <a:ea typeface="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2" grpId="0"/>
      <p:bldP spid="2" grpId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7084372" y="2698132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赶紧</a:t>
            </a:r>
          </a:p>
        </p:txBody>
      </p:sp>
      <p:sp>
        <p:nvSpPr>
          <p:cNvPr id="6" name="5 Nube"/>
          <p:cNvSpPr/>
          <p:nvPr/>
        </p:nvSpPr>
        <p:spPr>
          <a:xfrm>
            <a:off x="3560455" y="2709019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急忙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071245"/>
            <a:ext cx="8274685" cy="131953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eaLnBrk="1">
              <a:lnSpc>
                <a:spcPct val="120000"/>
              </a:lnSpc>
            </a:pPr>
            <a:r>
              <a:rPr lang="zh-CN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你</a:t>
            </a:r>
            <a:r>
              <a:rPr lang="zh-CN" altLang="en-US" sz="3200" b="1" u="sng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          </a:t>
            </a:r>
            <a:r>
              <a:rPr lang="zh-CN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给他回个电话，他好像有什么急事找你。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3158122" y="107061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赶紧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61388" y="3652261"/>
            <a:ext cx="89184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2400" b="0" i="0" dirty="0">
                <a:solidFill>
                  <a:srgbClr val="FF0000"/>
                </a:solidFill>
                <a:latin typeface="Inter"/>
                <a:ea typeface="Inter"/>
              </a:rPr>
              <a:t>急忙</a:t>
            </a:r>
            <a:r>
              <a:rPr lang="en-US" altLang="zh-CN" sz="2400" b="0" i="0" dirty="0">
                <a:solidFill>
                  <a:srgbClr val="404040"/>
                </a:solidFill>
                <a:latin typeface="Inter"/>
                <a:ea typeface="Inter"/>
              </a:rPr>
              <a:t>：</a:t>
            </a:r>
            <a:r>
              <a:rPr lang="zh-CN" altLang="en-US" sz="2400" b="0" i="0" dirty="0">
                <a:solidFill>
                  <a:srgbClr val="404040"/>
                </a:solidFill>
                <a:latin typeface="Inter"/>
                <a:ea typeface="Inter"/>
              </a:rPr>
              <a:t>因</a:t>
            </a:r>
            <a:r>
              <a:rPr lang="zh-CN" altLang="en-US" sz="2400" b="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时间紧迫或突发情况而</a:t>
            </a:r>
            <a:r>
              <a:rPr lang="zh-CN" altLang="en-US" sz="24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匆忙行动</a:t>
            </a:r>
            <a:r>
              <a:rPr lang="zh-CN" altLang="en-US" sz="2400" b="0" i="0" dirty="0">
                <a:solidFill>
                  <a:srgbClr val="404040"/>
                </a:solidFill>
                <a:latin typeface="Inter"/>
                <a:ea typeface="Inter"/>
              </a:rPr>
              <a:t>，带有</a:t>
            </a:r>
            <a:r>
              <a:rPr lang="zh-CN" altLang="en-US" sz="2400" i="0" dirty="0">
                <a:solidFill>
                  <a:schemeClr val="tx1"/>
                </a:solidFill>
                <a:highlight>
                  <a:srgbClr val="FFFF00"/>
                </a:highlight>
                <a:latin typeface="Inter"/>
                <a:ea typeface="Inter"/>
              </a:rPr>
              <a:t>被动性</a:t>
            </a:r>
            <a:r>
              <a:rPr lang="zh-CN" altLang="en-US" sz="2400" b="0" i="0" dirty="0">
                <a:solidFill>
                  <a:schemeClr val="tx1"/>
                </a:solidFill>
                <a:highlight>
                  <a:srgbClr val="FFFF00"/>
                </a:highlight>
                <a:latin typeface="Inter"/>
                <a:ea typeface="Inter"/>
              </a:rPr>
              <a:t>或</a:t>
            </a:r>
            <a:r>
              <a:rPr lang="zh-CN" altLang="en-US" sz="2400" i="0" dirty="0">
                <a:solidFill>
                  <a:schemeClr val="tx1"/>
                </a:solidFill>
                <a:highlight>
                  <a:srgbClr val="FFFF00"/>
                </a:highlight>
                <a:latin typeface="Inter"/>
                <a:ea typeface="Inter"/>
              </a:rPr>
              <a:t>慌乱感</a:t>
            </a:r>
            <a:r>
              <a:rPr lang="zh-CN" altLang="en-US" sz="2400" b="0" i="0" dirty="0">
                <a:solidFill>
                  <a:srgbClr val="404040"/>
                </a:solidFill>
                <a:latin typeface="Inter"/>
                <a:ea typeface="Inter"/>
              </a:rPr>
              <a:t>，多描述一种</a:t>
            </a:r>
            <a:r>
              <a:rPr lang="zh-CN" altLang="en-US" sz="24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已发生</a:t>
            </a:r>
            <a:r>
              <a:rPr lang="zh-CN" altLang="en-US" sz="2400" i="0" dirty="0">
                <a:solidFill>
                  <a:srgbClr val="404040"/>
                </a:solidFill>
                <a:latin typeface="Inter"/>
                <a:ea typeface="Inter"/>
              </a:rPr>
              <a:t>的状态</a:t>
            </a:r>
            <a:r>
              <a:rPr lang="zh-CN" altLang="en-US" sz="2400" b="0" i="0" dirty="0">
                <a:solidFill>
                  <a:srgbClr val="404040"/>
                </a:solidFill>
                <a:latin typeface="Inter"/>
                <a:ea typeface="Inter"/>
              </a:rPr>
              <a:t>。</a:t>
            </a:r>
            <a:r>
              <a:rPr lang="vi-VN" altLang="zh-CN" sz="2400" b="0" i="0" dirty="0">
                <a:solidFill>
                  <a:srgbClr val="404040"/>
                </a:solidFill>
                <a:latin typeface="Inter"/>
                <a:ea typeface="Inter"/>
              </a:rPr>
              <a:t>Vì thời gian cấp thiết hoặc sự việc phát sinh đột ngột mà vội vàng hành động,mang tính bị động hoặc hoảng loạn ( vội vàng)</a:t>
            </a:r>
            <a:endParaRPr lang="zh-CN" altLang="en-US" sz="2400" b="0" i="0" dirty="0">
              <a:solidFill>
                <a:srgbClr val="404040"/>
              </a:solidFill>
              <a:latin typeface="Inter"/>
              <a:ea typeface="Inter"/>
            </a:endParaRPr>
          </a:p>
          <a:p>
            <a:pPr marL="0" indent="0" algn="l"/>
            <a:r>
              <a:rPr lang="en-US" altLang="zh-CN" sz="2400" b="0" i="0" dirty="0" err="1">
                <a:solidFill>
                  <a:srgbClr val="404040"/>
                </a:solidFill>
                <a:latin typeface="Inter"/>
                <a:ea typeface="Inter"/>
              </a:rPr>
              <a:t>eg</a:t>
            </a:r>
            <a:r>
              <a:rPr lang="en-US" altLang="zh-CN" sz="2400" b="0" i="0" dirty="0">
                <a:solidFill>
                  <a:srgbClr val="404040"/>
                </a:solidFill>
                <a:latin typeface="Inter"/>
                <a:ea typeface="Inter"/>
              </a:rPr>
              <a:t>：</a:t>
            </a:r>
            <a:r>
              <a:rPr lang="zh-CN" altLang="en-US" sz="2400" b="0" i="0" dirty="0">
                <a:solidFill>
                  <a:srgbClr val="404040"/>
                </a:solidFill>
                <a:latin typeface="Inter"/>
                <a:ea typeface="Inter"/>
              </a:rPr>
              <a:t>听到铃声，他急忙跑回教室。</a:t>
            </a:r>
          </a:p>
          <a:p>
            <a:pPr marL="0" indent="0" algn="l"/>
            <a:endParaRPr lang="zh-CN" altLang="en-US" sz="2400" b="0" i="0" dirty="0">
              <a:solidFill>
                <a:srgbClr val="404040"/>
              </a:solidFill>
              <a:latin typeface="Inter"/>
              <a:ea typeface="Inter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6712" y="5545612"/>
            <a:ext cx="82753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buClrTx/>
              <a:buSzTx/>
              <a:buFontTx/>
            </a:pPr>
            <a:r>
              <a:rPr lang="zh-CN" altLang="en-US" sz="2000" b="0" i="0" dirty="0">
                <a:solidFill>
                  <a:srgbClr val="FF0000"/>
                </a:solidFill>
                <a:latin typeface="Inter"/>
                <a:ea typeface="Inter"/>
              </a:rPr>
              <a:t>赶紧</a:t>
            </a:r>
            <a:r>
              <a:rPr lang="en-US" altLang="zh-CN" sz="2000" b="0" i="0" dirty="0">
                <a:solidFill>
                  <a:srgbClr val="FF0000"/>
                </a:solidFill>
                <a:latin typeface="Inter"/>
                <a:ea typeface="Inter"/>
              </a:rPr>
              <a:t>：</a:t>
            </a:r>
            <a:r>
              <a:rPr lang="zh-CN" altLang="en-US" sz="2000" b="0" i="0" dirty="0">
                <a:solidFill>
                  <a:srgbClr val="404040"/>
                </a:solidFill>
                <a:latin typeface="Inter"/>
                <a:ea typeface="Inter"/>
              </a:rPr>
              <a:t>强调</a:t>
            </a:r>
            <a:r>
              <a:rPr lang="zh-CN" altLang="en-US" sz="20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主动催促</a:t>
            </a:r>
            <a:r>
              <a:rPr lang="zh-CN" altLang="en-US" sz="2000" b="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或</a:t>
            </a:r>
            <a:r>
              <a:rPr lang="zh-CN" altLang="en-US" sz="20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立即行动</a:t>
            </a:r>
            <a:r>
              <a:rPr lang="zh-CN" altLang="en-US" sz="2000" b="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，</a:t>
            </a:r>
            <a:r>
              <a:rPr lang="zh-CN" altLang="en-US" sz="2000" b="0" i="0" dirty="0">
                <a:solidFill>
                  <a:srgbClr val="404040"/>
                </a:solidFill>
                <a:latin typeface="Inter"/>
                <a:ea typeface="Inter"/>
              </a:rPr>
              <a:t>带有</a:t>
            </a:r>
            <a:r>
              <a:rPr lang="zh-CN" altLang="en-US" sz="20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主动性</a:t>
            </a:r>
            <a:r>
              <a:rPr lang="zh-CN" altLang="en-US" sz="2000" b="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或</a:t>
            </a:r>
            <a:r>
              <a:rPr lang="zh-CN" altLang="en-US" sz="20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建议性</a:t>
            </a:r>
            <a:r>
              <a:rPr lang="zh-CN" altLang="en-US" sz="2000" b="0" i="0" dirty="0">
                <a:solidFill>
                  <a:srgbClr val="404040"/>
                </a:solidFill>
                <a:latin typeface="Inter"/>
                <a:ea typeface="Inter"/>
              </a:rPr>
              <a:t>，多用于</a:t>
            </a:r>
            <a:r>
              <a:rPr lang="zh-CN" altLang="en-US" sz="20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未发生的动作</a:t>
            </a:r>
            <a:r>
              <a:rPr lang="zh-CN" altLang="en-US" sz="2000" b="0" i="0" dirty="0">
                <a:solidFill>
                  <a:srgbClr val="404040"/>
                </a:solidFill>
                <a:latin typeface="Inter"/>
                <a:ea typeface="Inter"/>
              </a:rPr>
              <a:t>。</a:t>
            </a:r>
            <a:r>
              <a:rPr lang="vi-VN" altLang="zh-CN" sz="2000" b="0" i="0" dirty="0">
                <a:solidFill>
                  <a:srgbClr val="404040"/>
                </a:solidFill>
                <a:latin typeface="Inter"/>
                <a:ea typeface="Inter"/>
              </a:rPr>
              <a:t>Nhấn mạnh chủ động thúc giục hoặc hành động nhanh chóng, mang tính chủ động hoặc tính kiến nghị đề xuất, dùng nhiều cho hành động chưa xảy ra ( mau chóng)</a:t>
            </a:r>
            <a:endParaRPr lang="zh-CN" altLang="en-US" sz="2000" b="0" i="0" dirty="0">
              <a:solidFill>
                <a:srgbClr val="40404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2" grpId="0"/>
      <p:bldP spid="2" grpId="1"/>
      <p:bldP spid="3" grpId="0"/>
      <p:bldP spid="3" grpId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55467" y="255652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另外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2556619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此外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23160" y="1070610"/>
            <a:ext cx="9021445" cy="120396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zh-CN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今天是不可能了</a:t>
            </a:r>
            <a:r>
              <a:rPr lang="zh-CN" altLang="en-US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，</a:t>
            </a:r>
            <a:r>
              <a:rPr lang="zh-CN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你</a:t>
            </a:r>
            <a:r>
              <a:rPr lang="zh-CN" altLang="en-US" sz="3200" b="1" u="sng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          </a:t>
            </a:r>
            <a:r>
              <a:rPr lang="zh-CN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安排一个时间见面吧。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6694754" y="1070514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另外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10864" y="3549551"/>
            <a:ext cx="76460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sz="2000" b="0" i="0" dirty="0">
                <a:solidFill>
                  <a:srgbClr val="000000"/>
                </a:solidFill>
                <a:highlight>
                  <a:srgbClr val="FFFF00"/>
                </a:highlight>
                <a:latin typeface="Helvetica"/>
                <a:ea typeface="Helvetica"/>
              </a:rPr>
              <a:t>另外</a:t>
            </a:r>
            <a:r>
              <a:rPr lang="en-US" altLang="zh-CN" sz="2000" b="0" i="0" dirty="0">
                <a:solidFill>
                  <a:srgbClr val="000000"/>
                </a:solidFill>
                <a:latin typeface="Helvetica"/>
                <a:ea typeface="Helvetica"/>
              </a:rPr>
              <a:t>：</a:t>
            </a:r>
            <a:r>
              <a:rPr lang="zh-CN" altLang="en-US" sz="2000" b="0" i="0" dirty="0">
                <a:solidFill>
                  <a:srgbClr val="000000"/>
                </a:solidFill>
                <a:latin typeface="Helvetica"/>
                <a:ea typeface="Helvetica"/>
              </a:rPr>
              <a:t>指所说范围之外的人或事物</a:t>
            </a:r>
            <a:r>
              <a:rPr lang="en-US" altLang="zh-CN" sz="2000" b="0" i="0" dirty="0">
                <a:solidFill>
                  <a:srgbClr val="000000"/>
                </a:solidFill>
                <a:latin typeface="Helvetica"/>
                <a:ea typeface="Helvetica"/>
              </a:rPr>
              <a:t>，</a:t>
            </a:r>
            <a:r>
              <a:rPr lang="zh-CN" altLang="en-US" sz="2000" b="0" i="0" dirty="0">
                <a:solidFill>
                  <a:srgbClr val="000000"/>
                </a:solidFill>
                <a:latin typeface="Helvetica"/>
                <a:ea typeface="Helvetica"/>
              </a:rPr>
              <a:t>补充</a:t>
            </a:r>
            <a:r>
              <a:rPr lang="zh-CN" altLang="en-US" sz="2000" b="0" i="0" dirty="0">
                <a:solidFill>
                  <a:srgbClr val="000000"/>
                </a:solidFill>
                <a:highlight>
                  <a:srgbClr val="FFFF00"/>
                </a:highlight>
                <a:latin typeface="Helvetica"/>
                <a:ea typeface="Helvetica"/>
              </a:rPr>
              <a:t>不同类</a:t>
            </a:r>
            <a:r>
              <a:rPr lang="zh-CN" altLang="en-US" sz="2000" b="0" i="0" dirty="0">
                <a:solidFill>
                  <a:srgbClr val="000000"/>
                </a:solidFill>
                <a:latin typeface="Helvetica"/>
                <a:ea typeface="Helvetica"/>
              </a:rPr>
              <a:t>或独立的内容</a:t>
            </a:r>
            <a:r>
              <a:rPr lang="vi-VN" altLang="zh-CN" sz="2000" b="0" i="0" dirty="0">
                <a:solidFill>
                  <a:srgbClr val="000000"/>
                </a:solidFill>
                <a:latin typeface="Helvetica"/>
                <a:ea typeface="Helvetica"/>
              </a:rPr>
              <a:t> chỉ dùng cho ng hoặc vật ngoài phạm vi, bổ sung không cùng loại, nội dung độc lập( ngoài ra)</a:t>
            </a:r>
            <a:endParaRPr lang="zh-CN" altLang="en-US" sz="2000" b="0" i="0" dirty="0">
              <a:solidFill>
                <a:srgbClr val="000000"/>
              </a:solidFill>
              <a:latin typeface="Helvetica"/>
              <a:ea typeface="Helvetica"/>
            </a:endParaRPr>
          </a:p>
          <a:p>
            <a:pPr marL="0" indent="0"/>
            <a:r>
              <a:rPr lang="en-US" altLang="zh-CN" sz="2000" b="0" i="0" dirty="0">
                <a:solidFill>
                  <a:srgbClr val="000000"/>
                </a:solidFill>
                <a:latin typeface="Helvetica"/>
                <a:ea typeface="Helvetica"/>
              </a:rPr>
              <a:t>      </a:t>
            </a:r>
            <a:r>
              <a:rPr lang="en-US" altLang="zh-CN" sz="2000" b="0" i="0" dirty="0" err="1">
                <a:solidFill>
                  <a:srgbClr val="000000"/>
                </a:solidFill>
                <a:latin typeface="Helvetica"/>
                <a:ea typeface="Helvetica"/>
              </a:rPr>
              <a:t>eg</a:t>
            </a:r>
            <a:r>
              <a:rPr lang="en-US" altLang="zh-CN" sz="2000" b="0" i="0" dirty="0">
                <a:solidFill>
                  <a:srgbClr val="000000"/>
                </a:solidFill>
                <a:latin typeface="Helvetica"/>
                <a:ea typeface="Helvetica"/>
              </a:rPr>
              <a:t>：</a:t>
            </a:r>
            <a:r>
              <a:rPr lang="zh-CN" altLang="en-US" sz="2000" b="0" i="0" dirty="0">
                <a:solidFill>
                  <a:srgbClr val="000000"/>
                </a:solidFill>
                <a:latin typeface="Helvetica"/>
                <a:ea typeface="Helvetica"/>
              </a:rPr>
              <a:t>会议需要讨论预算问题，另外，还要确定项目负责人。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74035" y="4872990"/>
            <a:ext cx="78879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20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此外</a:t>
            </a:r>
            <a:r>
              <a:rPr lang="en-US" altLang="zh-CN" sz="2000" i="0" dirty="0">
                <a:solidFill>
                  <a:srgbClr val="404040"/>
                </a:solidFill>
                <a:latin typeface="Inter"/>
                <a:ea typeface="Inter"/>
              </a:rPr>
              <a:t>：</a:t>
            </a:r>
            <a:r>
              <a:rPr lang="zh-CN" altLang="en-US" sz="2000" i="0" dirty="0">
                <a:solidFill>
                  <a:srgbClr val="404040"/>
                </a:solidFill>
                <a:latin typeface="Inter"/>
                <a:ea typeface="Inter"/>
              </a:rPr>
              <a:t>补充</a:t>
            </a:r>
            <a:r>
              <a:rPr lang="zh-CN" altLang="en-US" sz="20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同类</a:t>
            </a:r>
            <a:r>
              <a:rPr lang="zh-CN" altLang="en-US" sz="2000" i="0" dirty="0">
                <a:solidFill>
                  <a:srgbClr val="404040"/>
                </a:solidFill>
                <a:latin typeface="Inter"/>
                <a:ea typeface="Inter"/>
              </a:rPr>
              <a:t>或相关的内容</a:t>
            </a:r>
            <a:r>
              <a:rPr lang="vi-VN" altLang="zh-CN" sz="2000" i="0" dirty="0">
                <a:solidFill>
                  <a:srgbClr val="404040"/>
                </a:solidFill>
                <a:latin typeface="Inter"/>
                <a:ea typeface="Inter"/>
              </a:rPr>
              <a:t>. Bổ sung cùng loại, hoặc nd tương quan( thêm nữa, hơn nữa, ngoài ra)</a:t>
            </a:r>
            <a:endParaRPr lang="zh-CN" altLang="en-US" sz="2000" i="0" dirty="0">
              <a:solidFill>
                <a:srgbClr val="404040"/>
              </a:solidFill>
              <a:latin typeface="Inter"/>
              <a:ea typeface="Inter"/>
            </a:endParaRPr>
          </a:p>
          <a:p>
            <a:pPr marL="0" indent="0" algn="l"/>
            <a:r>
              <a:rPr lang="en-US" altLang="zh-CN" sz="2000" i="0" dirty="0">
                <a:solidFill>
                  <a:srgbClr val="404040"/>
                </a:solidFill>
                <a:latin typeface="Inter"/>
                <a:ea typeface="Inter"/>
              </a:rPr>
              <a:t>     </a:t>
            </a:r>
            <a:r>
              <a:rPr lang="en-US" altLang="zh-CN" sz="2000" i="0" dirty="0" err="1">
                <a:solidFill>
                  <a:srgbClr val="404040"/>
                </a:solidFill>
                <a:latin typeface="Inter"/>
                <a:ea typeface="Inter"/>
              </a:rPr>
              <a:t>eg</a:t>
            </a:r>
            <a:r>
              <a:rPr lang="en-US" altLang="zh-CN" sz="2000" i="0" dirty="0">
                <a:solidFill>
                  <a:srgbClr val="404040"/>
                </a:solidFill>
                <a:latin typeface="Inter"/>
                <a:ea typeface="Inter"/>
              </a:rPr>
              <a:t>：</a:t>
            </a:r>
            <a:r>
              <a:rPr lang="zh-CN" altLang="en-US" sz="2000" i="0" dirty="0">
                <a:solidFill>
                  <a:srgbClr val="404040"/>
                </a:solidFill>
                <a:latin typeface="Inter"/>
                <a:ea typeface="Inter"/>
              </a:rPr>
              <a:t>我们需要准备材料、设备，此外，还要安排人员培训。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2" grpId="0"/>
      <p:bldP spid="2" grpId="1"/>
      <p:bldP spid="3" grpId="0"/>
      <p:bldP spid="3" grpId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907" y="227204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居然</a:t>
            </a:r>
            <a:endParaRPr lang="zh-CN" altLang="es-ES_tradnl" sz="32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3337570" y="230325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果然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明星的影响力</a:t>
            </a:r>
            <a:r>
              <a:rPr lang="zh-CN" altLang="en-US" sz="3200" b="1" u="sng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不一般。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91540" y="1561465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6287035" y="129095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果然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8255" y="3936365"/>
            <a:ext cx="102857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2400" i="0" dirty="0">
                <a:solidFill>
                  <a:srgbClr val="FF0000"/>
                </a:solidFill>
                <a:latin typeface="Inter"/>
                <a:ea typeface="Inter"/>
              </a:rPr>
              <a:t>果然</a:t>
            </a:r>
            <a:r>
              <a:rPr lang="en-US" altLang="zh-CN" sz="2400" i="0" dirty="0">
                <a:solidFill>
                  <a:srgbClr val="FF0000"/>
                </a:solidFill>
                <a:latin typeface="Inter"/>
                <a:ea typeface="Inter"/>
              </a:rPr>
              <a:t>：</a:t>
            </a:r>
            <a:r>
              <a:rPr lang="zh-CN" altLang="en-US" sz="240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预期与事实</a:t>
            </a:r>
            <a:r>
              <a:rPr lang="zh-CN" altLang="en-US" sz="2400" i="0" dirty="0">
                <a:solidFill>
                  <a:srgbClr val="FF0000"/>
                </a:solidFill>
                <a:highlight>
                  <a:srgbClr val="FFFF00"/>
                </a:highlight>
                <a:latin typeface="Inter"/>
                <a:ea typeface="Inter"/>
              </a:rPr>
              <a:t>一致</a:t>
            </a:r>
            <a:r>
              <a:rPr lang="en-US" altLang="zh-CN" sz="2400" i="0" dirty="0">
                <a:solidFill>
                  <a:srgbClr val="404040"/>
                </a:solidFill>
                <a:latin typeface="Inter"/>
                <a:ea typeface="Inter"/>
              </a:rPr>
              <a:t>，</a:t>
            </a:r>
            <a:r>
              <a:rPr lang="zh-CN" altLang="en-US" sz="2400" b="0" i="0" dirty="0">
                <a:solidFill>
                  <a:srgbClr val="404040"/>
                </a:solidFill>
                <a:latin typeface="Inter"/>
                <a:ea typeface="Inter"/>
              </a:rPr>
              <a:t>表示结果</a:t>
            </a:r>
            <a:r>
              <a:rPr lang="zh-CN" altLang="en-US" sz="2400" i="0" dirty="0">
                <a:solidFill>
                  <a:srgbClr val="404040"/>
                </a:solidFill>
                <a:latin typeface="Inter"/>
                <a:ea typeface="Inter"/>
              </a:rPr>
              <a:t>符合之前的猜测或预期</a:t>
            </a:r>
            <a:r>
              <a:rPr lang="en-US" altLang="zh-CN" sz="2400" i="0" dirty="0">
                <a:solidFill>
                  <a:srgbClr val="404040"/>
                </a:solidFill>
                <a:latin typeface="Inter"/>
                <a:ea typeface="Inter"/>
              </a:rPr>
              <a:t>。</a:t>
            </a:r>
            <a:r>
              <a:rPr lang="vi-VN" altLang="zh-CN" sz="2400" i="0" dirty="0">
                <a:solidFill>
                  <a:srgbClr val="404040"/>
                </a:solidFill>
                <a:latin typeface="Inter"/>
                <a:ea typeface="Inter"/>
              </a:rPr>
              <a:t>Quả nhiên</a:t>
            </a:r>
            <a:endParaRPr lang="en-US" altLang="zh-CN" sz="2400" i="0" dirty="0">
              <a:solidFill>
                <a:srgbClr val="404040"/>
              </a:solidFill>
              <a:latin typeface="Inter"/>
              <a:ea typeface="Inter"/>
            </a:endParaRPr>
          </a:p>
          <a:p>
            <a:pPr marL="0" indent="0" algn="l"/>
            <a:r>
              <a:rPr lang="zh-CN" altLang="en-US" sz="2400" b="0" i="0" dirty="0">
                <a:solidFill>
                  <a:srgbClr val="FF0000"/>
                </a:solidFill>
                <a:latin typeface="Inter"/>
                <a:ea typeface="Inter"/>
              </a:rPr>
              <a:t>居然</a:t>
            </a:r>
            <a:r>
              <a:rPr lang="en-US" altLang="zh-CN" sz="2400" b="0" i="0" dirty="0">
                <a:solidFill>
                  <a:srgbClr val="404040"/>
                </a:solidFill>
                <a:latin typeface="Inter"/>
                <a:ea typeface="Inter"/>
              </a:rPr>
              <a:t>：</a:t>
            </a:r>
            <a:r>
              <a:rPr lang="zh-CN" altLang="en-US" sz="2400" b="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事实与预期</a:t>
            </a:r>
            <a:r>
              <a:rPr lang="zh-CN" altLang="en-US" sz="2400" b="0" i="0" dirty="0">
                <a:solidFill>
                  <a:srgbClr val="FF0000"/>
                </a:solidFill>
                <a:highlight>
                  <a:srgbClr val="FFFF00"/>
                </a:highlight>
                <a:latin typeface="Inter"/>
                <a:ea typeface="Inter"/>
              </a:rPr>
              <a:t>相反</a:t>
            </a:r>
            <a:r>
              <a:rPr lang="zh-CN" altLang="en-US" sz="2400" b="0" i="0" dirty="0">
                <a:solidFill>
                  <a:srgbClr val="404040"/>
                </a:solidFill>
                <a:latin typeface="Inter"/>
                <a:ea typeface="Inter"/>
              </a:rPr>
              <a:t>，表示结果</a:t>
            </a:r>
            <a:r>
              <a:rPr lang="zh-CN" altLang="en-US" sz="2400" b="0" i="0" dirty="0">
                <a:solidFill>
                  <a:srgbClr val="404040"/>
                </a:solidFill>
                <a:highlight>
                  <a:srgbClr val="FFFF00"/>
                </a:highlight>
                <a:latin typeface="Inter"/>
                <a:ea typeface="Inter"/>
              </a:rPr>
              <a:t>出乎意料</a:t>
            </a:r>
            <a:r>
              <a:rPr lang="zh-CN" altLang="en-US" sz="2400" b="0" i="0" dirty="0">
                <a:solidFill>
                  <a:srgbClr val="404040"/>
                </a:solidFill>
                <a:latin typeface="Inter"/>
                <a:ea typeface="Inter"/>
              </a:rPr>
              <a:t>、难以相信，带有惊讶或意外感</a:t>
            </a:r>
            <a:r>
              <a:rPr lang="vi-VN" altLang="zh-CN" sz="2400" b="0" i="0">
                <a:solidFill>
                  <a:srgbClr val="404040"/>
                </a:solidFill>
                <a:latin typeface="Inter"/>
                <a:ea typeface="Inter"/>
              </a:rPr>
              <a:t> thế mà lại </a:t>
            </a:r>
            <a:r>
              <a:rPr lang="zh-CN" altLang="en-US" sz="2400" b="0" i="0">
                <a:solidFill>
                  <a:srgbClr val="404040"/>
                </a:solidFill>
                <a:latin typeface="Inter"/>
                <a:ea typeface="Inter"/>
              </a:rPr>
              <a:t>。</a:t>
            </a:r>
            <a:endParaRPr lang="zh-CN" altLang="en-US" sz="2400" b="0" i="0" dirty="0">
              <a:solidFill>
                <a:srgbClr val="40404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2" grpId="0"/>
      <p:bldP spid="2" grpId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IMG_7086 (1).jpgIMG_7086 (1)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卡通人像" descr="D:\大敏\C盘东西\小红书\对外汉语战略搞钱计划\教学素材\图片素材\我压缩.png我压缩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6830" y="601869"/>
            <a:ext cx="1958340" cy="1958451"/>
          </a:xfrm>
          <a:custGeom>
            <a:avLst/>
            <a:gdLst>
              <a:gd name="connsiteX0" fmla="*/ 2019868 w 4039736"/>
              <a:gd name="connsiteY0" fmla="*/ 0 h 4039736"/>
              <a:gd name="connsiteX1" fmla="*/ 4039736 w 4039736"/>
              <a:gd name="connsiteY1" fmla="*/ 2019868 h 4039736"/>
              <a:gd name="connsiteX2" fmla="*/ 2019868 w 4039736"/>
              <a:gd name="connsiteY2" fmla="*/ 4039736 h 4039736"/>
              <a:gd name="connsiteX3" fmla="*/ 0 w 4039736"/>
              <a:gd name="connsiteY3" fmla="*/ 2019868 h 4039736"/>
              <a:gd name="connsiteX4" fmla="*/ 2019868 w 4039736"/>
              <a:gd name="connsiteY4" fmla="*/ 0 h 403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9736" h="4039736">
                <a:moveTo>
                  <a:pt x="2019868" y="0"/>
                </a:moveTo>
                <a:cubicBezTo>
                  <a:pt x="3135410" y="0"/>
                  <a:pt x="4039736" y="904326"/>
                  <a:pt x="4039736" y="2019868"/>
                </a:cubicBezTo>
                <a:cubicBezTo>
                  <a:pt x="4039736" y="3135410"/>
                  <a:pt x="3135410" y="4039736"/>
                  <a:pt x="2019868" y="4039736"/>
                </a:cubicBezTo>
                <a:cubicBezTo>
                  <a:pt x="904326" y="4039736"/>
                  <a:pt x="0" y="3135410"/>
                  <a:pt x="0" y="2019868"/>
                </a:cubicBezTo>
                <a:cubicBezTo>
                  <a:pt x="0" y="904326"/>
                  <a:pt x="904326" y="0"/>
                  <a:pt x="2019868" y="0"/>
                </a:cubicBezTo>
                <a:close/>
              </a:path>
            </a:pathLst>
          </a:custGeom>
          <a:ln cap="rnd">
            <a:solidFill>
              <a:srgbClr val="E2AEAB"/>
            </a:solidFill>
          </a:ln>
          <a:effectLst>
            <a:glow rad="152400">
              <a:srgbClr val="FEADBB">
                <a:alpha val="40000"/>
              </a:srgbClr>
            </a:glow>
          </a:effectLst>
        </p:spPr>
      </p:pic>
      <p:sp>
        <p:nvSpPr>
          <p:cNvPr id="14" name="文本框 13"/>
          <p:cNvSpPr txBox="1"/>
          <p:nvPr/>
        </p:nvSpPr>
        <p:spPr>
          <a:xfrm>
            <a:off x="1027430" y="2948305"/>
            <a:ext cx="11164570" cy="32723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“夕”是什么东西？老百姓为什么既恨它又感到无奈？</a:t>
            </a: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七郎是怎样一个人？简单介绍一下他的情况。</a:t>
            </a:r>
            <a:endParaRPr lang="en-US" altLang="zh-CN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什么事让七郎下决心除掉“夕”？</a:t>
            </a: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在寻找“夕”的一年中，七郎发现了“夕”的哪些特点？</a:t>
            </a:r>
            <a:endParaRPr lang="en-US" altLang="zh-CN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七郎是怎么找到“夕”的？他是怎么除掉“夕”的？</a:t>
            </a:r>
            <a:endParaRPr lang="en-US" altLang="zh-CN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这以后年三十又叫作什么？形成了哪些风俗习惯？</a:t>
            </a: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7531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 </a:t>
            </a:r>
          </a:p>
        </p:txBody>
      </p:sp>
      <p:pic>
        <p:nvPicPr>
          <p:cNvPr id="3" name="06-1.wav" descr="06-1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117582" y="1581094"/>
            <a:ext cx="1212107" cy="1212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9567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IMG_7086 (1).jpgIMG_7086 (1)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0737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8051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208405"/>
            <a:ext cx="11882755" cy="3022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在中国，人民把</a:t>
            </a:r>
            <a:r>
              <a:rPr lang="zh-CN" altLang="en-US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农历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十二月三十日这一年中的最后一天叫作除夕，这一天，全家人会一起吃年夜饭，守岁。但是，人们为什么要把年三十叫作除夕呢？</a:t>
            </a: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</a:t>
            </a:r>
            <a:r>
              <a:rPr lang="zh-CN" altLang="en-US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传说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在很久以前，有个叫作“夕”的怪物，经常出来</a:t>
            </a:r>
            <a:r>
              <a:rPr lang="zh-CN" altLang="en-US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伤害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百姓，百姓对其</a:t>
            </a:r>
            <a:r>
              <a:rPr lang="zh-CN" altLang="en-US" sz="2600" dirty="0">
                <a:solidFill>
                  <a:srgbClr val="C0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恨之入骨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，但是又十分无奈。当时有个</a:t>
            </a:r>
            <a:r>
              <a:rPr lang="zh-CN" altLang="en-US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英雄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叫作七郎，他英俊高大、力大无比。七郎还有一条</a:t>
            </a:r>
            <a:r>
              <a:rPr lang="zh-CN" altLang="en-US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狗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，这条狗非常勇敢，无论咬住什么都不会松口。</a:t>
            </a:r>
            <a:endParaRPr lang="zh-CN" altLang="en-US" sz="26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322707" y="5322934"/>
            <a:ext cx="10631924" cy="1308820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800" b="1" dirty="0" err="1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觉得“恨之入骨”是什么意思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？</a:t>
            </a:r>
            <a:endParaRPr lang="es-ES_tradnl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请用重点词语复述故事：农历、传说、伤害、英雄、狗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92605" y="117475"/>
            <a:ext cx="8375650" cy="9531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“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夕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”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是什么东西？老百姓为什么既恨它又感到无奈？</a:t>
            </a:r>
          </a:p>
          <a:p>
            <a:pPr algn="ctr">
              <a:buClrTx/>
              <a:buSzTx/>
              <a:buFontTx/>
            </a:pP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92605" y="702310"/>
            <a:ext cx="7307580" cy="9531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七郎是怎样一个人？简单介绍一下他的情况。</a:t>
            </a: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</a:endParaRPr>
          </a:p>
          <a:p>
            <a:pPr algn="ctr"/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IMG_7086 (1).jpgIMG_7086 (1)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8051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208405"/>
            <a:ext cx="11897995" cy="3409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一天，七郎从外边回来，看到邻居家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女孩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的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外公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坐在路边哭，于是上前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询问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，一问才知道，原来天真可爱的女孩被“夕”吃掉了。七郎暗暗下定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决心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一定要杀死“夕”，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替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百姓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除掉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这个制造灾害的东西。于是七郎带着他的狗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出发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了，他到处打听“夕”的消息，但是一直找不到它。</a:t>
            </a: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200000"/>
              </a:lnSpc>
            </a:pP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57391" y="5649595"/>
            <a:ext cx="10335895" cy="581057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  </a:t>
            </a: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女孩</a:t>
            </a: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、外公、询问、决心、替、除掉、出发</a:t>
            </a:r>
            <a:endParaRPr lang="zh-CN" altLang="en-US" sz="24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14625" y="702310"/>
            <a:ext cx="62788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什么事让七郎下决心除掉“夕”？</a:t>
            </a:r>
            <a:endParaRPr lang="zh-CN" altLang="en-US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IMG_7086 (1).jpgIMG_7086 (1)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8051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35" y="1208405"/>
            <a:ext cx="12056110" cy="3022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</a:t>
            </a:r>
            <a:r>
              <a:rPr lang="zh-CN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这样过了差不多一年，这天</a:t>
            </a:r>
            <a:r>
              <a:rPr lang="zh-CN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正好</a:t>
            </a:r>
            <a:r>
              <a:rPr lang="zh-CN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是大年三十，七郎来到了一个</a:t>
            </a:r>
            <a:r>
              <a:rPr lang="zh-CN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热闹</a:t>
            </a:r>
            <a:r>
              <a:rPr lang="zh-CN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的城镇。这一年来，七郎虽然没有找到“夕”，但是</a:t>
            </a:r>
            <a:r>
              <a:rPr lang="zh-CN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了解到</a:t>
            </a:r>
            <a:r>
              <a:rPr lang="zh-CN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了很多关于“夕”的情况：它一般在太阳落山后出来害人，到天亮前又会逃得连影子都找不着了；此外，它还特别害怕声响。于是七郎告诉这里的百姓，“夕”说不定晚上要出来伤害大家，让大家今晚</a:t>
            </a:r>
            <a:r>
              <a:rPr lang="zh-CN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熬夜</a:t>
            </a:r>
            <a:r>
              <a:rPr lang="zh-CN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等着，一见到“夕”就赶紧</a:t>
            </a:r>
            <a:r>
              <a:rPr lang="zh-CN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敲打</a:t>
            </a:r>
            <a:r>
              <a:rPr lang="zh-CN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东西，大家一起把“夕”</a:t>
            </a:r>
            <a:r>
              <a:rPr lang="zh-CN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杀掉</a:t>
            </a:r>
            <a:r>
              <a:rPr lang="zh-CN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。</a:t>
            </a:r>
            <a:endParaRPr lang="en-US" altLang="zh-CN" sz="26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406360" y="5672838"/>
            <a:ext cx="10350211" cy="581057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正好</a:t>
            </a: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热闹</a:t>
            </a: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了解到</a:t>
            </a: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熬夜、敲打、杀掉</a:t>
            </a:r>
            <a:endParaRPr lang="zh-CN" altLang="en-US" sz="24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64323" y="610235"/>
            <a:ext cx="9088755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在寻找“夕”的一年中，七郎发现了“夕”的哪些特点？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IMG_7086 (1).jpgIMG_7086 (1)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1270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7010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35" y="1208405"/>
            <a:ext cx="12056110" cy="26010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太阳很快落山了，到了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晚上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，“夕”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果然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出来了。它想吃一户人家的姑娘，被这家人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发现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了，于是他们立刻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敲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响了家中的锅和盆子，跟着整个镇子都响了起来。“夕”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吓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得什么似的，急忙往外逃。七郎的狗追上了“夕”，并死死地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咬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住了它。七郎跑上前去，一箭</a:t>
            </a:r>
            <a:r>
              <a:rPr lang="zh-CN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射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死了“夕”。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68460" y="5676579"/>
            <a:ext cx="10644126" cy="621773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6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请用重点词语复述故事：晚上、果然、发现、</a:t>
            </a:r>
            <a:r>
              <a:rPr lang="zh-CN" altLang="en-US" sz="2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敲、吓、咬、射</a:t>
            </a:r>
            <a:endParaRPr lang="zh-CN" altLang="en-US" sz="2600" b="1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99360" y="504825"/>
            <a:ext cx="7193280" cy="460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七郎是怎么找到“夕”的？他是怎么除掉“夕”的？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IMG_7086 (1).jpgIMG_7086 (1)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-381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648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35" y="1208405"/>
            <a:ext cx="12056110" cy="19547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</a:t>
            </a:r>
            <a:r>
              <a:rPr lang="zh-CN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除掉“夕”以后，百姓纷纷对七郎表达谢意。由于这一天很有意义，于是人们就在每年的年三十这天晚上，仍然像那天一样整晚不睡觉，敲打出响声。就这样一代代传下来。形成了除夕夜守岁、放鞭炮的风俗。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333593" y="5322934"/>
            <a:ext cx="10672231" cy="1308371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你觉得关于</a:t>
            </a: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“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除夕</a:t>
            </a: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”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的这个传说怎么样</a:t>
            </a: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？</a:t>
            </a:r>
            <a:endParaRPr lang="en-US" altLang="zh-CN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</a:t>
            </a:r>
            <a:r>
              <a:rPr lang="en-US" altLang="es-ES_tradnl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.</a:t>
            </a:r>
            <a:r>
              <a:rPr lang="zh-CN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在中国，除了过春节，中国人还在什么时候放鞭炮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？</a:t>
            </a:r>
          </a:p>
        </p:txBody>
      </p:sp>
      <p:sp>
        <p:nvSpPr>
          <p:cNvPr id="2" name="矩形 1"/>
          <p:cNvSpPr/>
          <p:nvPr/>
        </p:nvSpPr>
        <p:spPr>
          <a:xfrm>
            <a:off x="2291715" y="735965"/>
            <a:ext cx="802005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这以后年三十又叫作什么？形成了哪些风俗习惯？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5615" y="2966720"/>
            <a:ext cx="8741496" cy="181504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请以“我的中国春节”为题写一段话。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介绍一下你对中国春节的了解和看法。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尽量用上本课所学的生词，字数不少于100字。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2"/>
          <a:stretch>
            <a:fillRect/>
          </a:stretch>
        </p:blipFill>
        <p:spPr>
          <a:xfrm>
            <a:off x="1609394" y="2910920"/>
            <a:ext cx="8973213" cy="3724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83"/>
          <a:stretch>
            <a:fillRect/>
          </a:stretch>
        </p:blipFill>
        <p:spPr>
          <a:xfrm>
            <a:off x="1609394" y="2346186"/>
            <a:ext cx="8885546" cy="3649538"/>
          </a:xfrm>
          <a:prstGeom prst="rect">
            <a:avLst/>
          </a:prstGeom>
        </p:spPr>
      </p:pic>
      <p:pic>
        <p:nvPicPr>
          <p:cNvPr id="18" name="图片 17" descr="C:\Users\Administrator\Desktop\小红书\对外汉语战略搞钱计划\卡通头像\2.png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63141" y="2857500"/>
            <a:ext cx="2981325" cy="2981960"/>
          </a:xfrm>
          <a:prstGeom prst="rect">
            <a:avLst/>
          </a:prstGeom>
        </p:spPr>
      </p:pic>
      <p:pic>
        <p:nvPicPr>
          <p:cNvPr id="17" name="图片 16" descr="C:\Users\Administrator\Desktop\小红书\对外汉语战略搞钱计划\卡通头像\嘟嘴.png嘟嘴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1946" y="2910205"/>
            <a:ext cx="2928620" cy="2929255"/>
          </a:xfrm>
          <a:prstGeom prst="rect">
            <a:avLst/>
          </a:prstGeom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463663" y="1671088"/>
            <a:ext cx="51770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再见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5242" y="-635"/>
            <a:ext cx="12235180" cy="7702550"/>
            <a:chOff x="-57" y="-1"/>
            <a:chExt cx="19268" cy="12130"/>
          </a:xfrm>
        </p:grpSpPr>
        <p:sp>
          <p:nvSpPr>
            <p:cNvPr id="15" name="任意多边形: 形状 14"/>
            <p:cNvSpPr/>
            <p:nvPr/>
          </p:nvSpPr>
          <p:spPr>
            <a:xfrm>
              <a:off x="0" y="1291"/>
              <a:ext cx="19197" cy="10839"/>
            </a:xfrm>
            <a:custGeom>
              <a:avLst/>
              <a:gdLst>
                <a:gd name="connsiteX0" fmla="*/ 3583673 w 12192000"/>
                <a:gd name="connsiteY0" fmla="*/ 2333624 h 6858000"/>
                <a:gd name="connsiteX1" fmla="*/ 2468198 w 12192000"/>
                <a:gd name="connsiteY1" fmla="*/ 3429000 h 6858000"/>
                <a:gd name="connsiteX2" fmla="*/ 3583673 w 12192000"/>
                <a:gd name="connsiteY2" fmla="*/ 4524376 h 6858000"/>
                <a:gd name="connsiteX3" fmla="*/ 3583694 w 12192000"/>
                <a:gd name="connsiteY3" fmla="*/ 4524374 h 6858000"/>
                <a:gd name="connsiteX4" fmla="*/ 8608307 w 12192000"/>
                <a:gd name="connsiteY4" fmla="*/ 4524374 h 6858000"/>
                <a:gd name="connsiteX5" fmla="*/ 8608327 w 12192000"/>
                <a:gd name="connsiteY5" fmla="*/ 4524376 h 6858000"/>
                <a:gd name="connsiteX6" fmla="*/ 8608349 w 12192000"/>
                <a:gd name="connsiteY6" fmla="*/ 4524374 h 6858000"/>
                <a:gd name="connsiteX7" fmla="*/ 8728919 w 12192000"/>
                <a:gd name="connsiteY7" fmla="*/ 4524374 h 6858000"/>
                <a:gd name="connsiteX8" fmla="*/ 8728919 w 12192000"/>
                <a:gd name="connsiteY8" fmla="*/ 4512439 h 6858000"/>
                <a:gd name="connsiteX9" fmla="*/ 8833135 w 12192000"/>
                <a:gd name="connsiteY9" fmla="*/ 4502121 h 6858000"/>
                <a:gd name="connsiteX10" fmla="*/ 9723802 w 12192000"/>
                <a:gd name="connsiteY10" fmla="*/ 3429000 h 6858000"/>
                <a:gd name="connsiteX11" fmla="*/ 8833135 w 12192000"/>
                <a:gd name="connsiteY11" fmla="*/ 2355879 h 6858000"/>
                <a:gd name="connsiteX12" fmla="*/ 8728919 w 12192000"/>
                <a:gd name="connsiteY12" fmla="*/ 2345561 h 6858000"/>
                <a:gd name="connsiteX13" fmla="*/ 8728919 w 12192000"/>
                <a:gd name="connsiteY13" fmla="*/ 2333624 h 6858000"/>
                <a:gd name="connsiteX14" fmla="*/ 8608327 w 12192000"/>
                <a:gd name="connsiteY14" fmla="*/ 2333624 h 6858000"/>
                <a:gd name="connsiteX15" fmla="*/ 0 w 12192000"/>
                <a:gd name="connsiteY15" fmla="*/ 0 h 6858000"/>
                <a:gd name="connsiteX16" fmla="*/ 12192000 w 12192000"/>
                <a:gd name="connsiteY16" fmla="*/ 0 h 6858000"/>
                <a:gd name="connsiteX17" fmla="*/ 12192000 w 12192000"/>
                <a:gd name="connsiteY17" fmla="*/ 6858000 h 6858000"/>
                <a:gd name="connsiteX18" fmla="*/ 0 w 12192000"/>
                <a:gd name="connsiteY1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6858000">
                  <a:moveTo>
                    <a:pt x="3583673" y="2333624"/>
                  </a:moveTo>
                  <a:cubicBezTo>
                    <a:pt x="2967613" y="2333624"/>
                    <a:pt x="2468198" y="2824041"/>
                    <a:pt x="2468198" y="3429000"/>
                  </a:cubicBezTo>
                  <a:cubicBezTo>
                    <a:pt x="2468198" y="4033959"/>
                    <a:pt x="2967613" y="4524376"/>
                    <a:pt x="3583673" y="4524376"/>
                  </a:cubicBezTo>
                  <a:lnTo>
                    <a:pt x="3583694" y="4524374"/>
                  </a:lnTo>
                  <a:lnTo>
                    <a:pt x="8608307" y="4524374"/>
                  </a:lnTo>
                  <a:lnTo>
                    <a:pt x="8608327" y="4524376"/>
                  </a:lnTo>
                  <a:lnTo>
                    <a:pt x="8608349" y="4524374"/>
                  </a:lnTo>
                  <a:lnTo>
                    <a:pt x="8728919" y="4524374"/>
                  </a:lnTo>
                  <a:lnTo>
                    <a:pt x="8728919" y="4512439"/>
                  </a:lnTo>
                  <a:lnTo>
                    <a:pt x="8833135" y="4502121"/>
                  </a:lnTo>
                  <a:cubicBezTo>
                    <a:pt x="9341439" y="4399982"/>
                    <a:pt x="9723802" y="3958340"/>
                    <a:pt x="9723802" y="3429000"/>
                  </a:cubicBezTo>
                  <a:cubicBezTo>
                    <a:pt x="9723802" y="2899661"/>
                    <a:pt x="9341439" y="2458018"/>
                    <a:pt x="8833135" y="2355879"/>
                  </a:cubicBezTo>
                  <a:lnTo>
                    <a:pt x="8728919" y="2345561"/>
                  </a:lnTo>
                  <a:lnTo>
                    <a:pt x="8728919" y="2333624"/>
                  </a:lnTo>
                  <a:lnTo>
                    <a:pt x="8608327" y="2333624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3E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effectLst>
                  <a:innerShdw blurRad="114300">
                    <a:prstClr val="black"/>
                  </a:innerShdw>
                </a:effectLst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7" y="-1"/>
              <a:ext cx="19268" cy="1744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464204" y="1670813"/>
            <a:ext cx="517781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再见</a:t>
            </a: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Bye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3003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第六课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160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0.3806 -1.11111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0MmQ4N2JlZDRkYTVmM2QxMDAwYTU3YTQ3MzY2O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3bf81a0-e9fe-473b-b54e-06f30ac75b50}"/>
  <p:tag name="TABLE_ENDDRAG_ORIGIN_RECT" val="898*268"/>
  <p:tag name="TABLE_ENDDRAG_RECT" val="18*165*898*26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6900</Words>
  <Application>Microsoft Office PowerPoint</Application>
  <PresentationFormat>Widescreen</PresentationFormat>
  <Paragraphs>772</Paragraphs>
  <Slides>81</Slides>
  <Notes>24</Notes>
  <HiddenSlides>0</HiddenSlides>
  <MMClips>1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100" baseType="lpstr">
      <vt:lpstr>GB Pinyinok-D</vt:lpstr>
      <vt:lpstr>HelveticaExt-Normal</vt:lpstr>
      <vt:lpstr>Inter</vt:lpstr>
      <vt:lpstr>微软雅黑</vt:lpstr>
      <vt:lpstr>宋体</vt:lpstr>
      <vt:lpstr>华文楷体</vt:lpstr>
      <vt:lpstr>华文细黑</vt:lpstr>
      <vt:lpstr>思源黑体 CN Bold</vt:lpstr>
      <vt:lpstr>思源黑体 CN Heavy</vt:lpstr>
      <vt:lpstr>思源黑体 CN Regular</vt:lpstr>
      <vt:lpstr>方正兰亭黑简体</vt:lpstr>
      <vt:lpstr>方正喵呜体</vt:lpstr>
      <vt:lpstr>Arial</vt:lpstr>
      <vt:lpstr>Calibri</vt:lpstr>
      <vt:lpstr>Comic Sans MS</vt:lpstr>
      <vt:lpstr>Helvetica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Admin</cp:lastModifiedBy>
  <cp:revision>189</cp:revision>
  <dcterms:created xsi:type="dcterms:W3CDTF">2025-03-12T14:19:11Z</dcterms:created>
  <dcterms:modified xsi:type="dcterms:W3CDTF">2025-03-14T03:32:08Z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CD9990209C48BC75DE97D1673B397036_43</vt:lpwstr>
  </property>
</Properties>
</file>