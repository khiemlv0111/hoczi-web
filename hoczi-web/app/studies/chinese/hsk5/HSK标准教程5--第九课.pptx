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notesSlides/notesSlide1.xml" ContentType="application/vnd.openxmlformats-officedocument.presentationml.notesSlide+xml"/>
  <Override PartName="/ppt/tags/tag181.xml" ContentType="application/vnd.openxmlformats-officedocument.presentationml.tags+xml"/>
  <Override PartName="/ppt/notesSlides/notesSlide2.xml" ContentType="application/vnd.openxmlformats-officedocument.presentationml.notesSlide+xml"/>
  <Override PartName="/ppt/tags/tag182.xml" ContentType="application/vnd.openxmlformats-officedocument.presentationml.tags+xml"/>
  <Override PartName="/ppt/notesSlides/notesSlide3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notesSlides/notesSlide4.xml" ContentType="application/vnd.openxmlformats-officedocument.presentationml.notesSlide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3"/>
  </p:notesMasterIdLst>
  <p:sldIdLst>
    <p:sldId id="1490" r:id="rId2"/>
    <p:sldId id="1491" r:id="rId3"/>
    <p:sldId id="1492" r:id="rId4"/>
    <p:sldId id="1493" r:id="rId5"/>
    <p:sldId id="1494" r:id="rId6"/>
    <p:sldId id="1495" r:id="rId7"/>
    <p:sldId id="1496" r:id="rId8"/>
    <p:sldId id="1497" r:id="rId9"/>
    <p:sldId id="1498" r:id="rId10"/>
    <p:sldId id="1499" r:id="rId11"/>
    <p:sldId id="1500" r:id="rId12"/>
    <p:sldId id="1501" r:id="rId13"/>
    <p:sldId id="1502" r:id="rId14"/>
    <p:sldId id="1503" r:id="rId15"/>
    <p:sldId id="1504" r:id="rId16"/>
    <p:sldId id="1569" r:id="rId17"/>
    <p:sldId id="1505" r:id="rId18"/>
    <p:sldId id="1506" r:id="rId19"/>
    <p:sldId id="1507" r:id="rId20"/>
    <p:sldId id="1508" r:id="rId21"/>
    <p:sldId id="1509" r:id="rId22"/>
    <p:sldId id="1510" r:id="rId23"/>
    <p:sldId id="1511" r:id="rId24"/>
    <p:sldId id="1512" r:id="rId25"/>
    <p:sldId id="1513" r:id="rId26"/>
    <p:sldId id="1568" r:id="rId27"/>
    <p:sldId id="1514" r:id="rId28"/>
    <p:sldId id="1515" r:id="rId29"/>
    <p:sldId id="1516" r:id="rId30"/>
    <p:sldId id="1517" r:id="rId31"/>
    <p:sldId id="1518" r:id="rId32"/>
    <p:sldId id="1519" r:id="rId33"/>
    <p:sldId id="1520" r:id="rId34"/>
    <p:sldId id="1521" r:id="rId35"/>
    <p:sldId id="1522" r:id="rId36"/>
    <p:sldId id="1523" r:id="rId37"/>
    <p:sldId id="1524" r:id="rId38"/>
    <p:sldId id="1525" r:id="rId39"/>
    <p:sldId id="1526" r:id="rId40"/>
    <p:sldId id="1527" r:id="rId41"/>
    <p:sldId id="1528" r:id="rId42"/>
    <p:sldId id="1529" r:id="rId43"/>
    <p:sldId id="1530" r:id="rId44"/>
    <p:sldId id="1570" r:id="rId45"/>
    <p:sldId id="1531" r:id="rId46"/>
    <p:sldId id="1532" r:id="rId47"/>
    <p:sldId id="1533" r:id="rId48"/>
    <p:sldId id="1534" r:id="rId49"/>
    <p:sldId id="1535" r:id="rId50"/>
    <p:sldId id="1536" r:id="rId51"/>
    <p:sldId id="1537" r:id="rId52"/>
    <p:sldId id="1538" r:id="rId53"/>
    <p:sldId id="1539" r:id="rId54"/>
    <p:sldId id="1540" r:id="rId55"/>
    <p:sldId id="1541" r:id="rId56"/>
    <p:sldId id="1542" r:id="rId57"/>
    <p:sldId id="1543" r:id="rId58"/>
    <p:sldId id="1544" r:id="rId59"/>
    <p:sldId id="1545" r:id="rId60"/>
    <p:sldId id="1546" r:id="rId61"/>
    <p:sldId id="1547" r:id="rId62"/>
    <p:sldId id="1548" r:id="rId63"/>
    <p:sldId id="1549" r:id="rId64"/>
    <p:sldId id="1550" r:id="rId65"/>
    <p:sldId id="1551" r:id="rId66"/>
    <p:sldId id="1552" r:id="rId67"/>
    <p:sldId id="1553" r:id="rId68"/>
    <p:sldId id="1554" r:id="rId69"/>
    <p:sldId id="1555" r:id="rId70"/>
    <p:sldId id="1556" r:id="rId71"/>
    <p:sldId id="1557" r:id="rId72"/>
    <p:sldId id="1558" r:id="rId73"/>
    <p:sldId id="1559" r:id="rId74"/>
    <p:sldId id="1560" r:id="rId75"/>
    <p:sldId id="1561" r:id="rId76"/>
    <p:sldId id="1562" r:id="rId77"/>
    <p:sldId id="1563" r:id="rId78"/>
    <p:sldId id="1564" r:id="rId79"/>
    <p:sldId id="1565" r:id="rId80"/>
    <p:sldId id="1566" r:id="rId81"/>
    <p:sldId id="1567" r:id="rId82"/>
  </p:sldIdLst>
  <p:sldSz cx="12192000" cy="6858000"/>
  <p:notesSz cx="6858000" cy="9144000"/>
  <p:custDataLst>
    <p:tags r:id="rId8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张 泽元" initials="张" lastIdx="1" clrIdx="0"/>
  <p:cmAuthor id="7" name="Taylor Hartwell" initials="TH [6]" lastIdx="1" clrIdx="6"/>
  <p:cmAuthor id="1" name="陈宣霖" initials="陈" lastIdx="1" clrIdx="0"/>
  <p:cmAuthor id="8" name="Administrator" initials="A" lastIdx="1" clrIdx="8"/>
  <p:cmAuthor id="2" name="作者" initials="A" lastIdx="1" clrIdx="1"/>
  <p:cmAuthor id="4" name="DTY" initials="D" lastIdx="1" clrIdx="7"/>
  <p:cmAuthor id="5" name="未知用户11" initials="未知用户11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82" d="100"/>
          <a:sy n="82" d="100"/>
        </p:scale>
        <p:origin x="773" y="72"/>
      </p:cViewPr>
      <p:guideLst>
        <p:guide orient="horz" pos="2152"/>
        <p:guide pos="386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gs" Target="tags/tag1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55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56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57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E6506A-62AA-4D5F-AD58-31AF7D2E6C97}" type="slidenum">
              <a:rPr lang="zh-CN" altLang="en-US" smtClean="0"/>
              <a:t>58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2025/4/4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image" Target="../media/image10.jpeg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54" Type="http://schemas.openxmlformats.org/officeDocument/2006/relationships/tags" Target="../tags/tag117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49" Type="http://schemas.openxmlformats.org/officeDocument/2006/relationships/tags" Target="../tags/tag112.xml"/><Relationship Id="rId114" Type="http://schemas.openxmlformats.org/officeDocument/2006/relationships/tags" Target="../tags/tag177.xml"/><Relationship Id="rId119" Type="http://schemas.openxmlformats.org/officeDocument/2006/relationships/image" Target="../media/image3.png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62" Type="http://schemas.openxmlformats.org/officeDocument/2006/relationships/tags" Target="../tags/tag125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111" Type="http://schemas.openxmlformats.org/officeDocument/2006/relationships/tags" Target="../tags/tag174.xml"/><Relationship Id="rId15" Type="http://schemas.openxmlformats.org/officeDocument/2006/relationships/tags" Target="../tags/tag78.xml"/><Relationship Id="rId36" Type="http://schemas.openxmlformats.org/officeDocument/2006/relationships/tags" Target="../tags/tag99.xml"/><Relationship Id="rId57" Type="http://schemas.openxmlformats.org/officeDocument/2006/relationships/tags" Target="../tags/tag120.xml"/><Relationship Id="rId106" Type="http://schemas.openxmlformats.org/officeDocument/2006/relationships/tags" Target="../tags/tag1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0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1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2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4.xml"/><Relationship Id="rId5" Type="http://schemas.openxmlformats.org/officeDocument/2006/relationships/image" Target="../media/image42.png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5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6.xml"/><Relationship Id="rId5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7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8.xml"/><Relationship Id="rId5" Type="http://schemas.openxmlformats.org/officeDocument/2006/relationships/image" Target="../media/image46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9.xml"/><Relationship Id="rId6" Type="http://schemas.openxmlformats.org/officeDocument/2006/relationships/image" Target="../media/image21.png"/><Relationship Id="rId5" Type="http://schemas.openxmlformats.org/officeDocument/2006/relationships/image" Target="../media/image47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0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26" Type="http://schemas.openxmlformats.org/officeDocument/2006/relationships/tags" Target="../tags/tag216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211.xml"/><Relationship Id="rId42" Type="http://schemas.openxmlformats.org/officeDocument/2006/relationships/tags" Target="../tags/tag232.xml"/><Relationship Id="rId47" Type="http://schemas.openxmlformats.org/officeDocument/2006/relationships/tags" Target="../tags/tag237.xml"/><Relationship Id="rId63" Type="http://schemas.openxmlformats.org/officeDocument/2006/relationships/tags" Target="../tags/tag253.xml"/><Relationship Id="rId68" Type="http://schemas.openxmlformats.org/officeDocument/2006/relationships/tags" Target="../tags/tag258.xml"/><Relationship Id="rId84" Type="http://schemas.openxmlformats.org/officeDocument/2006/relationships/tags" Target="../tags/tag274.xml"/><Relationship Id="rId89" Type="http://schemas.openxmlformats.org/officeDocument/2006/relationships/tags" Target="../tags/tag279.xml"/><Relationship Id="rId112" Type="http://schemas.openxmlformats.org/officeDocument/2006/relationships/tags" Target="../tags/tag302.xml"/><Relationship Id="rId16" Type="http://schemas.openxmlformats.org/officeDocument/2006/relationships/tags" Target="../tags/tag206.xml"/><Relationship Id="rId107" Type="http://schemas.openxmlformats.org/officeDocument/2006/relationships/tags" Target="../tags/tag297.xml"/><Relationship Id="rId11" Type="http://schemas.openxmlformats.org/officeDocument/2006/relationships/tags" Target="../tags/tag201.xml"/><Relationship Id="rId32" Type="http://schemas.openxmlformats.org/officeDocument/2006/relationships/tags" Target="../tags/tag222.xml"/><Relationship Id="rId37" Type="http://schemas.openxmlformats.org/officeDocument/2006/relationships/tags" Target="../tags/tag227.xml"/><Relationship Id="rId53" Type="http://schemas.openxmlformats.org/officeDocument/2006/relationships/tags" Target="../tags/tag243.xml"/><Relationship Id="rId58" Type="http://schemas.openxmlformats.org/officeDocument/2006/relationships/tags" Target="../tags/tag248.xml"/><Relationship Id="rId74" Type="http://schemas.openxmlformats.org/officeDocument/2006/relationships/tags" Target="../tags/tag264.xml"/><Relationship Id="rId79" Type="http://schemas.openxmlformats.org/officeDocument/2006/relationships/tags" Target="../tags/tag269.xml"/><Relationship Id="rId102" Type="http://schemas.openxmlformats.org/officeDocument/2006/relationships/tags" Target="../tags/tag292.xml"/><Relationship Id="rId5" Type="http://schemas.openxmlformats.org/officeDocument/2006/relationships/tags" Target="../tags/tag195.xml"/><Relationship Id="rId90" Type="http://schemas.openxmlformats.org/officeDocument/2006/relationships/tags" Target="../tags/tag280.xml"/><Relationship Id="rId95" Type="http://schemas.openxmlformats.org/officeDocument/2006/relationships/tags" Target="../tags/tag285.xml"/><Relationship Id="rId22" Type="http://schemas.openxmlformats.org/officeDocument/2006/relationships/tags" Target="../tags/tag212.xml"/><Relationship Id="rId27" Type="http://schemas.openxmlformats.org/officeDocument/2006/relationships/tags" Target="../tags/tag217.xml"/><Relationship Id="rId43" Type="http://schemas.openxmlformats.org/officeDocument/2006/relationships/tags" Target="../tags/tag233.xml"/><Relationship Id="rId48" Type="http://schemas.openxmlformats.org/officeDocument/2006/relationships/tags" Target="../tags/tag238.xml"/><Relationship Id="rId64" Type="http://schemas.openxmlformats.org/officeDocument/2006/relationships/tags" Target="../tags/tag254.xml"/><Relationship Id="rId69" Type="http://schemas.openxmlformats.org/officeDocument/2006/relationships/tags" Target="../tags/tag259.xml"/><Relationship Id="rId113" Type="http://schemas.openxmlformats.org/officeDocument/2006/relationships/tags" Target="../tags/tag303.xml"/><Relationship Id="rId118" Type="http://schemas.openxmlformats.org/officeDocument/2006/relationships/image" Target="../media/image10.jpeg"/><Relationship Id="rId80" Type="http://schemas.openxmlformats.org/officeDocument/2006/relationships/tags" Target="../tags/tag270.xml"/><Relationship Id="rId85" Type="http://schemas.openxmlformats.org/officeDocument/2006/relationships/tags" Target="../tags/tag275.xml"/><Relationship Id="rId12" Type="http://schemas.openxmlformats.org/officeDocument/2006/relationships/tags" Target="../tags/tag202.xml"/><Relationship Id="rId17" Type="http://schemas.openxmlformats.org/officeDocument/2006/relationships/tags" Target="../tags/tag207.xml"/><Relationship Id="rId33" Type="http://schemas.openxmlformats.org/officeDocument/2006/relationships/tags" Target="../tags/tag223.xml"/><Relationship Id="rId38" Type="http://schemas.openxmlformats.org/officeDocument/2006/relationships/tags" Target="../tags/tag228.xml"/><Relationship Id="rId59" Type="http://schemas.openxmlformats.org/officeDocument/2006/relationships/tags" Target="../tags/tag249.xml"/><Relationship Id="rId103" Type="http://schemas.openxmlformats.org/officeDocument/2006/relationships/tags" Target="../tags/tag293.xml"/><Relationship Id="rId108" Type="http://schemas.openxmlformats.org/officeDocument/2006/relationships/tags" Target="../tags/tag298.xml"/><Relationship Id="rId54" Type="http://schemas.openxmlformats.org/officeDocument/2006/relationships/tags" Target="../tags/tag244.xml"/><Relationship Id="rId70" Type="http://schemas.openxmlformats.org/officeDocument/2006/relationships/tags" Target="../tags/tag260.xml"/><Relationship Id="rId75" Type="http://schemas.openxmlformats.org/officeDocument/2006/relationships/tags" Target="../tags/tag265.xml"/><Relationship Id="rId91" Type="http://schemas.openxmlformats.org/officeDocument/2006/relationships/tags" Target="../tags/tag281.xml"/><Relationship Id="rId96" Type="http://schemas.openxmlformats.org/officeDocument/2006/relationships/tags" Target="../tags/tag286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23" Type="http://schemas.openxmlformats.org/officeDocument/2006/relationships/tags" Target="../tags/tag213.xml"/><Relationship Id="rId28" Type="http://schemas.openxmlformats.org/officeDocument/2006/relationships/tags" Target="../tags/tag218.xml"/><Relationship Id="rId49" Type="http://schemas.openxmlformats.org/officeDocument/2006/relationships/tags" Target="../tags/tag239.xml"/><Relationship Id="rId114" Type="http://schemas.openxmlformats.org/officeDocument/2006/relationships/tags" Target="../tags/tag304.xml"/><Relationship Id="rId119" Type="http://schemas.openxmlformats.org/officeDocument/2006/relationships/image" Target="../media/image3.png"/><Relationship Id="rId10" Type="http://schemas.openxmlformats.org/officeDocument/2006/relationships/tags" Target="../tags/tag200.xml"/><Relationship Id="rId31" Type="http://schemas.openxmlformats.org/officeDocument/2006/relationships/tags" Target="../tags/tag221.xml"/><Relationship Id="rId44" Type="http://schemas.openxmlformats.org/officeDocument/2006/relationships/tags" Target="../tags/tag234.xml"/><Relationship Id="rId52" Type="http://schemas.openxmlformats.org/officeDocument/2006/relationships/tags" Target="../tags/tag242.xml"/><Relationship Id="rId60" Type="http://schemas.openxmlformats.org/officeDocument/2006/relationships/tags" Target="../tags/tag250.xml"/><Relationship Id="rId65" Type="http://schemas.openxmlformats.org/officeDocument/2006/relationships/tags" Target="../tags/tag255.xml"/><Relationship Id="rId73" Type="http://schemas.openxmlformats.org/officeDocument/2006/relationships/tags" Target="../tags/tag263.xml"/><Relationship Id="rId78" Type="http://schemas.openxmlformats.org/officeDocument/2006/relationships/tags" Target="../tags/tag268.xml"/><Relationship Id="rId81" Type="http://schemas.openxmlformats.org/officeDocument/2006/relationships/tags" Target="../tags/tag271.xml"/><Relationship Id="rId86" Type="http://schemas.openxmlformats.org/officeDocument/2006/relationships/tags" Target="../tags/tag276.xml"/><Relationship Id="rId94" Type="http://schemas.openxmlformats.org/officeDocument/2006/relationships/tags" Target="../tags/tag284.xml"/><Relationship Id="rId99" Type="http://schemas.openxmlformats.org/officeDocument/2006/relationships/tags" Target="../tags/tag289.xml"/><Relationship Id="rId101" Type="http://schemas.openxmlformats.org/officeDocument/2006/relationships/tags" Target="../tags/tag291.xml"/><Relationship Id="rId4" Type="http://schemas.openxmlformats.org/officeDocument/2006/relationships/tags" Target="../tags/tag194.xml"/><Relationship Id="rId9" Type="http://schemas.openxmlformats.org/officeDocument/2006/relationships/tags" Target="../tags/tag199.xml"/><Relationship Id="rId13" Type="http://schemas.openxmlformats.org/officeDocument/2006/relationships/tags" Target="../tags/tag203.xml"/><Relationship Id="rId18" Type="http://schemas.openxmlformats.org/officeDocument/2006/relationships/tags" Target="../tags/tag208.xml"/><Relationship Id="rId39" Type="http://schemas.openxmlformats.org/officeDocument/2006/relationships/tags" Target="../tags/tag229.xml"/><Relationship Id="rId109" Type="http://schemas.openxmlformats.org/officeDocument/2006/relationships/tags" Target="../tags/tag299.xml"/><Relationship Id="rId34" Type="http://schemas.openxmlformats.org/officeDocument/2006/relationships/tags" Target="../tags/tag224.xml"/><Relationship Id="rId50" Type="http://schemas.openxmlformats.org/officeDocument/2006/relationships/tags" Target="../tags/tag240.xml"/><Relationship Id="rId55" Type="http://schemas.openxmlformats.org/officeDocument/2006/relationships/tags" Target="../tags/tag245.xml"/><Relationship Id="rId76" Type="http://schemas.openxmlformats.org/officeDocument/2006/relationships/tags" Target="../tags/tag266.xml"/><Relationship Id="rId97" Type="http://schemas.openxmlformats.org/officeDocument/2006/relationships/tags" Target="../tags/tag287.xml"/><Relationship Id="rId104" Type="http://schemas.openxmlformats.org/officeDocument/2006/relationships/tags" Target="../tags/tag294.xml"/><Relationship Id="rId7" Type="http://schemas.openxmlformats.org/officeDocument/2006/relationships/tags" Target="../tags/tag197.xml"/><Relationship Id="rId71" Type="http://schemas.openxmlformats.org/officeDocument/2006/relationships/tags" Target="../tags/tag261.xml"/><Relationship Id="rId92" Type="http://schemas.openxmlformats.org/officeDocument/2006/relationships/tags" Target="../tags/tag282.xml"/><Relationship Id="rId2" Type="http://schemas.openxmlformats.org/officeDocument/2006/relationships/tags" Target="../tags/tag192.xml"/><Relationship Id="rId29" Type="http://schemas.openxmlformats.org/officeDocument/2006/relationships/tags" Target="../tags/tag219.xml"/><Relationship Id="rId24" Type="http://schemas.openxmlformats.org/officeDocument/2006/relationships/tags" Target="../tags/tag214.xml"/><Relationship Id="rId40" Type="http://schemas.openxmlformats.org/officeDocument/2006/relationships/tags" Target="../tags/tag230.xml"/><Relationship Id="rId45" Type="http://schemas.openxmlformats.org/officeDocument/2006/relationships/tags" Target="../tags/tag235.xml"/><Relationship Id="rId66" Type="http://schemas.openxmlformats.org/officeDocument/2006/relationships/tags" Target="../tags/tag256.xml"/><Relationship Id="rId87" Type="http://schemas.openxmlformats.org/officeDocument/2006/relationships/tags" Target="../tags/tag277.xml"/><Relationship Id="rId110" Type="http://schemas.openxmlformats.org/officeDocument/2006/relationships/tags" Target="../tags/tag300.xml"/><Relationship Id="rId115" Type="http://schemas.openxmlformats.org/officeDocument/2006/relationships/tags" Target="../tags/tag305.xml"/><Relationship Id="rId61" Type="http://schemas.openxmlformats.org/officeDocument/2006/relationships/tags" Target="../tags/tag251.xml"/><Relationship Id="rId82" Type="http://schemas.openxmlformats.org/officeDocument/2006/relationships/tags" Target="../tags/tag272.xml"/><Relationship Id="rId19" Type="http://schemas.openxmlformats.org/officeDocument/2006/relationships/tags" Target="../tags/tag209.xml"/><Relationship Id="rId14" Type="http://schemas.openxmlformats.org/officeDocument/2006/relationships/tags" Target="../tags/tag204.xml"/><Relationship Id="rId30" Type="http://schemas.openxmlformats.org/officeDocument/2006/relationships/tags" Target="../tags/tag220.xml"/><Relationship Id="rId35" Type="http://schemas.openxmlformats.org/officeDocument/2006/relationships/tags" Target="../tags/tag225.xml"/><Relationship Id="rId56" Type="http://schemas.openxmlformats.org/officeDocument/2006/relationships/tags" Target="../tags/tag246.xml"/><Relationship Id="rId77" Type="http://schemas.openxmlformats.org/officeDocument/2006/relationships/tags" Target="../tags/tag267.xml"/><Relationship Id="rId100" Type="http://schemas.openxmlformats.org/officeDocument/2006/relationships/tags" Target="../tags/tag290.xml"/><Relationship Id="rId105" Type="http://schemas.openxmlformats.org/officeDocument/2006/relationships/tags" Target="../tags/tag295.xml"/><Relationship Id="rId8" Type="http://schemas.openxmlformats.org/officeDocument/2006/relationships/tags" Target="../tags/tag198.xml"/><Relationship Id="rId51" Type="http://schemas.openxmlformats.org/officeDocument/2006/relationships/tags" Target="../tags/tag241.xml"/><Relationship Id="rId72" Type="http://schemas.openxmlformats.org/officeDocument/2006/relationships/tags" Target="../tags/tag262.xml"/><Relationship Id="rId93" Type="http://schemas.openxmlformats.org/officeDocument/2006/relationships/tags" Target="../tags/tag283.xml"/><Relationship Id="rId98" Type="http://schemas.openxmlformats.org/officeDocument/2006/relationships/tags" Target="../tags/tag288.xml"/><Relationship Id="rId3" Type="http://schemas.openxmlformats.org/officeDocument/2006/relationships/tags" Target="../tags/tag193.xml"/><Relationship Id="rId25" Type="http://schemas.openxmlformats.org/officeDocument/2006/relationships/tags" Target="../tags/tag215.xml"/><Relationship Id="rId46" Type="http://schemas.openxmlformats.org/officeDocument/2006/relationships/tags" Target="../tags/tag236.xml"/><Relationship Id="rId67" Type="http://schemas.openxmlformats.org/officeDocument/2006/relationships/tags" Target="../tags/tag257.xml"/><Relationship Id="rId116" Type="http://schemas.openxmlformats.org/officeDocument/2006/relationships/tags" Target="../tags/tag306.xml"/><Relationship Id="rId20" Type="http://schemas.openxmlformats.org/officeDocument/2006/relationships/tags" Target="../tags/tag210.xml"/><Relationship Id="rId41" Type="http://schemas.openxmlformats.org/officeDocument/2006/relationships/tags" Target="../tags/tag231.xml"/><Relationship Id="rId62" Type="http://schemas.openxmlformats.org/officeDocument/2006/relationships/tags" Target="../tags/tag252.xml"/><Relationship Id="rId83" Type="http://schemas.openxmlformats.org/officeDocument/2006/relationships/tags" Target="../tags/tag273.xml"/><Relationship Id="rId88" Type="http://schemas.openxmlformats.org/officeDocument/2006/relationships/tags" Target="../tags/tag278.xml"/><Relationship Id="rId111" Type="http://schemas.openxmlformats.org/officeDocument/2006/relationships/tags" Target="../tags/tag301.xml"/><Relationship Id="rId15" Type="http://schemas.openxmlformats.org/officeDocument/2006/relationships/tags" Target="../tags/tag205.xml"/><Relationship Id="rId36" Type="http://schemas.openxmlformats.org/officeDocument/2006/relationships/tags" Target="../tags/tag226.xml"/><Relationship Id="rId57" Type="http://schemas.openxmlformats.org/officeDocument/2006/relationships/tags" Target="../tags/tag247.xml"/><Relationship Id="rId106" Type="http://schemas.openxmlformats.org/officeDocument/2006/relationships/tags" Target="../tags/tag29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5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7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8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4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09.xml"/><Relationship Id="rId6" Type="http://schemas.openxmlformats.org/officeDocument/2006/relationships/image" Target="../media/image61.png"/><Relationship Id="rId5" Type="http://schemas.openxmlformats.org/officeDocument/2006/relationships/image" Target="../media/image21.png"/><Relationship Id="rId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0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3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3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63.xml.rels><?xml version="1.0" encoding="UTF-8" standalone="yes"?>
<Relationships xmlns="http://schemas.openxmlformats.org/package/2006/relationships"><Relationship Id="rId26" Type="http://schemas.openxmlformats.org/officeDocument/2006/relationships/tags" Target="../tags/tag336.xml"/><Relationship Id="rId117" Type="http://schemas.openxmlformats.org/officeDocument/2006/relationships/slideLayout" Target="../slideLayouts/slideLayout1.xml"/><Relationship Id="rId21" Type="http://schemas.openxmlformats.org/officeDocument/2006/relationships/tags" Target="../tags/tag331.xml"/><Relationship Id="rId42" Type="http://schemas.openxmlformats.org/officeDocument/2006/relationships/tags" Target="../tags/tag352.xml"/><Relationship Id="rId47" Type="http://schemas.openxmlformats.org/officeDocument/2006/relationships/tags" Target="../tags/tag357.xml"/><Relationship Id="rId63" Type="http://schemas.openxmlformats.org/officeDocument/2006/relationships/tags" Target="../tags/tag373.xml"/><Relationship Id="rId68" Type="http://schemas.openxmlformats.org/officeDocument/2006/relationships/tags" Target="../tags/tag378.xml"/><Relationship Id="rId84" Type="http://schemas.openxmlformats.org/officeDocument/2006/relationships/tags" Target="../tags/tag394.xml"/><Relationship Id="rId89" Type="http://schemas.openxmlformats.org/officeDocument/2006/relationships/tags" Target="../tags/tag399.xml"/><Relationship Id="rId112" Type="http://schemas.openxmlformats.org/officeDocument/2006/relationships/tags" Target="../tags/tag422.xml"/><Relationship Id="rId16" Type="http://schemas.openxmlformats.org/officeDocument/2006/relationships/tags" Target="../tags/tag326.xml"/><Relationship Id="rId107" Type="http://schemas.openxmlformats.org/officeDocument/2006/relationships/tags" Target="../tags/tag417.xml"/><Relationship Id="rId11" Type="http://schemas.openxmlformats.org/officeDocument/2006/relationships/tags" Target="../tags/tag321.xml"/><Relationship Id="rId32" Type="http://schemas.openxmlformats.org/officeDocument/2006/relationships/tags" Target="../tags/tag342.xml"/><Relationship Id="rId37" Type="http://schemas.openxmlformats.org/officeDocument/2006/relationships/tags" Target="../tags/tag347.xml"/><Relationship Id="rId53" Type="http://schemas.openxmlformats.org/officeDocument/2006/relationships/tags" Target="../tags/tag363.xml"/><Relationship Id="rId58" Type="http://schemas.openxmlformats.org/officeDocument/2006/relationships/tags" Target="../tags/tag368.xml"/><Relationship Id="rId74" Type="http://schemas.openxmlformats.org/officeDocument/2006/relationships/tags" Target="../tags/tag384.xml"/><Relationship Id="rId79" Type="http://schemas.openxmlformats.org/officeDocument/2006/relationships/tags" Target="../tags/tag389.xml"/><Relationship Id="rId102" Type="http://schemas.openxmlformats.org/officeDocument/2006/relationships/tags" Target="../tags/tag412.xml"/><Relationship Id="rId5" Type="http://schemas.openxmlformats.org/officeDocument/2006/relationships/tags" Target="../tags/tag315.xml"/><Relationship Id="rId90" Type="http://schemas.openxmlformats.org/officeDocument/2006/relationships/tags" Target="../tags/tag400.xml"/><Relationship Id="rId95" Type="http://schemas.openxmlformats.org/officeDocument/2006/relationships/tags" Target="../tags/tag405.xml"/><Relationship Id="rId22" Type="http://schemas.openxmlformats.org/officeDocument/2006/relationships/tags" Target="../tags/tag332.xml"/><Relationship Id="rId27" Type="http://schemas.openxmlformats.org/officeDocument/2006/relationships/tags" Target="../tags/tag337.xml"/><Relationship Id="rId43" Type="http://schemas.openxmlformats.org/officeDocument/2006/relationships/tags" Target="../tags/tag353.xml"/><Relationship Id="rId48" Type="http://schemas.openxmlformats.org/officeDocument/2006/relationships/tags" Target="../tags/tag358.xml"/><Relationship Id="rId64" Type="http://schemas.openxmlformats.org/officeDocument/2006/relationships/tags" Target="../tags/tag374.xml"/><Relationship Id="rId69" Type="http://schemas.openxmlformats.org/officeDocument/2006/relationships/tags" Target="../tags/tag379.xml"/><Relationship Id="rId113" Type="http://schemas.openxmlformats.org/officeDocument/2006/relationships/tags" Target="../tags/tag423.xml"/><Relationship Id="rId118" Type="http://schemas.openxmlformats.org/officeDocument/2006/relationships/image" Target="../media/image10.jpeg"/><Relationship Id="rId80" Type="http://schemas.openxmlformats.org/officeDocument/2006/relationships/tags" Target="../tags/tag390.xml"/><Relationship Id="rId85" Type="http://schemas.openxmlformats.org/officeDocument/2006/relationships/tags" Target="../tags/tag395.xml"/><Relationship Id="rId12" Type="http://schemas.openxmlformats.org/officeDocument/2006/relationships/tags" Target="../tags/tag322.xml"/><Relationship Id="rId17" Type="http://schemas.openxmlformats.org/officeDocument/2006/relationships/tags" Target="../tags/tag327.xml"/><Relationship Id="rId33" Type="http://schemas.openxmlformats.org/officeDocument/2006/relationships/tags" Target="../tags/tag343.xml"/><Relationship Id="rId38" Type="http://schemas.openxmlformats.org/officeDocument/2006/relationships/tags" Target="../tags/tag348.xml"/><Relationship Id="rId59" Type="http://schemas.openxmlformats.org/officeDocument/2006/relationships/tags" Target="../tags/tag369.xml"/><Relationship Id="rId103" Type="http://schemas.openxmlformats.org/officeDocument/2006/relationships/tags" Target="../tags/tag413.xml"/><Relationship Id="rId108" Type="http://schemas.openxmlformats.org/officeDocument/2006/relationships/tags" Target="../tags/tag418.xml"/><Relationship Id="rId54" Type="http://schemas.openxmlformats.org/officeDocument/2006/relationships/tags" Target="../tags/tag364.xml"/><Relationship Id="rId70" Type="http://schemas.openxmlformats.org/officeDocument/2006/relationships/tags" Target="../tags/tag380.xml"/><Relationship Id="rId75" Type="http://schemas.openxmlformats.org/officeDocument/2006/relationships/tags" Target="../tags/tag385.xml"/><Relationship Id="rId91" Type="http://schemas.openxmlformats.org/officeDocument/2006/relationships/tags" Target="../tags/tag401.xml"/><Relationship Id="rId96" Type="http://schemas.openxmlformats.org/officeDocument/2006/relationships/tags" Target="../tags/tag406.xml"/><Relationship Id="rId1" Type="http://schemas.openxmlformats.org/officeDocument/2006/relationships/tags" Target="../tags/tag311.xml"/><Relationship Id="rId6" Type="http://schemas.openxmlformats.org/officeDocument/2006/relationships/tags" Target="../tags/tag316.xml"/><Relationship Id="rId23" Type="http://schemas.openxmlformats.org/officeDocument/2006/relationships/tags" Target="../tags/tag333.xml"/><Relationship Id="rId28" Type="http://schemas.openxmlformats.org/officeDocument/2006/relationships/tags" Target="../tags/tag338.xml"/><Relationship Id="rId49" Type="http://schemas.openxmlformats.org/officeDocument/2006/relationships/tags" Target="../tags/tag359.xml"/><Relationship Id="rId114" Type="http://schemas.openxmlformats.org/officeDocument/2006/relationships/tags" Target="../tags/tag424.xml"/><Relationship Id="rId119" Type="http://schemas.openxmlformats.org/officeDocument/2006/relationships/image" Target="../media/image3.png"/><Relationship Id="rId10" Type="http://schemas.openxmlformats.org/officeDocument/2006/relationships/tags" Target="../tags/tag320.xml"/><Relationship Id="rId31" Type="http://schemas.openxmlformats.org/officeDocument/2006/relationships/tags" Target="../tags/tag341.xml"/><Relationship Id="rId44" Type="http://schemas.openxmlformats.org/officeDocument/2006/relationships/tags" Target="../tags/tag354.xml"/><Relationship Id="rId52" Type="http://schemas.openxmlformats.org/officeDocument/2006/relationships/tags" Target="../tags/tag362.xml"/><Relationship Id="rId60" Type="http://schemas.openxmlformats.org/officeDocument/2006/relationships/tags" Target="../tags/tag370.xml"/><Relationship Id="rId65" Type="http://schemas.openxmlformats.org/officeDocument/2006/relationships/tags" Target="../tags/tag375.xml"/><Relationship Id="rId73" Type="http://schemas.openxmlformats.org/officeDocument/2006/relationships/tags" Target="../tags/tag383.xml"/><Relationship Id="rId78" Type="http://schemas.openxmlformats.org/officeDocument/2006/relationships/tags" Target="../tags/tag388.xml"/><Relationship Id="rId81" Type="http://schemas.openxmlformats.org/officeDocument/2006/relationships/tags" Target="../tags/tag391.xml"/><Relationship Id="rId86" Type="http://schemas.openxmlformats.org/officeDocument/2006/relationships/tags" Target="../tags/tag396.xml"/><Relationship Id="rId94" Type="http://schemas.openxmlformats.org/officeDocument/2006/relationships/tags" Target="../tags/tag404.xml"/><Relationship Id="rId99" Type="http://schemas.openxmlformats.org/officeDocument/2006/relationships/tags" Target="../tags/tag409.xml"/><Relationship Id="rId101" Type="http://schemas.openxmlformats.org/officeDocument/2006/relationships/tags" Target="../tags/tag411.xml"/><Relationship Id="rId4" Type="http://schemas.openxmlformats.org/officeDocument/2006/relationships/tags" Target="../tags/tag314.xml"/><Relationship Id="rId9" Type="http://schemas.openxmlformats.org/officeDocument/2006/relationships/tags" Target="../tags/tag319.xml"/><Relationship Id="rId13" Type="http://schemas.openxmlformats.org/officeDocument/2006/relationships/tags" Target="../tags/tag323.xml"/><Relationship Id="rId18" Type="http://schemas.openxmlformats.org/officeDocument/2006/relationships/tags" Target="../tags/tag328.xml"/><Relationship Id="rId39" Type="http://schemas.openxmlformats.org/officeDocument/2006/relationships/tags" Target="../tags/tag349.xml"/><Relationship Id="rId109" Type="http://schemas.openxmlformats.org/officeDocument/2006/relationships/tags" Target="../tags/tag419.xml"/><Relationship Id="rId34" Type="http://schemas.openxmlformats.org/officeDocument/2006/relationships/tags" Target="../tags/tag344.xml"/><Relationship Id="rId50" Type="http://schemas.openxmlformats.org/officeDocument/2006/relationships/tags" Target="../tags/tag360.xml"/><Relationship Id="rId55" Type="http://schemas.openxmlformats.org/officeDocument/2006/relationships/tags" Target="../tags/tag365.xml"/><Relationship Id="rId76" Type="http://schemas.openxmlformats.org/officeDocument/2006/relationships/tags" Target="../tags/tag386.xml"/><Relationship Id="rId97" Type="http://schemas.openxmlformats.org/officeDocument/2006/relationships/tags" Target="../tags/tag407.xml"/><Relationship Id="rId104" Type="http://schemas.openxmlformats.org/officeDocument/2006/relationships/tags" Target="../tags/tag414.xml"/><Relationship Id="rId7" Type="http://schemas.openxmlformats.org/officeDocument/2006/relationships/tags" Target="../tags/tag317.xml"/><Relationship Id="rId71" Type="http://schemas.openxmlformats.org/officeDocument/2006/relationships/tags" Target="../tags/tag381.xml"/><Relationship Id="rId92" Type="http://schemas.openxmlformats.org/officeDocument/2006/relationships/tags" Target="../tags/tag402.xml"/><Relationship Id="rId2" Type="http://schemas.openxmlformats.org/officeDocument/2006/relationships/tags" Target="../tags/tag312.xml"/><Relationship Id="rId29" Type="http://schemas.openxmlformats.org/officeDocument/2006/relationships/tags" Target="../tags/tag339.xml"/><Relationship Id="rId24" Type="http://schemas.openxmlformats.org/officeDocument/2006/relationships/tags" Target="../tags/tag334.xml"/><Relationship Id="rId40" Type="http://schemas.openxmlformats.org/officeDocument/2006/relationships/tags" Target="../tags/tag350.xml"/><Relationship Id="rId45" Type="http://schemas.openxmlformats.org/officeDocument/2006/relationships/tags" Target="../tags/tag355.xml"/><Relationship Id="rId66" Type="http://schemas.openxmlformats.org/officeDocument/2006/relationships/tags" Target="../tags/tag376.xml"/><Relationship Id="rId87" Type="http://schemas.openxmlformats.org/officeDocument/2006/relationships/tags" Target="../tags/tag397.xml"/><Relationship Id="rId110" Type="http://schemas.openxmlformats.org/officeDocument/2006/relationships/tags" Target="../tags/tag420.xml"/><Relationship Id="rId115" Type="http://schemas.openxmlformats.org/officeDocument/2006/relationships/tags" Target="../tags/tag425.xml"/><Relationship Id="rId61" Type="http://schemas.openxmlformats.org/officeDocument/2006/relationships/tags" Target="../tags/tag371.xml"/><Relationship Id="rId82" Type="http://schemas.openxmlformats.org/officeDocument/2006/relationships/tags" Target="../tags/tag392.xml"/><Relationship Id="rId19" Type="http://schemas.openxmlformats.org/officeDocument/2006/relationships/tags" Target="../tags/tag329.xml"/><Relationship Id="rId14" Type="http://schemas.openxmlformats.org/officeDocument/2006/relationships/tags" Target="../tags/tag324.xml"/><Relationship Id="rId30" Type="http://schemas.openxmlformats.org/officeDocument/2006/relationships/tags" Target="../tags/tag340.xml"/><Relationship Id="rId35" Type="http://schemas.openxmlformats.org/officeDocument/2006/relationships/tags" Target="../tags/tag345.xml"/><Relationship Id="rId56" Type="http://schemas.openxmlformats.org/officeDocument/2006/relationships/tags" Target="../tags/tag366.xml"/><Relationship Id="rId77" Type="http://schemas.openxmlformats.org/officeDocument/2006/relationships/tags" Target="../tags/tag387.xml"/><Relationship Id="rId100" Type="http://schemas.openxmlformats.org/officeDocument/2006/relationships/tags" Target="../tags/tag410.xml"/><Relationship Id="rId105" Type="http://schemas.openxmlformats.org/officeDocument/2006/relationships/tags" Target="../tags/tag415.xml"/><Relationship Id="rId8" Type="http://schemas.openxmlformats.org/officeDocument/2006/relationships/tags" Target="../tags/tag318.xml"/><Relationship Id="rId51" Type="http://schemas.openxmlformats.org/officeDocument/2006/relationships/tags" Target="../tags/tag361.xml"/><Relationship Id="rId72" Type="http://schemas.openxmlformats.org/officeDocument/2006/relationships/tags" Target="../tags/tag382.xml"/><Relationship Id="rId93" Type="http://schemas.openxmlformats.org/officeDocument/2006/relationships/tags" Target="../tags/tag403.xml"/><Relationship Id="rId98" Type="http://schemas.openxmlformats.org/officeDocument/2006/relationships/tags" Target="../tags/tag408.xml"/><Relationship Id="rId3" Type="http://schemas.openxmlformats.org/officeDocument/2006/relationships/tags" Target="../tags/tag313.xml"/><Relationship Id="rId25" Type="http://schemas.openxmlformats.org/officeDocument/2006/relationships/tags" Target="../tags/tag335.xml"/><Relationship Id="rId46" Type="http://schemas.openxmlformats.org/officeDocument/2006/relationships/tags" Target="../tags/tag356.xml"/><Relationship Id="rId67" Type="http://schemas.openxmlformats.org/officeDocument/2006/relationships/tags" Target="../tags/tag377.xml"/><Relationship Id="rId116" Type="http://schemas.openxmlformats.org/officeDocument/2006/relationships/tags" Target="../tags/tag426.xml"/><Relationship Id="rId20" Type="http://schemas.openxmlformats.org/officeDocument/2006/relationships/tags" Target="../tags/tag330.xml"/><Relationship Id="rId41" Type="http://schemas.openxmlformats.org/officeDocument/2006/relationships/tags" Target="../tags/tag351.xml"/><Relationship Id="rId62" Type="http://schemas.openxmlformats.org/officeDocument/2006/relationships/tags" Target="../tags/tag372.xml"/><Relationship Id="rId83" Type="http://schemas.openxmlformats.org/officeDocument/2006/relationships/tags" Target="../tags/tag393.xml"/><Relationship Id="rId88" Type="http://schemas.openxmlformats.org/officeDocument/2006/relationships/tags" Target="../tags/tag398.xml"/><Relationship Id="rId111" Type="http://schemas.openxmlformats.org/officeDocument/2006/relationships/tags" Target="../tags/tag421.xml"/><Relationship Id="rId15" Type="http://schemas.openxmlformats.org/officeDocument/2006/relationships/tags" Target="../tags/tag325.xml"/><Relationship Id="rId36" Type="http://schemas.openxmlformats.org/officeDocument/2006/relationships/tags" Target="../tags/tag346.xml"/><Relationship Id="rId57" Type="http://schemas.openxmlformats.org/officeDocument/2006/relationships/tags" Target="../tags/tag367.xml"/><Relationship Id="rId106" Type="http://schemas.openxmlformats.org/officeDocument/2006/relationships/tags" Target="../tags/tag41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75.png"/><Relationship Id="rId4" Type="http://schemas.openxmlformats.org/officeDocument/2006/relationships/image" Target="../media/image2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76.png"/><Relationship Id="rId4" Type="http://schemas.openxmlformats.org/officeDocument/2006/relationships/image" Target="../media/image2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77.png"/><Relationship Id="rId4" Type="http://schemas.openxmlformats.org/officeDocument/2006/relationships/image" Target="../media/image2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81.png"/><Relationship Id="rId4" Type="http://schemas.openxmlformats.org/officeDocument/2006/relationships/image" Target="../media/image2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84.png"/><Relationship Id="rId5" Type="http://schemas.openxmlformats.org/officeDocument/2006/relationships/image" Target="../media/image8.png"/><Relationship Id="rId4" Type="http://schemas.openxmlformats.org/officeDocument/2006/relationships/image" Target="../media/image8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2840990" y="5373370"/>
            <a:ext cx="9256395" cy="1152525"/>
          </a:xfrm>
          <a:prstGeom prst="roundRect">
            <a:avLst/>
          </a:prstGeom>
          <a:noFill/>
          <a:ln>
            <a:solidFill>
              <a:srgbClr val="2536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10"/>
          <p:cNvSpPr txBox="1"/>
          <p:nvPr/>
        </p:nvSpPr>
        <p:spPr>
          <a:xfrm>
            <a:off x="2840355" y="5549900"/>
            <a:ext cx="933894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本课件和教学视频著作权归大敏姐姐所有，未经授权进行搬运、洗稿、二次转发、销售等侵权行为，都属于</a:t>
            </a:r>
            <a:r>
              <a:rPr lang="zh-CN" altLang="en-US" sz="24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违法</a:t>
            </a:r>
            <a:r>
              <a:rPr lang="zh-CN" altLang="en-US" sz="2400" b="1" dirty="0">
                <a:solidFill>
                  <a:schemeClr val="tx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违者绝对追责到底！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25082" y="547370"/>
            <a:ext cx="70218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感谢选择大敏姐姐</a:t>
            </a:r>
            <a:r>
              <a:rPr lang="zh-CN" altLang="en-US" sz="2800" b="1" dirty="0">
                <a:solidFill>
                  <a:srgbClr val="25366A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原创高品质</a:t>
            </a:r>
            <a:r>
              <a:rPr lang="en-US" altLang="zh-CN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HSK</a:t>
            </a:r>
            <a:r>
              <a:rPr lang="zh-CN" altLang="en-US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系列课件</a:t>
            </a:r>
            <a:r>
              <a:rPr lang="en-US" altLang="zh-CN" sz="28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!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7752398" y="2694940"/>
            <a:ext cx="2169795" cy="1468755"/>
            <a:chOff x="12547" y="3585"/>
            <a:chExt cx="3417" cy="2313"/>
          </a:xfrm>
        </p:grpSpPr>
        <p:pic>
          <p:nvPicPr>
            <p:cNvPr id="1026" name="Picture 2" descr="C:\Users\Administrator\Desktop\小红书logo_副本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547" y="3585"/>
              <a:ext cx="1041" cy="1044"/>
            </a:xfrm>
            <a:prstGeom prst="rect">
              <a:avLst/>
            </a:prstGeom>
            <a:noFill/>
          </p:spPr>
        </p:pic>
        <p:sp>
          <p:nvSpPr>
            <p:cNvPr id="17" name="TextBox 9"/>
            <p:cNvSpPr txBox="1"/>
            <p:nvPr/>
          </p:nvSpPr>
          <p:spPr>
            <a:xfrm>
              <a:off x="13778" y="3855"/>
              <a:ext cx="218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@</a:t>
              </a: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大敏姐姐</a:t>
              </a:r>
            </a:p>
          </p:txBody>
        </p:sp>
        <p:pic>
          <p:nvPicPr>
            <p:cNvPr id="1027" name="Picture 3" descr="C:\Users\Administrator\Desktop\微信_副本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561" y="4897"/>
              <a:ext cx="996" cy="1001"/>
            </a:xfrm>
            <a:prstGeom prst="rect">
              <a:avLst/>
            </a:prstGeom>
            <a:noFill/>
          </p:spPr>
        </p:pic>
        <p:sp>
          <p:nvSpPr>
            <p:cNvPr id="18" name="TextBox 10"/>
            <p:cNvSpPr txBox="1"/>
            <p:nvPr/>
          </p:nvSpPr>
          <p:spPr>
            <a:xfrm>
              <a:off x="13873" y="5046"/>
              <a:ext cx="20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>
                  <a:solidFill>
                    <a:srgbClr val="3CB035"/>
                  </a:solidFill>
                  <a:latin typeface="微软雅黑" panose="020B0503020204020204" charset="-122"/>
                  <a:ea typeface="微软雅黑" panose="020B0503020204020204" charset="-122"/>
                </a:rPr>
                <a:t>dmgqs01</a:t>
              </a:r>
            </a:p>
          </p:txBody>
        </p:sp>
      </p:grpSp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6" name="图片 5" descr="D:\大敏\HSK课件宣传\图片素材\HSK5\封面.png封面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1280" y="1222375"/>
            <a:ext cx="597916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1870710" y="5804535"/>
            <a:ext cx="8606155" cy="707390"/>
            <a:chOff x="1881" y="8688"/>
            <a:chExt cx="16683" cy="1114"/>
          </a:xfrm>
        </p:grpSpPr>
        <p:sp>
          <p:nvSpPr>
            <p:cNvPr id="16" name="圆角矩形 15"/>
            <p:cNvSpPr/>
            <p:nvPr/>
          </p:nvSpPr>
          <p:spPr>
            <a:xfrm>
              <a:off x="1881" y="8688"/>
              <a:ext cx="16683" cy="1106"/>
            </a:xfrm>
            <a:prstGeom prst="roundRect">
              <a:avLst/>
            </a:prstGeom>
            <a:noFill/>
            <a:ln>
              <a:solidFill>
                <a:srgbClr val="2536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extBox 10"/>
            <p:cNvSpPr txBox="1"/>
            <p:nvPr/>
          </p:nvSpPr>
          <p:spPr>
            <a:xfrm>
              <a:off x="1881" y="8786"/>
              <a:ext cx="16683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本课件和教学视频著作权归大敏姐姐所有，未经授权进行搬运、洗稿、二次转发、销售等侵权行为，都属于</a:t>
              </a:r>
              <a:r>
                <a:rPr lang="zh-CN" altLang="en-US" b="1" dirty="0">
                  <a:solidFill>
                    <a:srgbClr val="FF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违法</a:t>
              </a:r>
              <a:r>
                <a:rPr lang="zh-CN" altLang="en-US" b="1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。</a:t>
              </a:r>
              <a:r>
                <a:rPr lang="zh-CN" altLang="en-US" b="1" dirty="0">
                  <a:solidFill>
                    <a:srgbClr val="FF0000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  <a:sym typeface="+mn-ea"/>
                </a:rPr>
                <a:t>违者绝对追责到底！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870393" y="403860"/>
            <a:ext cx="84512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200" b="1" dirty="0"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使用须知</a:t>
            </a:r>
            <a:r>
              <a:rPr lang="zh-CN" altLang="en-US" sz="3200" b="1" dirty="0">
                <a:solidFill>
                  <a:srgbClr val="FF0000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👇</a:t>
            </a:r>
          </a:p>
        </p:txBody>
      </p:sp>
      <p:sp>
        <p:nvSpPr>
          <p:cNvPr id="23" name="矩形: 圆角 22"/>
          <p:cNvSpPr/>
          <p:nvPr/>
        </p:nvSpPr>
        <p:spPr bwMode="auto">
          <a:xfrm>
            <a:off x="2287588" y="247523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: 圆角 23"/>
          <p:cNvSpPr/>
          <p:nvPr/>
        </p:nvSpPr>
        <p:spPr bwMode="auto">
          <a:xfrm>
            <a:off x="2287588" y="308864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矩形: 圆角 19"/>
          <p:cNvSpPr/>
          <p:nvPr/>
        </p:nvSpPr>
        <p:spPr bwMode="auto">
          <a:xfrm>
            <a:off x="2287588" y="1861185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60333" y="1889760"/>
            <a:ext cx="6908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必须全屏播放才有动画和音效，手机打开和非全屏播放无效果。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60333" y="2503805"/>
            <a:ext cx="69627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包含：教学内容和目标、课堂中老师涉及的英语句子、学生教学内容。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60333" y="3117850"/>
            <a:ext cx="74110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动画修改方式：当前内容上，鼠标右键进行素材替换。请勿删除！否则无动效！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2245043" y="1755140"/>
            <a:ext cx="248920" cy="248920"/>
            <a:chOff x="4536440" y="-1071880"/>
            <a:chExt cx="416560" cy="416560"/>
          </a:xfrm>
        </p:grpSpPr>
        <p:sp>
          <p:nvSpPr>
            <p:cNvPr id="33" name="椭圆 32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245043" y="2433955"/>
            <a:ext cx="248920" cy="248920"/>
            <a:chOff x="4536440" y="-1071880"/>
            <a:chExt cx="416560" cy="416560"/>
          </a:xfrm>
        </p:grpSpPr>
        <p:sp>
          <p:nvSpPr>
            <p:cNvPr id="36" name="椭圆 35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2245043" y="3003550"/>
            <a:ext cx="248920" cy="248920"/>
            <a:chOff x="4536440" y="-1071880"/>
            <a:chExt cx="416560" cy="416560"/>
          </a:xfrm>
        </p:grpSpPr>
        <p:sp>
          <p:nvSpPr>
            <p:cNvPr id="39" name="椭圆 38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0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sp>
        <p:nvSpPr>
          <p:cNvPr id="4" name="矩形: 圆角 23"/>
          <p:cNvSpPr/>
          <p:nvPr/>
        </p:nvSpPr>
        <p:spPr bwMode="auto">
          <a:xfrm>
            <a:off x="2287588" y="3729355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3D3D3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60333" y="3758565"/>
            <a:ext cx="7167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sym typeface="+mn-ea"/>
              </a:rPr>
              <a:t>如有问题欢迎来大敏姐姐直播间连麦咨询，直播时间会提前在朋友圈发布：</a:t>
            </a:r>
            <a:endParaRPr kumimoji="0" lang="en-US" altLang="zh-CN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Microsoft YaHei Light" panose="020B0502040204020203" charset="-122"/>
              <a:cs typeface="+mn-cs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245043" y="3644265"/>
            <a:ext cx="248920" cy="248920"/>
            <a:chOff x="4536440" y="-1071880"/>
            <a:chExt cx="416560" cy="416560"/>
          </a:xfrm>
        </p:grpSpPr>
        <p:sp>
          <p:nvSpPr>
            <p:cNvPr id="10" name="椭圆 9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pic>
        <p:nvPicPr>
          <p:cNvPr id="1027" name="Picture 3" descr="C:\Users\Administrator\Desktop\微信_副本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1783" y="4629150"/>
            <a:ext cx="632460" cy="635635"/>
          </a:xfrm>
          <a:prstGeom prst="rect">
            <a:avLst/>
          </a:prstGeom>
          <a:noFill/>
        </p:spPr>
      </p:pic>
      <p:sp>
        <p:nvSpPr>
          <p:cNvPr id="18" name="TextBox 10"/>
          <p:cNvSpPr txBox="1"/>
          <p:nvPr/>
        </p:nvSpPr>
        <p:spPr>
          <a:xfrm>
            <a:off x="8744903" y="4723765"/>
            <a:ext cx="1327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3CB035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dmgqs01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1313" y="4323715"/>
            <a:ext cx="1350645" cy="1355090"/>
          </a:xfrm>
          <a:prstGeom prst="rect">
            <a:avLst/>
          </a:prstGeom>
        </p:spPr>
      </p:pic>
      <p:sp>
        <p:nvSpPr>
          <p:cNvPr id="21" name="矩形: 圆角 19"/>
          <p:cNvSpPr/>
          <p:nvPr/>
        </p:nvSpPr>
        <p:spPr bwMode="auto">
          <a:xfrm>
            <a:off x="2314258" y="1220470"/>
            <a:ext cx="7659370" cy="396240"/>
          </a:xfrm>
          <a:prstGeom prst="roundRect">
            <a:avLst>
              <a:gd name="adj" fmla="val 50000"/>
            </a:avLst>
          </a:prstGeom>
          <a:solidFill>
            <a:srgbClr val="B39155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7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687003" y="1249045"/>
            <a:ext cx="6908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本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需使用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WPS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软件，支持内容（图文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/GIF/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音频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rPr>
              <a:t>动画）的编辑、修改。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2271713" y="1114425"/>
            <a:ext cx="248920" cy="248920"/>
            <a:chOff x="4536440" y="-1071880"/>
            <a:chExt cx="416560" cy="416560"/>
          </a:xfrm>
        </p:grpSpPr>
        <p:sp>
          <p:nvSpPr>
            <p:cNvPr id="26" name="椭圆 25"/>
            <p:cNvSpPr/>
            <p:nvPr/>
          </p:nvSpPr>
          <p:spPr bwMode="auto">
            <a:xfrm>
              <a:off x="4536440" y="-1071880"/>
              <a:ext cx="416560" cy="416560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Freeform 5"/>
            <p:cNvSpPr>
              <a:spLocks noEditPoints="1"/>
            </p:cNvSpPr>
            <p:nvPr/>
          </p:nvSpPr>
          <p:spPr bwMode="auto">
            <a:xfrm>
              <a:off x="4632366" y="-973129"/>
              <a:ext cx="224708" cy="219058"/>
            </a:xfrm>
            <a:custGeom>
              <a:avLst/>
              <a:gdLst>
                <a:gd name="T0" fmla="*/ 626 w 2238"/>
                <a:gd name="T1" fmla="*/ 1006 h 2182"/>
                <a:gd name="T2" fmla="*/ 929 w 2238"/>
                <a:gd name="T3" fmla="*/ 1594 h 2182"/>
                <a:gd name="T4" fmla="*/ 2200 w 2238"/>
                <a:gd name="T5" fmla="*/ 0 h 2182"/>
                <a:gd name="T6" fmla="*/ 2238 w 2238"/>
                <a:gd name="T7" fmla="*/ 835 h 2182"/>
                <a:gd name="T8" fmla="*/ 967 w 2238"/>
                <a:gd name="T9" fmla="*/ 2182 h 2182"/>
                <a:gd name="T10" fmla="*/ 0 w 2238"/>
                <a:gd name="T11" fmla="*/ 1385 h 2182"/>
                <a:gd name="T12" fmla="*/ 626 w 2238"/>
                <a:gd name="T13" fmla="*/ 1006 h 2182"/>
                <a:gd name="T14" fmla="*/ 626 w 2238"/>
                <a:gd name="T15" fmla="*/ 1006 h 2182"/>
                <a:gd name="T16" fmla="*/ 626 w 2238"/>
                <a:gd name="T17" fmla="*/ 1006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8" h="2182">
                  <a:moveTo>
                    <a:pt x="626" y="1006"/>
                  </a:moveTo>
                  <a:cubicBezTo>
                    <a:pt x="929" y="1594"/>
                    <a:pt x="929" y="1594"/>
                    <a:pt x="929" y="1594"/>
                  </a:cubicBezTo>
                  <a:cubicBezTo>
                    <a:pt x="929" y="1594"/>
                    <a:pt x="1423" y="398"/>
                    <a:pt x="2200" y="0"/>
                  </a:cubicBezTo>
                  <a:cubicBezTo>
                    <a:pt x="2181" y="285"/>
                    <a:pt x="2105" y="531"/>
                    <a:pt x="2238" y="835"/>
                  </a:cubicBezTo>
                  <a:cubicBezTo>
                    <a:pt x="1897" y="911"/>
                    <a:pt x="1195" y="1765"/>
                    <a:pt x="967" y="2182"/>
                  </a:cubicBezTo>
                  <a:cubicBezTo>
                    <a:pt x="645" y="1784"/>
                    <a:pt x="266" y="1480"/>
                    <a:pt x="0" y="1385"/>
                  </a:cubicBezTo>
                  <a:lnTo>
                    <a:pt x="626" y="1006"/>
                  </a:lnTo>
                  <a:close/>
                  <a:moveTo>
                    <a:pt x="626" y="1006"/>
                  </a:moveTo>
                  <a:cubicBezTo>
                    <a:pt x="626" y="1006"/>
                    <a:pt x="626" y="1006"/>
                    <a:pt x="626" y="100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704020202020204"/>
                <a:ea typeface="Microsoft YaHei Light" panose="020B0502040204020203" charset="-122"/>
                <a:cs typeface="+mn-cs"/>
              </a:endParaRPr>
            </a:p>
          </p:txBody>
        </p:sp>
      </p:grpSp>
      <p:pic>
        <p:nvPicPr>
          <p:cNvPr id="12" name="图片 1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/>
          <p:cNvSpPr/>
          <p:nvPr/>
        </p:nvSpPr>
        <p:spPr>
          <a:xfrm>
            <a:off x="7544336" y="0"/>
            <a:ext cx="4647030" cy="6858000"/>
          </a:xfrm>
          <a:prstGeom prst="rect">
            <a:avLst/>
          </a:prstGeom>
          <a:gradFill flip="none" rotWithShape="1">
            <a:gsLst>
              <a:gs pos="0">
                <a:srgbClr val="E3C982"/>
              </a:gs>
              <a:gs pos="42100">
                <a:srgbClr val="B49256"/>
              </a:gs>
              <a:gs pos="100000">
                <a:srgbClr val="B29054"/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方正兰亭黑简体" panose="02000000000000000000" charset="-122"/>
              <a:ea typeface="方正兰亭黑简体" panose="02000000000000000000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05207" y="1"/>
            <a:ext cx="4647030" cy="6858024"/>
          </a:xfrm>
          <a:prstGeom prst="rect">
            <a:avLst/>
          </a:prstGeom>
          <a:gradFill>
            <a:gsLst>
              <a:gs pos="0">
                <a:schemeClr val="tx1">
                  <a:lumMod val="65000"/>
                  <a:lumOff val="35000"/>
                </a:schemeClr>
              </a:gs>
              <a:gs pos="4210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Ext-Normal"/>
              <a:ea typeface="OPPOSans B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38243" y="605882"/>
            <a:ext cx="267652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教学内容和目标</a:t>
            </a:r>
          </a:p>
        </p:txBody>
      </p:sp>
      <p:cxnSp>
        <p:nvCxnSpPr>
          <p:cNvPr id="104" name="直接连接符 103"/>
          <p:cNvCxnSpPr/>
          <p:nvPr/>
        </p:nvCxnSpPr>
        <p:spPr>
          <a:xfrm>
            <a:off x="870585" y="3202305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870585" y="4983480"/>
            <a:ext cx="668147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00949" y="6582160"/>
            <a:ext cx="10786758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/>
          <p:cNvCxnSpPr/>
          <p:nvPr/>
        </p:nvCxnSpPr>
        <p:spPr>
          <a:xfrm>
            <a:off x="3469391" y="1480994"/>
            <a:ext cx="81183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46125" y="177355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语言点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3149600" y="1462405"/>
            <a:ext cx="606933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名人典故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46125" y="319468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词汇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161665" y="2182495"/>
            <a:ext cx="8310880" cy="645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了解并掌握“讲究、戒、地道、高档、算、保存、条、首、表现、形象”等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 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词语的搭配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3159125" y="1773555"/>
            <a:ext cx="53390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lang="en-US" altLang="zh-CN" dirty="0">
                <a:solidFill>
                  <a:prstClr val="white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了解并掌握“算、作为、曾经”的意义和用法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3167380" y="2860675"/>
            <a:ext cx="39674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辨析“亲自”和“自己”的异同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167380" y="3251200"/>
            <a:ext cx="8310880" cy="9220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熟悉并掌握“突出、亲自、时尚、写作、学问、平均、位于、豪华、光临、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 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交际、大方、好客、招待、胃口、明明、资料、形容”等本课其他重点五级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 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大纲词语的意义和用法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3167201" y="4201486"/>
            <a:ext cx="38658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理解本课4个非大纲词语的意义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46125" y="499046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OPPOSans M" panose="00020600040101010101" pitchFamily="18" charset="-122"/>
              </a:rPr>
              <a:t>篇章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167380" y="5040630"/>
            <a:ext cx="831088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1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）本文讲述了鲁迅先生与广和居的过往经历，介绍了他对美食的喜爱和推动，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展现了鲁迅先生爱好交际、以酒会友的一个生活侧面。要求学生阅读理解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课文，掌握文章大意，并运用所学词语、语言点介绍鲁迅与作家郁达夫以及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        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广和居的故事。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3167201" y="6193172"/>
            <a:ext cx="44246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2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）讨论名人的影响，并完成命题写作。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395611" y="855648"/>
            <a:ext cx="33832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Bold" panose="020B0800000000000000" charset="-122"/>
                <a:ea typeface="思源黑体 CN Bold" panose="020B0800000000000000" charset="-122"/>
                <a:cs typeface="+mn-cs"/>
              </a:rPr>
              <a:t>学生能够了解并掌握</a:t>
            </a:r>
          </a:p>
        </p:txBody>
      </p:sp>
      <p:cxnSp>
        <p:nvCxnSpPr>
          <p:cNvPr id="85" name="直接连接符 84"/>
          <p:cNvCxnSpPr/>
          <p:nvPr/>
        </p:nvCxnSpPr>
        <p:spPr>
          <a:xfrm>
            <a:off x="7543800" y="3202305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/>
        </p:nvCxnSpPr>
        <p:spPr>
          <a:xfrm>
            <a:off x="7543800" y="4983480"/>
            <a:ext cx="4043680" cy="0"/>
          </a:xfrm>
          <a:prstGeom prst="line">
            <a:avLst/>
          </a:prstGeom>
          <a:ln w="12700" cap="rnd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C:\Users\Administrator\Desktop\我1.png我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158946" y="4602806"/>
            <a:ext cx="673608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（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3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）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了解并掌握“扩展”板块11个“社会”类词语的意义和用法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53975" y="-110490"/>
            <a:ext cx="12245975" cy="8528685"/>
            <a:chOff x="-95" y="-188"/>
            <a:chExt cx="19285" cy="13431"/>
          </a:xfrm>
        </p:grpSpPr>
        <p:grpSp>
          <p:nvGrpSpPr>
            <p:cNvPr id="35" name="组合 34"/>
            <p:cNvGrpSpPr/>
            <p:nvPr/>
          </p:nvGrpSpPr>
          <p:grpSpPr>
            <a:xfrm>
              <a:off x="-95" y="-188"/>
              <a:ext cx="19285" cy="13431"/>
              <a:chOff x="-97" y="-188"/>
              <a:chExt cx="19285" cy="13431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97" y="-186"/>
                <a:ext cx="9664" cy="11216"/>
                <a:chOff x="1953" y="1163"/>
                <a:chExt cx="7302" cy="8474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1964" y="3696"/>
                  <a:ext cx="7258" cy="3352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TextBox 3"/>
                <p:cNvSpPr txBox="1"/>
                <p:nvPr/>
              </p:nvSpPr>
              <p:spPr>
                <a:xfrm>
                  <a:off x="1975" y="4268"/>
                  <a:ext cx="7239" cy="18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9600" b="1" dirty="0">
                      <a:ln w="28575">
                        <a:noFill/>
                      </a:ln>
                      <a:solidFill>
                        <a:schemeClr val="bg1"/>
                      </a:solidFill>
                      <a:latin typeface="思源黑体 CN Heavy" panose="020B0A00000000000000" pitchFamily="34" charset="-122"/>
                      <a:ea typeface="思源黑体 CN Heavy" panose="020B0A00000000000000" pitchFamily="34" charset="-122"/>
                    </a:rPr>
                    <a:t>HSK 5</a:t>
                  </a:r>
                </a:p>
              </p:txBody>
            </p:sp>
            <p:sp>
              <p:nvSpPr>
                <p:cNvPr id="11" name="矩形 10"/>
                <p:cNvSpPr/>
                <p:nvPr/>
              </p:nvSpPr>
              <p:spPr>
                <a:xfrm>
                  <a:off x="1963" y="1163"/>
                  <a:ext cx="7258" cy="2637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0" name="TextBox 3"/>
                <p:cNvSpPr txBox="1"/>
                <p:nvPr/>
              </p:nvSpPr>
              <p:spPr>
                <a:xfrm>
                  <a:off x="1964" y="1674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Standard Course</a:t>
                  </a:r>
                </a:p>
              </p:txBody>
            </p:sp>
            <p:sp>
              <p:nvSpPr>
                <p:cNvPr id="12" name="矩形 11"/>
                <p:cNvSpPr/>
                <p:nvPr/>
              </p:nvSpPr>
              <p:spPr>
                <a:xfrm>
                  <a:off x="1953" y="7001"/>
                  <a:ext cx="7258" cy="2636"/>
                </a:xfrm>
                <a:prstGeom prst="rect">
                  <a:avLst/>
                </a:prstGeom>
                <a:solidFill>
                  <a:srgbClr val="25366A"/>
                </a:solidFill>
                <a:ln w="38100">
                  <a:solidFill>
                    <a:srgbClr val="000000">
                      <a:alpha val="0"/>
                    </a:srgb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3" name="TextBox 3"/>
                <p:cNvSpPr txBox="1"/>
                <p:nvPr/>
              </p:nvSpPr>
              <p:spPr>
                <a:xfrm>
                  <a:off x="1975" y="7522"/>
                  <a:ext cx="7280" cy="12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0" b="1" dirty="0">
                      <a:solidFill>
                        <a:schemeClr val="bg1"/>
                      </a:solidFill>
                      <a:latin typeface="思源黑体 CN Regular" panose="020B0500000000000000" pitchFamily="34" charset="-122"/>
                      <a:ea typeface="思源黑体 CN Regular" panose="020B0500000000000000" pitchFamily="34" charset="-122"/>
                    </a:rPr>
                    <a:t>Lesson 9</a:t>
                  </a:r>
                </a:p>
              </p:txBody>
            </p:sp>
            <p:cxnSp>
              <p:nvCxnSpPr>
                <p:cNvPr id="14" name="直接连接符 13"/>
                <p:cNvCxnSpPr/>
                <p:nvPr/>
              </p:nvCxnSpPr>
              <p:spPr>
                <a:xfrm>
                  <a:off x="1965" y="380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14"/>
                <p:cNvCxnSpPr/>
                <p:nvPr/>
              </p:nvCxnSpPr>
              <p:spPr>
                <a:xfrm>
                  <a:off x="1964" y="6960"/>
                  <a:ext cx="7235" cy="28"/>
                </a:xfrm>
                <a:prstGeom prst="line">
                  <a:avLst/>
                </a:prstGeom>
                <a:ln w="381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矩形 21"/>
              <p:cNvSpPr/>
              <p:nvPr/>
            </p:nvSpPr>
            <p:spPr>
              <a:xfrm>
                <a:off x="9524" y="-188"/>
                <a:ext cx="9664" cy="11219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6" name="图片 5" descr="C:\Users\Administrator\Desktop\小红书\对外汉语战略搞钱计划\教学素材\图片素材\我压缩.png我压缩"/>
              <p:cNvPicPr>
                <a:picLocks noChangeAspect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>
              <a:xfrm>
                <a:off x="5130" y="77"/>
                <a:ext cx="13166" cy="13166"/>
              </a:xfrm>
              <a:prstGeom prst="rect">
                <a:avLst/>
              </a:prstGeom>
            </p:spPr>
          </p:pic>
        </p:grpSp>
        <p:pic>
          <p:nvPicPr>
            <p:cNvPr id="38" name="图片 37" descr="下一页按钮">
              <a:hlinkClick r:id="" action="ppaction://hlinkshowjump?jump=nextslide"/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10" y="8802"/>
              <a:ext cx="2899" cy="1498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第九课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287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9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3583" cy="902"/>
                  <a:chOff x="8865" y="6525"/>
                  <a:chExt cx="13583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9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3652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The Lu Xun You Don’t Know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9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别样鲁迅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1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sp>
        <p:nvSpPr>
          <p:cNvPr id="2052" name="AutoShape 4" descr="@冒险家的旅程か★&#10;png免抠素材 海报装饰元素 png透明背景素材 卡通素材  贴纸素材 标签素材 风扇 夏季风扇 强力风扇 吹风 吹凉"/>
          <p:cNvSpPr>
            <a:spLocks noChangeAspect="1" noChangeArrowheads="1"/>
          </p:cNvSpPr>
          <p:nvPr/>
        </p:nvSpPr>
        <p:spPr bwMode="auto">
          <a:xfrm>
            <a:off x="156528" y="283527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707958" y="1856740"/>
            <a:ext cx="6776720" cy="3400425"/>
            <a:chOff x="4263" y="2250"/>
            <a:chExt cx="10672" cy="5355"/>
          </a:xfrm>
        </p:grpSpPr>
        <p:pic>
          <p:nvPicPr>
            <p:cNvPr id="1026" name="Picture 2" descr="C:\Users\Administrator\Desktop\小红书\对外汉语战略搞钱计划\教学素材\图片\电脑.png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263" y="2250"/>
              <a:ext cx="10672" cy="5355"/>
            </a:xfrm>
            <a:prstGeom prst="rect">
              <a:avLst/>
            </a:prstGeom>
            <a:noFill/>
          </p:spPr>
        </p:pic>
        <p:sp>
          <p:nvSpPr>
            <p:cNvPr id="28" name="矩形 27"/>
            <p:cNvSpPr/>
            <p:nvPr/>
          </p:nvSpPr>
          <p:spPr>
            <a:xfrm>
              <a:off x="6063" y="2700"/>
              <a:ext cx="7088" cy="393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AF91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25065" y="740410"/>
            <a:ext cx="7294880" cy="650240"/>
            <a:chOff x="3302" y="3426"/>
            <a:chExt cx="10274" cy="632"/>
          </a:xfrm>
        </p:grpSpPr>
        <p:sp>
          <p:nvSpPr>
            <p:cNvPr id="9" name="圆角矩形 8"/>
            <p:cNvSpPr/>
            <p:nvPr/>
          </p:nvSpPr>
          <p:spPr>
            <a:xfrm>
              <a:off x="3424" y="3426"/>
              <a:ext cx="10152" cy="632"/>
            </a:xfrm>
            <a:prstGeom prst="roundRect">
              <a:avLst/>
            </a:prstGeom>
            <a:noFill/>
            <a:ln w="19050">
              <a:solidFill>
                <a:srgbClr val="CFB26F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7"/>
            <p:cNvSpPr txBox="1"/>
            <p:nvPr/>
          </p:nvSpPr>
          <p:spPr>
            <a:xfrm>
              <a:off x="3302" y="3514"/>
              <a:ext cx="10274" cy="4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400" b="1" dirty="0">
                  <a:solidFill>
                    <a:srgbClr val="CFB26F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说出第八课中有关饮食的词语</a:t>
              </a:r>
            </a:p>
          </p:txBody>
        </p:sp>
      </p:grpSp>
      <p:pic>
        <p:nvPicPr>
          <p:cNvPr id="30" name="图片 2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965" y="3834765"/>
            <a:ext cx="1261110" cy="121729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960" y="548830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CE7A77"/>
          </a:solidFill>
          <a:ln>
            <a:gradFill>
              <a:gsLst>
                <a:gs pos="0">
                  <a:srgbClr val="E19B93"/>
                </a:gs>
                <a:gs pos="100000">
                  <a:srgbClr val="C86E6E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60960" y="5490845"/>
            <a:ext cx="12094845" cy="852170"/>
          </a:xfrm>
          <a:prstGeom prst="roundRect">
            <a:avLst>
              <a:gd name="adj" fmla="val 47532"/>
            </a:avLst>
          </a:prstGeom>
          <a:solidFill>
            <a:srgbClr val="E2AE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60960" y="5490845"/>
            <a:ext cx="852170" cy="889000"/>
            <a:chOff x="584" y="3246"/>
            <a:chExt cx="1342" cy="1400"/>
          </a:xfrm>
        </p:grpSpPr>
        <p:sp>
          <p:nvSpPr>
            <p:cNvPr id="97" name="椭圆 96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E2AEAB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98" name="图片 97" descr="我卡通1压缩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" y="3308"/>
              <a:ext cx="1338" cy="1338"/>
            </a:xfrm>
            <a:prstGeom prst="rect">
              <a:avLst/>
            </a:prstGeom>
          </p:spPr>
        </p:pic>
      </p:grpSp>
      <p:sp>
        <p:nvSpPr>
          <p:cNvPr id="6" name="文本框 7"/>
          <p:cNvSpPr txBox="1"/>
          <p:nvPr/>
        </p:nvSpPr>
        <p:spPr>
          <a:xfrm>
            <a:off x="953135" y="5682615"/>
            <a:ext cx="11097895" cy="46037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蔬菜、粮食、果实、馒头</a:t>
            </a:r>
            <a:r>
              <a:rPr lang="en-US" altLang="zh-CN" sz="2400" b="1" dirty="0">
                <a:ln w="22225">
                  <a:noFill/>
                  <a:prstDash val="solid"/>
                </a:ln>
                <a:solidFill>
                  <a:schemeClr val="bg1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……</a:t>
            </a:r>
          </a:p>
        </p:txBody>
      </p:sp>
      <p:pic>
        <p:nvPicPr>
          <p:cNvPr id="7" name="图片 6" descr="C:\Users\ASUS\Desktop\鱼仔课件\2022.09.20-22课件8\图片\生词3\粮食.jpg粮食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851275" y="2142490"/>
            <a:ext cx="4500880" cy="2485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0833 0 L 0.922292 9.25926e-05 " pathEditMode="relative" rAng="0" ptsTypes="">
                                      <p:cBhvr>
                                        <p:cTn id="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100" y="10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/>
          <p:cNvGrpSpPr/>
          <p:nvPr/>
        </p:nvGrpSpPr>
        <p:grpSpPr>
          <a:xfrm>
            <a:off x="953453" y="416935"/>
            <a:ext cx="10285095" cy="4973955"/>
            <a:chOff x="-3513638" y="334832"/>
            <a:chExt cx="10285095" cy="4973955"/>
          </a:xfrm>
        </p:grpSpPr>
        <p:sp>
          <p:nvSpPr>
            <p:cNvPr id="73" name="文本框 72"/>
            <p:cNvSpPr txBox="1"/>
            <p:nvPr/>
          </p:nvSpPr>
          <p:spPr>
            <a:xfrm>
              <a:off x="-3513638" y="1062542"/>
              <a:ext cx="9344660" cy="424624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A80023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成语有固定的结构;成语的意思不是每个字的意思的简单相加，而是这些字综合起来表达一个完整的意思。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相处久了，彼此居然可以从表情、声音和行为举止中了解对方的意思。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一个普通的家庭财产不多，哪有那么大的财力满足一群猴子对食物的长期需要呢?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它们如果得不到好的待遇，就会像一群调皮的孩子，经常跟人淘气。它们觉得吃了亏，会跳来跳去，对着老人大叫大喊地发脾气。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在其他粮食不足的情况下，用花生喂猴子倒是个办法。</a:t>
              </a:r>
            </a:p>
            <a:p>
              <a:pPr marL="457200" indent="-457200" algn="l" fontAlgn="auto">
                <a:lnSpc>
                  <a:spcPct val="150000"/>
                </a:lnSpc>
                <a:buAutoNum type="arabicPeriod"/>
              </a:pPr>
              <a:r>
                <a:rPr lang="zh-CN" altLang="en-US" sz="20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  <a:cs typeface="思源黑体 CN Regular" panose="020B0500000000000000" pitchFamily="34" charset="-122"/>
                  <a:sym typeface="华文楷体" panose="02010600040101010101" charset="-122"/>
                </a:rPr>
                <a:t>要不就改成早上四颗，晚上三颗，这样总够了吧?</a:t>
              </a:r>
            </a:p>
          </p:txBody>
        </p:sp>
        <p:pic>
          <p:nvPicPr>
            <p:cNvPr id="74" name="图片 73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5143317" y="334832"/>
              <a:ext cx="1628140" cy="1628140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718560" y="386080"/>
            <a:ext cx="4754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noProof="0" dirty="0">
                <a:ln>
                  <a:noFill/>
                </a:ln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听写句子、复习重点词、复述课文</a:t>
            </a:r>
            <a:endParaRPr lang="zh-CN" altLang="en-US" sz="240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思源黑体 CN Regular" panose="020B0500000000000000" pitchFamily="34" charset="-122"/>
              <a:sym typeface="+mn-ea"/>
            </a:endParaRPr>
          </a:p>
        </p:txBody>
      </p:sp>
      <p:sp>
        <p:nvSpPr>
          <p:cNvPr id="24" name="文本框 7"/>
          <p:cNvSpPr txBox="1"/>
          <p:nvPr/>
        </p:nvSpPr>
        <p:spPr>
          <a:xfrm>
            <a:off x="166805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复习</a:t>
            </a:r>
          </a:p>
        </p:txBody>
      </p:sp>
      <p:sp>
        <p:nvSpPr>
          <p:cNvPr id="25" name="文本框 7"/>
          <p:cNvSpPr txBox="1"/>
          <p:nvPr/>
        </p:nvSpPr>
        <p:spPr>
          <a:xfrm>
            <a:off x="238243" y="702214"/>
            <a:ext cx="87630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Review</a:t>
            </a:r>
          </a:p>
        </p:txBody>
      </p:sp>
      <p:pic>
        <p:nvPicPr>
          <p:cNvPr id="2" name="图片 1" descr="站起来的猴子1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360000">
            <a:off x="9881870" y="4171315"/>
            <a:ext cx="2245360" cy="24307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94893" y="-493395"/>
            <a:ext cx="4788873" cy="2945130"/>
            <a:chOff x="9146" y="6028"/>
            <a:chExt cx="6716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146" y="8673"/>
              <a:ext cx="671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你喜欢去什么样的饭店吃饭呢？</a:t>
              </a:r>
            </a:p>
          </p:txBody>
        </p:sp>
      </p:grpSp>
      <p:sp>
        <p:nvSpPr>
          <p:cNvPr id="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5" name="Picture 6" descr="pasted-image.png"/>
          <p:cNvPicPr>
            <a:picLocks noChangeAspect="1"/>
          </p:cNvPicPr>
          <p:nvPr/>
        </p:nvPicPr>
        <p:blipFill>
          <a:blip r:embed="rId6"/>
          <a:srcRect b="4980"/>
          <a:stretch>
            <a:fillRect/>
          </a:stretch>
        </p:blipFill>
        <p:spPr>
          <a:xfrm>
            <a:off x="1324610" y="1970405"/>
            <a:ext cx="5627370" cy="315595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1\1近代.jpg1近代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01628" y="1839806"/>
            <a:ext cx="2654300" cy="3240534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485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近代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479672" y="1157303"/>
            <a:ext cx="176530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jìn dài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058035" y="2964815"/>
            <a:ext cx="2995295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modern times (referring to the period</a:t>
            </a:r>
          </a:p>
          <a:p>
            <a:pPr algn="l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   between mid-19th century and 1919</a:t>
            </a:r>
          </a:p>
          <a:p>
            <a:pPr algn="l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   in Chinese history)</a:t>
            </a:r>
          </a:p>
        </p:txBody>
      </p:sp>
      <p:sp>
        <p:nvSpPr>
          <p:cNvPr id="2" name="矩形 1"/>
          <p:cNvSpPr/>
          <p:nvPr/>
        </p:nvSpPr>
        <p:spPr>
          <a:xfrm>
            <a:off x="4332605" y="1307465"/>
            <a:ext cx="4423410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（</a:t>
            </a:r>
            <a:r>
              <a:rPr lang="en-US" altLang="zh-CN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1840</a:t>
            </a:r>
            <a:r>
              <a:rPr lang="zh-CN" altLang="en-US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年</a:t>
            </a:r>
            <a:r>
              <a:rPr lang="en-US" altLang="zh-CN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-1919</a:t>
            </a:r>
            <a:r>
              <a:rPr lang="zh-CN" altLang="en-US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年）</a:t>
            </a:r>
            <a:r>
              <a:rPr lang="en-US" altLang="zh-CN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19</a:t>
            </a:r>
            <a:r>
              <a:rPr lang="zh-CN" altLang="en-US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世纪中叶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1\2时尚.jpg2时尚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3105" y="1925955"/>
            <a:ext cx="3528060" cy="292227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104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时尚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4372" y="1157303"/>
            <a:ext cx="264795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shí shàng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9133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fashion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60600" y="3676015"/>
            <a:ext cx="2776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这群女孩穿着很</a:t>
            </a:r>
            <a:r>
              <a:rPr lang="zh-CN" altLang="en-US" sz="2000">
                <a:solidFill>
                  <a:srgbClr val="FF0000"/>
                </a:solidFill>
              </a:rPr>
              <a:t>时尚</a:t>
            </a:r>
            <a:r>
              <a:rPr lang="en-US" altLang="zh-CN" sz="2000"/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312035" y="4547870"/>
            <a:ext cx="3135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大家买衣服都喜欢追求</a:t>
            </a:r>
            <a:r>
              <a:rPr lang="zh-CN" altLang="en-US">
                <a:solidFill>
                  <a:srgbClr val="FF0000"/>
                </a:solidFill>
              </a:rPr>
              <a:t>时尚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564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讲究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4372" y="1157303"/>
            <a:ext cx="221170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jiǎng jiū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91335" y="2964815"/>
            <a:ext cx="48590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v./adj. to be particular about, to stress;</a:t>
            </a:r>
          </a:p>
          <a:p>
            <a:pPr algn="l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           exquisite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3860" y="1839595"/>
            <a:ext cx="2962275" cy="2512060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09140" y="4039235"/>
            <a:ext cx="3184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她是吃东西时</a:t>
            </a:r>
            <a:r>
              <a:rPr lang="zh-CN" altLang="en-US">
                <a:solidFill>
                  <a:srgbClr val="FF0000"/>
                </a:solidFill>
              </a:rPr>
              <a:t>讲究</a:t>
            </a:r>
            <a:r>
              <a:rPr lang="zh-CN" altLang="en-US"/>
              <a:t>食物健康</a:t>
            </a:r>
            <a:r>
              <a:rPr lang="en-US" altLang="zh-CN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209098" y="2071668"/>
            <a:ext cx="2493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highlight>
                  <a:srgbClr val="FFFF00"/>
                </a:highlight>
              </a:rPr>
              <a:t>多指注重，力求完美。</a:t>
            </a:r>
            <a:endParaRPr lang="vi-VN" altLang="zh-CN" dirty="0">
              <a:highlight>
                <a:srgbClr val="FFFF00"/>
              </a:highlight>
            </a:endParaRPr>
          </a:p>
          <a:p>
            <a:r>
              <a:rPr lang="vi-VN" altLang="zh-CN" dirty="0">
                <a:highlight>
                  <a:srgbClr val="FFFF00"/>
                </a:highlight>
              </a:rPr>
              <a:t>Chú trọng, cần hoàn mĩ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136140" y="4534535"/>
            <a:ext cx="3184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她是一个</a:t>
            </a:r>
            <a:r>
              <a:rPr lang="zh-CN" altLang="en-US">
                <a:solidFill>
                  <a:srgbClr val="FF0000"/>
                </a:solidFill>
              </a:rPr>
              <a:t>讲究</a:t>
            </a:r>
            <a:r>
              <a:rPr lang="zh-CN" altLang="en-US"/>
              <a:t>的人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1\4平均.jpg4平均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48120" y="1910715"/>
            <a:ext cx="3277235" cy="28829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019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平均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4372" y="1157303"/>
            <a:ext cx="232664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píng jūn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783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 average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30425" y="3906520"/>
            <a:ext cx="4700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这次考试</a:t>
            </a:r>
            <a:r>
              <a:rPr lang="en-US" altLang="zh-CN" sz="2000"/>
              <a:t>，</a:t>
            </a:r>
            <a:r>
              <a:rPr lang="zh-CN" altLang="en-US" sz="2000"/>
              <a:t>我们班的</a:t>
            </a:r>
            <a:r>
              <a:rPr lang="zh-CN" altLang="en-US" sz="2000">
                <a:solidFill>
                  <a:srgbClr val="FF0000"/>
                </a:solidFill>
              </a:rPr>
              <a:t>平均</a:t>
            </a:r>
            <a:r>
              <a:rPr lang="zh-CN" altLang="en-US" sz="2000"/>
              <a:t>分是</a:t>
            </a:r>
            <a:r>
              <a:rPr lang="en-US" altLang="zh-CN" sz="2000"/>
              <a:t>90</a:t>
            </a:r>
            <a:r>
              <a:rPr lang="zh-CN" altLang="en-US" sz="2000"/>
              <a:t>分</a:t>
            </a:r>
            <a:r>
              <a:rPr lang="en-US" altLang="zh-CN" sz="2000"/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130425" y="4500880"/>
            <a:ext cx="47009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请你把这个蛋糕</a:t>
            </a:r>
            <a:r>
              <a:rPr lang="zh-CN" altLang="en-US" sz="2000">
                <a:solidFill>
                  <a:srgbClr val="FF0000"/>
                </a:solidFill>
              </a:rPr>
              <a:t>平均</a:t>
            </a:r>
            <a:r>
              <a:rPr lang="zh-CN" altLang="en-US" sz="2000"/>
              <a:t>分成</a:t>
            </a:r>
            <a:r>
              <a:rPr lang="en-US" altLang="zh-CN" sz="2000"/>
              <a:t>2</a:t>
            </a:r>
            <a:r>
              <a:rPr lang="zh-CN" altLang="en-US" sz="2000"/>
              <a:t>份</a:t>
            </a:r>
            <a:r>
              <a:rPr lang="en-US" altLang="zh-CN" sz="2000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1\5豪华.jpg5豪华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27370" y="1157605"/>
            <a:ext cx="4820285" cy="302450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019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豪华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4372" y="1157303"/>
            <a:ext cx="247332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háo huá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783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 luxurious, lavish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93595" y="3718560"/>
            <a:ext cx="19824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豪华餐厅</a:t>
            </a:r>
          </a:p>
          <a:p>
            <a:r>
              <a:rPr lang="zh-CN" altLang="en-US" sz="2000"/>
              <a:t>豪华邮轮</a:t>
            </a:r>
          </a:p>
        </p:txBody>
      </p:sp>
      <p:pic>
        <p:nvPicPr>
          <p:cNvPr id="9" name="图片 8"/>
          <p:cNvPicPr/>
          <p:nvPr/>
        </p:nvPicPr>
        <p:blipFill>
          <a:blip r:embed="rId6"/>
          <a:stretch>
            <a:fillRect/>
          </a:stretch>
        </p:blipFill>
        <p:spPr>
          <a:xfrm>
            <a:off x="5496560" y="1406525"/>
            <a:ext cx="3717925" cy="3926840"/>
          </a:xfrm>
          <a:prstGeom prst="rect">
            <a:avLst/>
          </a:prstGeom>
        </p:spPr>
      </p:pic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485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光临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4372" y="1157303"/>
            <a:ext cx="270129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guāng lín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307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visit, to frequent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500" y="1839595"/>
            <a:ext cx="2882900" cy="258381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86660" y="3662045"/>
            <a:ext cx="39084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/>
              <a:t>欢迎</a:t>
            </a:r>
            <a:r>
              <a:rPr lang="zh-CN" altLang="en-US" sz="2400">
                <a:solidFill>
                  <a:srgbClr val="FF0000"/>
                </a:solidFill>
              </a:rPr>
              <a:t>光临</a:t>
            </a:r>
            <a:r>
              <a:rPr lang="zh-CN" altLang="en-US" sz="2400"/>
              <a:t>本店</a:t>
            </a:r>
            <a:r>
              <a:rPr lang="en-US" altLang="zh-CN" sz="2400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1\7交际.jpg7交际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46800" y="2022475"/>
            <a:ext cx="3704590" cy="27559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485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交际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593972" y="1157303"/>
            <a:ext cx="152082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jiāo jì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942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social contact, communication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00250" y="3980180"/>
            <a:ext cx="3703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tx1"/>
                </a:solidFill>
              </a:rPr>
              <a:t>我们要提高自己的汉语</a:t>
            </a:r>
            <a:r>
              <a:rPr lang="zh-CN" altLang="en-US">
                <a:solidFill>
                  <a:srgbClr val="FF0000"/>
                </a:solidFill>
              </a:rPr>
              <a:t>交际</a:t>
            </a:r>
            <a:r>
              <a:rPr lang="zh-CN" altLang="en-US">
                <a:solidFill>
                  <a:schemeClr val="tx1"/>
                </a:solidFill>
              </a:rPr>
              <a:t>能力</a:t>
            </a:r>
            <a:r>
              <a:rPr lang="en-US" altLang="zh-CN"/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15490" y="4657090"/>
            <a:ext cx="4339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我们要多</a:t>
            </a:r>
            <a:r>
              <a:rPr lang="zh-CN" altLang="en-US">
                <a:solidFill>
                  <a:srgbClr val="FF0000"/>
                </a:solidFill>
              </a:rPr>
              <a:t>交际</a:t>
            </a:r>
            <a:r>
              <a:rPr lang="en-US" altLang="zh-CN"/>
              <a:t>，</a:t>
            </a:r>
            <a:r>
              <a:rPr lang="zh-CN" altLang="en-US"/>
              <a:t>这样才能交到更多朋友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736090" y="138430"/>
            <a:ext cx="2200275" cy="3194050"/>
            <a:chOff x="1486086" y="120403"/>
            <a:chExt cx="2200089" cy="3194297"/>
          </a:xfrm>
        </p:grpSpPr>
        <p:sp>
          <p:nvSpPr>
            <p:cNvPr id="44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8374380" y="165100"/>
            <a:ext cx="2200275" cy="3194050"/>
            <a:chOff x="1486086" y="120403"/>
            <a:chExt cx="2200089" cy="3194297"/>
          </a:xfrm>
        </p:grpSpPr>
        <p:sp>
          <p:nvSpPr>
            <p:cNvPr id="5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5026660" y="127635"/>
            <a:ext cx="2200275" cy="3194050"/>
            <a:chOff x="1486086" y="120403"/>
            <a:chExt cx="2200089" cy="3194297"/>
          </a:xfrm>
        </p:grpSpPr>
        <p:sp>
          <p:nvSpPr>
            <p:cNvPr id="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302260" y="3610610"/>
            <a:ext cx="2200275" cy="3194050"/>
            <a:chOff x="1486086" y="120403"/>
            <a:chExt cx="2200089" cy="3194297"/>
          </a:xfrm>
        </p:grpSpPr>
        <p:sp>
          <p:nvSpPr>
            <p:cNvPr id="27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3710305" y="3570605"/>
            <a:ext cx="2200275" cy="3194050"/>
            <a:chOff x="1486086" y="120403"/>
            <a:chExt cx="2200089" cy="3194297"/>
          </a:xfrm>
        </p:grpSpPr>
        <p:sp>
          <p:nvSpPr>
            <p:cNvPr id="1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6557010" y="3628390"/>
            <a:ext cx="2200275" cy="3194050"/>
            <a:chOff x="1486086" y="120403"/>
            <a:chExt cx="2200089" cy="3194297"/>
          </a:xfrm>
        </p:grpSpPr>
        <p:sp>
          <p:nvSpPr>
            <p:cNvPr id="22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9841865" y="3646170"/>
            <a:ext cx="2200275" cy="3194050"/>
            <a:chOff x="1486086" y="120403"/>
            <a:chExt cx="2200089" cy="3194297"/>
          </a:xfrm>
        </p:grpSpPr>
        <p:sp>
          <p:nvSpPr>
            <p:cNvPr id="33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1767202" y="110078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近代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071107" y="110078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时尚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345167" y="110078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讲究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30197" y="458185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平均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693157" y="458185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豪华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6584947" y="458185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光临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9869802" y="458185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交际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0" grpId="0"/>
      <p:bldP spid="40" grpId="0"/>
      <p:bldP spid="41" grpId="0"/>
      <p:bldP spid="42" grpId="0"/>
      <p:bldP spid="4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ASUS\Desktop\鱼仔课件\2022.09.20-22课件9\图片\时尚.jpg时尚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图片 2" descr="C:\Users\ASUS\Desktop\鱼仔课件\2022.09.20-22课件9\图片\时尚1.jpg时尚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3060" y="0"/>
            <a:ext cx="254444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文本框 12"/>
          <p:cNvSpPr txBox="1"/>
          <p:nvPr/>
        </p:nvSpPr>
        <p:spPr>
          <a:xfrm>
            <a:off x="-13648" y="1555845"/>
            <a:ext cx="3248166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请用前面学过的</a:t>
            </a: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个词编一个故事</a:t>
            </a:r>
          </a:p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（开头已给出）</a:t>
            </a: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ASUS\Desktop\鱼仔课件\2022.09.20-22课件9\图片\时尚.jpg时尚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图片 1" descr="C:\Users\ASUS\Desktop\鱼仔课件\2022.09.20-22课件9\图片\时尚1.jpg时尚1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143367" y="0"/>
            <a:ext cx="2544445" cy="6857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图片 33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-13335" y="1555750"/>
            <a:ext cx="77825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eaLnBrk="1">
              <a:lnSpc>
                <a:spcPct val="100000"/>
              </a:lnSpc>
              <a:buClrTx/>
              <a:buSzTx/>
              <a:buNone/>
            </a:pP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近代中国，有一种新的时尚</a:t>
            </a:r>
            <a:r>
              <a:rPr lang="en-US" altLang="zh-CN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,</a:t>
            </a:r>
            <a:r>
              <a:rPr lang="zh-CN" altLang="en-US" sz="4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……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791450" y="1207770"/>
            <a:ext cx="3248025" cy="4763770"/>
            <a:chOff x="12270" y="1902"/>
            <a:chExt cx="5115" cy="7502"/>
          </a:xfrm>
        </p:grpSpPr>
        <p:sp>
          <p:nvSpPr>
            <p:cNvPr id="4" name="圆角矩形 3"/>
            <p:cNvSpPr/>
            <p:nvPr/>
          </p:nvSpPr>
          <p:spPr>
            <a:xfrm>
              <a:off x="13602" y="1902"/>
              <a:ext cx="2587" cy="7502"/>
            </a:xfrm>
            <a:prstGeom prst="roundRect">
              <a:avLst/>
            </a:prstGeom>
            <a:solidFill>
              <a:schemeClr val="bg1">
                <a:alpha val="5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2270" y="2224"/>
              <a:ext cx="5115" cy="69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近代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时尚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讲究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平均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豪华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光临</a:t>
              </a:r>
            </a:p>
            <a:p>
              <a:pPr algn="ctr"/>
              <a:r>
                <a:rPr lang="zh-CN" altLang="en-US" sz="4000" b="1" dirty="0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交际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2\1表现.jpg1表现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61710" y="2116455"/>
            <a:ext cx="3953510" cy="25984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104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表现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4372" y="1157303"/>
            <a:ext cx="266509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biǎo xiàn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783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v./n. to show, to display; manifestation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11375" y="3872865"/>
            <a:ext cx="3526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她经常上课举手发言</a:t>
            </a:r>
            <a:r>
              <a:rPr lang="en-US" altLang="zh-CN"/>
              <a:t>，</a:t>
            </a:r>
            <a:r>
              <a:rPr lang="zh-CN" altLang="en-US">
                <a:solidFill>
                  <a:srgbClr val="FF0000"/>
                </a:solidFill>
              </a:rPr>
              <a:t>表现</a:t>
            </a:r>
            <a:r>
              <a:rPr lang="zh-CN" altLang="en-US"/>
              <a:t>得很积极</a:t>
            </a:r>
            <a:r>
              <a:rPr lang="en-US" altLang="zh-CN"/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10435" y="4676775"/>
            <a:ext cx="35267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妈妈夸小明今天</a:t>
            </a:r>
            <a:r>
              <a:rPr lang="zh-CN" altLang="en-US">
                <a:solidFill>
                  <a:srgbClr val="FF0000"/>
                </a:solidFill>
              </a:rPr>
              <a:t>表现</a:t>
            </a:r>
            <a:r>
              <a:rPr lang="zh-CN" altLang="en-US"/>
              <a:t>很好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2\2突出.jpg2突出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84365" y="1925955"/>
            <a:ext cx="2814955" cy="308546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104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突出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78072" y="1157303"/>
            <a:ext cx="189357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tū chū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85620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 prominent, salient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30120" y="3759835"/>
            <a:ext cx="3714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小明上课的时候表现</a:t>
            </a:r>
            <a:r>
              <a:rPr lang="zh-CN" altLang="en-US">
                <a:solidFill>
                  <a:srgbClr val="FF0000"/>
                </a:solidFill>
              </a:rPr>
              <a:t>突出</a:t>
            </a:r>
            <a:r>
              <a:rPr lang="en-US" altLang="zh-CN"/>
              <a:t>，</a:t>
            </a:r>
            <a:r>
              <a:rPr lang="zh-CN" altLang="en-US"/>
              <a:t>受到了老师的赞美</a:t>
            </a:r>
            <a:r>
              <a:rPr lang="en-US" altLang="zh-CN"/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09825" y="4695190"/>
            <a:ext cx="2403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她能力</a:t>
            </a:r>
            <a:r>
              <a:rPr lang="zh-CN" altLang="en-US">
                <a:solidFill>
                  <a:srgbClr val="FF0000"/>
                </a:solidFill>
              </a:rPr>
              <a:t>突出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2\3文学家.jpg3文学家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74230" y="1839595"/>
            <a:ext cx="2602230" cy="32581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727832" y="1839293"/>
            <a:ext cx="323469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文学家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08172" y="1157303"/>
            <a:ext cx="292925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wénxuéjiā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writer, man of letters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072005" y="4076065"/>
            <a:ext cx="29508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鲁迅是中国有名的</a:t>
            </a:r>
            <a:r>
              <a:rPr lang="zh-CN" altLang="en-US">
                <a:solidFill>
                  <a:srgbClr val="FF0000"/>
                </a:solidFill>
              </a:rPr>
              <a:t>文学家</a:t>
            </a:r>
            <a:r>
              <a:rPr lang="en-US" altLang="zh-CN"/>
              <a:t>，</a:t>
            </a:r>
            <a:r>
              <a:rPr lang="zh-CN" altLang="en-US"/>
              <a:t>写了许多著名的文章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40632" y="1839293"/>
            <a:ext cx="120015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算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416172" y="1157303"/>
            <a:ext cx="146177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suàn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783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regard as, to count as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0365" y="1763395"/>
            <a:ext cx="3251200" cy="340550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29155" y="3874770"/>
            <a:ext cx="33254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算数</a:t>
            </a:r>
          </a:p>
          <a:p>
            <a:r>
              <a:rPr lang="zh-CN" altLang="en-US"/>
              <a:t>计算</a:t>
            </a:r>
          </a:p>
          <a:p>
            <a:r>
              <a:rPr lang="zh-CN" altLang="en-US"/>
              <a:t>算了</a:t>
            </a:r>
          </a:p>
          <a:p>
            <a:endParaRPr lang="zh-CN" altLang="en-US"/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C:\Users\ASUS\Desktop\鱼仔课件\2022.09.20-22课件9\图片\生词2\5地道.jpg5地道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0" y="2022475"/>
            <a:ext cx="4074160" cy="28346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地道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416172" y="1157303"/>
            <a:ext cx="194754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dì dao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 true, genuine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956435" y="3630295"/>
            <a:ext cx="2995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你的中文说的很</a:t>
            </a:r>
            <a:r>
              <a:rPr lang="zh-CN" altLang="en-US">
                <a:solidFill>
                  <a:srgbClr val="FF0000"/>
                </a:solidFill>
              </a:rPr>
              <a:t>地道</a:t>
            </a:r>
            <a:r>
              <a:rPr lang="en-US" altLang="zh-CN"/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083435" y="4183380"/>
            <a:ext cx="29952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你这个表达非常</a:t>
            </a:r>
            <a:r>
              <a:rPr lang="zh-CN" altLang="en-US">
                <a:solidFill>
                  <a:srgbClr val="FF0000"/>
                </a:solidFill>
              </a:rPr>
              <a:t>地道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行家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41547" y="1157303"/>
            <a:ext cx="236918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háng jia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expert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5870" y="2022475"/>
            <a:ext cx="3451225" cy="3052445"/>
          </a:xfrm>
          <a:prstGeom prst="round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32380" y="3615055"/>
            <a:ext cx="2663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她是美食领域的</a:t>
            </a:r>
            <a:r>
              <a:rPr lang="zh-CN" altLang="en-US">
                <a:solidFill>
                  <a:srgbClr val="FF0000"/>
                </a:solidFill>
              </a:rPr>
              <a:t>行家</a:t>
            </a:r>
            <a:r>
              <a:rPr lang="en-US" altLang="zh-CN"/>
              <a:t>。</a:t>
            </a:r>
          </a:p>
        </p:txBody>
      </p:sp>
      <p:sp>
        <p:nvSpPr>
          <p:cNvPr id="10" name="矩形 9"/>
          <p:cNvSpPr/>
          <p:nvPr/>
        </p:nvSpPr>
        <p:spPr>
          <a:xfrm>
            <a:off x="5955030" y="1623695"/>
            <a:ext cx="221996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0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某个领域厉害的人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亲自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581272" y="1157303"/>
            <a:ext cx="150558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qīn zì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adv. personally, in person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2660" y="1839595"/>
            <a:ext cx="3887470" cy="330898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72005" y="3816985"/>
            <a:ext cx="3785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今天小明生日</a:t>
            </a:r>
            <a:r>
              <a:rPr lang="en-US" altLang="zh-CN"/>
              <a:t>，</a:t>
            </a:r>
            <a:r>
              <a:rPr lang="zh-CN" altLang="en-US"/>
              <a:t>他朋友们</a:t>
            </a:r>
            <a:r>
              <a:rPr lang="zh-CN" altLang="en-US">
                <a:solidFill>
                  <a:srgbClr val="FF0000"/>
                </a:solidFill>
              </a:rPr>
              <a:t>亲自</a:t>
            </a:r>
            <a:r>
              <a:rPr lang="zh-CN" altLang="en-US"/>
              <a:t>做了蛋糕为他庆祝</a:t>
            </a:r>
            <a:r>
              <a:rPr lang="en-US" altLang="zh-CN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171065" y="4725035"/>
            <a:ext cx="3785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老师亲自</a:t>
            </a:r>
            <a:r>
              <a:rPr lang="zh-CN" altLang="en-US">
                <a:solidFill>
                  <a:srgbClr val="FF0000"/>
                </a:solidFill>
              </a:rPr>
              <a:t>示范</a:t>
            </a:r>
            <a:r>
              <a:rPr lang="zh-CN" altLang="en-US"/>
              <a:t>如何使用字典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736090" y="138430"/>
            <a:ext cx="2200275" cy="3194050"/>
            <a:chOff x="1486086" y="120403"/>
            <a:chExt cx="2200089" cy="3194297"/>
          </a:xfrm>
        </p:grpSpPr>
        <p:sp>
          <p:nvSpPr>
            <p:cNvPr id="44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8374380" y="165100"/>
            <a:ext cx="2200275" cy="3194050"/>
            <a:chOff x="1486086" y="120403"/>
            <a:chExt cx="2200089" cy="3194297"/>
          </a:xfrm>
        </p:grpSpPr>
        <p:sp>
          <p:nvSpPr>
            <p:cNvPr id="5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5026660" y="127635"/>
            <a:ext cx="2200275" cy="3194050"/>
            <a:chOff x="1486086" y="120403"/>
            <a:chExt cx="2200089" cy="3194297"/>
          </a:xfrm>
        </p:grpSpPr>
        <p:sp>
          <p:nvSpPr>
            <p:cNvPr id="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302260" y="3610610"/>
            <a:ext cx="2200275" cy="3194050"/>
            <a:chOff x="1486086" y="120403"/>
            <a:chExt cx="2200089" cy="3194297"/>
          </a:xfrm>
        </p:grpSpPr>
        <p:sp>
          <p:nvSpPr>
            <p:cNvPr id="27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3587115" y="3628390"/>
            <a:ext cx="2200275" cy="3194050"/>
            <a:chOff x="1486086" y="120403"/>
            <a:chExt cx="2200089" cy="3194297"/>
          </a:xfrm>
        </p:grpSpPr>
        <p:sp>
          <p:nvSpPr>
            <p:cNvPr id="1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6557010" y="3628390"/>
            <a:ext cx="2200275" cy="3194050"/>
            <a:chOff x="1486086" y="120403"/>
            <a:chExt cx="2200089" cy="3194297"/>
          </a:xfrm>
        </p:grpSpPr>
        <p:sp>
          <p:nvSpPr>
            <p:cNvPr id="22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9841865" y="3646170"/>
            <a:ext cx="2200275" cy="3194050"/>
            <a:chOff x="1486086" y="120403"/>
            <a:chExt cx="2200089" cy="3194297"/>
          </a:xfrm>
        </p:grpSpPr>
        <p:sp>
          <p:nvSpPr>
            <p:cNvPr id="33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/>
        </p:nvSpPr>
        <p:spPr>
          <a:xfrm>
            <a:off x="1767202" y="124112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表现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5057137" y="124112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突出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8004172" y="1241123"/>
            <a:ext cx="323469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文学家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802637" y="4581858"/>
            <a:ext cx="120015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算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3615052" y="458185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地道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6584947" y="458185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行家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9869802" y="4581858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亲自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6" grpId="0"/>
      <p:bldP spid="47" grpId="0"/>
      <p:bldP spid="4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105336"/>
            <a:chOff x="7787" y="3144"/>
            <a:chExt cx="5660" cy="2342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61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亲自</a:t>
              </a:r>
              <a:r>
                <a:rPr lang="en-US" altLang="zh-CN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/</a:t>
              </a:r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自己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表示</a:t>
              </a:r>
              <a:r>
                <a:rPr lang="zh-CN" altLang="en-US" sz="2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本人</a:t>
              </a:r>
              <a:endParaRPr lang="vi-VN" altLang="zh-CN" sz="20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Biểu thị bản thân</a:t>
              </a:r>
            </a:p>
            <a:p>
              <a:pPr algn="ctr" fontAlgn="ctr"/>
              <a:endParaRPr lang="zh-CN" altLang="en-US" sz="20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9521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鲁迅不但会吃，还会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亲自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/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自己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动手做。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21180000">
            <a:off x="-92075" y="1915795"/>
            <a:ext cx="2141220" cy="20878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93415"/>
            <a:ext cx="2837180" cy="2413675"/>
            <a:chOff x="7787" y="3144"/>
            <a:chExt cx="5660" cy="268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261"/>
              <a:ext cx="566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亲自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副词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，主语和动词之间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Phó từ: đứng giữa chủ ngữ và động từ</a:t>
              </a: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Dịch: đích thân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9521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老人总是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亲自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喂养他的猴子。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90055" y="3527425"/>
            <a:ext cx="1165860" cy="163766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34983"/>
            <a:ext cx="2837180" cy="2615938"/>
            <a:chOff x="7787" y="3079"/>
            <a:chExt cx="5660" cy="291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079"/>
              <a:ext cx="5660" cy="2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自己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代词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，可做主语、宾语、定语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Đại từ: có thể làm chủ ngữ, tân ngữ, định ngữ</a:t>
              </a: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Tự bản thân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9521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请大家带好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自己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的资料。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3560" y="3134995"/>
            <a:ext cx="1494790" cy="14516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34983"/>
            <a:ext cx="2837180" cy="2308498"/>
            <a:chOff x="7787" y="3079"/>
            <a:chExt cx="5660" cy="2568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079"/>
              <a:ext cx="5660" cy="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亲自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用于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身份地位较高的人，或平时不常做的事</a:t>
              </a:r>
              <a:endParaRPr lang="vi-VN" altLang="zh-CN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Thân phận cao: đích thân( sếp, lãnh đạo)</a:t>
              </a:r>
              <a:endParaRPr lang="zh-CN" altLang="en-US" sz="2000" b="1" kern="1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9521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这份礼物是市长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亲自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为生病的小女孩儿做的。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 rot="21060000">
            <a:off x="4203700" y="3761105"/>
            <a:ext cx="1266825" cy="15786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88780" y="3134983"/>
            <a:ext cx="2837180" cy="2924277"/>
            <a:chOff x="7787" y="3079"/>
            <a:chExt cx="5660" cy="3253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74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87" y="3079"/>
              <a:ext cx="5660" cy="32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自己</a:t>
              </a:r>
            </a:p>
            <a:p>
              <a:pPr algn="ctr" fontAlgn="ctr"/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强调动作的完成者是</a:t>
              </a:r>
              <a:r>
                <a:rPr lang="zh-CN" altLang="en-US" sz="2000" b="1" kern="100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本人</a:t>
              </a:r>
              <a:r>
                <a:rPr lang="zh-CN" altLang="en-US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，不是别人</a:t>
              </a:r>
              <a:endParaRPr lang="vi-VN" altLang="zh-CN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r>
                <a:rPr lang="vi-VN" altLang="zh-CN" sz="2000" b="1" kern="100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Nhấn mạnh hành động hoàn thành hặc bản thân, không phải người khác( tự)</a:t>
              </a:r>
              <a:endParaRPr lang="zh-CN" altLang="en-US" sz="2000" b="1" kern="1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9521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40"/>
              <a:ext cx="13446" cy="9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eaLnBrk="1" fontAlgn="base"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你应该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自己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努力学习，不能总是靠别人。</a:t>
              </a: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05730" y="1574800"/>
            <a:ext cx="2117725" cy="17183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1101090" y="1985010"/>
          <a:ext cx="9862185" cy="3717925"/>
        </p:xfrm>
        <a:graphic>
          <a:graphicData uri="http://schemas.openxmlformats.org/drawingml/2006/table">
            <a:tbl>
              <a:tblPr/>
              <a:tblGrid>
                <a:gridCol w="7614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6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1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422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solidFill>
                          <a:srgbClr val="FFFFFF"/>
                        </a:solidFill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solidFill>
                          <a:srgbClr val="FFFFFF"/>
                        </a:solidFill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solidFill>
                          <a:srgbClr val="FFFFFF"/>
                        </a:solidFill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58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31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22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358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sym typeface="Calibri" panose="020F0502020204030204" charset="0"/>
                        </a:defRPr>
                      </a:lvl1pPr>
                      <a:lvl2pPr marL="0" lvl="1" indent="4572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2pPr>
                      <a:lvl3pPr marL="0" lvl="2" indent="9144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3pPr>
                      <a:lvl4pPr marL="0" lvl="3" indent="1371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4pPr>
                      <a:lvl5pPr marL="0" lvl="4" indent="1828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+mn-ea"/>
                          <a:cs typeface="+mn-cs"/>
                          <a:sym typeface="Calibri" panose="020F0502020204030204" charset="0"/>
                        </a:defRPr>
                      </a:lvl5pPr>
                    </a:lstStyle>
                    <a:p>
                      <a:pPr lvl="0" algn="ctr" eaLnBrk="1" hangingPunct="1">
                        <a:buNone/>
                      </a:pPr>
                      <a:endParaRPr lang="zh-CN" altLang="en-US" b="1">
                        <a:effectLst>
                          <a:outerShdw blurRad="50800" dist="38100" dir="13500000" algn="br" rotWithShape="0">
                            <a:prstClr val="black">
                              <a:alpha val="40000"/>
                            </a:prstClr>
                          </a:outerShdw>
                        </a:effectLst>
                        <a:latin typeface="Calibri" panose="020F0502020204030204" charset="0"/>
                      </a:endParaRPr>
                    </a:p>
                  </a:txBody>
                  <a:tcPr marL="45720" marR="45720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8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8" name="Shape 198"/>
          <p:cNvSpPr/>
          <p:nvPr/>
        </p:nvSpPr>
        <p:spPr>
          <a:xfrm>
            <a:off x="1291590" y="2907665"/>
            <a:ext cx="727075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1.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这是你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      </a:t>
            </a:r>
            <a:r>
              <a:rPr lang="en-US"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的</a:t>
            </a:r>
            <a:r>
              <a:rPr lang="zh-CN" b="1" kern="0" noProof="0">
                <a:ln>
                  <a:noFill/>
                </a:ln>
                <a:effectLst/>
                <a:uLnTx/>
                <a:uFillTx/>
                <a:sym typeface="+mn-ea"/>
              </a:rPr>
              <a:t>事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，应该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  </a:t>
            </a:r>
            <a:r>
              <a:rPr lang="en-US"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  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   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做。</a:t>
            </a:r>
          </a:p>
        </p:txBody>
      </p:sp>
      <p:sp>
        <p:nvSpPr>
          <p:cNvPr id="199" name="Shape 199"/>
          <p:cNvSpPr/>
          <p:nvPr/>
        </p:nvSpPr>
        <p:spPr>
          <a:xfrm>
            <a:off x="8945245" y="2143760"/>
            <a:ext cx="64135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>
            <a:lvl1pPr>
              <a:defRPr sz="2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亲自</a:t>
            </a:r>
          </a:p>
        </p:txBody>
      </p:sp>
      <p:sp>
        <p:nvSpPr>
          <p:cNvPr id="200" name="Shape 200"/>
          <p:cNvSpPr/>
          <p:nvPr/>
        </p:nvSpPr>
        <p:spPr>
          <a:xfrm>
            <a:off x="9994265" y="2143760"/>
            <a:ext cx="80264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>
            <a:lvl1pPr>
              <a:defRPr sz="2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自己</a:t>
            </a:r>
          </a:p>
        </p:txBody>
      </p:sp>
      <p:sp>
        <p:nvSpPr>
          <p:cNvPr id="201" name="Shape 201"/>
          <p:cNvSpPr/>
          <p:nvPr/>
        </p:nvSpPr>
        <p:spPr>
          <a:xfrm>
            <a:off x="1288415" y="3657600"/>
            <a:ext cx="892810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2. </a:t>
            </a:r>
            <a:r>
              <a:rPr b="1" kern="0" noProof="0">
                <a:ln>
                  <a:noFill/>
                </a:ln>
                <a:effectLst/>
                <a:uLnTx/>
                <a:uFillTx/>
              </a:rPr>
              <a:t>今年我的业绩全公司第一，新年晚会上总裁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        </a:t>
            </a:r>
            <a:r>
              <a:rPr b="1" kern="0" noProof="0">
                <a:ln>
                  <a:noFill/>
                </a:ln>
                <a:effectLst/>
                <a:uLnTx/>
                <a:uFillTx/>
              </a:rPr>
              <a:t>给我发了奖金。</a:t>
            </a:r>
          </a:p>
        </p:txBody>
      </p:sp>
      <p:sp>
        <p:nvSpPr>
          <p:cNvPr id="202" name="Shape 202"/>
          <p:cNvSpPr/>
          <p:nvPr/>
        </p:nvSpPr>
        <p:spPr>
          <a:xfrm>
            <a:off x="1288415" y="4401185"/>
            <a:ext cx="760603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3.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希望您能</a:t>
            </a:r>
            <a:r>
              <a:rPr b="1" u="sng" kern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sym typeface="+mn-ea"/>
              </a:rPr>
              <a:t>         </a:t>
            </a:r>
            <a:r>
              <a:rPr b="1" kern="0" noProof="0">
                <a:ln>
                  <a:noFill/>
                </a:ln>
                <a:effectLst/>
                <a:uLnTx/>
                <a:uFillTx/>
                <a:sym typeface="+mn-ea"/>
              </a:rPr>
              <a:t>来参加这次活动。</a:t>
            </a:r>
          </a:p>
        </p:txBody>
      </p:sp>
      <p:sp>
        <p:nvSpPr>
          <p:cNvPr id="203" name="Shape 203"/>
          <p:cNvSpPr/>
          <p:nvPr/>
        </p:nvSpPr>
        <p:spPr>
          <a:xfrm>
            <a:off x="1294765" y="4968875"/>
            <a:ext cx="7599045" cy="706755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4.</a:t>
            </a:r>
            <a:r>
              <a:rPr kumimoji="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每个学生都有</a:t>
            </a:r>
            <a:r>
              <a:rPr kumimoji="0" b="1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    </a:t>
            </a:r>
            <a:r>
              <a:rPr kumimoji="0" lang="en-US" b="1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 </a:t>
            </a:r>
            <a:r>
              <a:rPr kumimoji="0" b="1" i="0" u="sng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   </a:t>
            </a:r>
            <a:r>
              <a:rPr kumimoji="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的性格特点和兴趣爱好，因此老师在教育</a:t>
            </a:r>
          </a:p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pPr>
            <a:r>
              <a:rPr kumimoji="0" b="1" i="0" strike="noStrike" kern="0" cap="none" spc="0" normalizeH="0" baseline="0" noProof="0">
                <a:ln>
                  <a:noFill/>
                </a:ln>
                <a:effectLst/>
                <a:uLnTx/>
                <a:uFillTx/>
              </a:rPr>
              <a:t>学生时应该注意选择合适的方法。</a:t>
            </a:r>
          </a:p>
        </p:txBody>
      </p:sp>
      <p:sp>
        <p:nvSpPr>
          <p:cNvPr id="3" name="Shape 199"/>
          <p:cNvSpPr/>
          <p:nvPr/>
        </p:nvSpPr>
        <p:spPr>
          <a:xfrm>
            <a:off x="4393565" y="2157730"/>
            <a:ext cx="1231900" cy="398780"/>
          </a:xfrm>
          <a:prstGeom prst="rect">
            <a:avLst/>
          </a:prstGeom>
          <a:ln w="12700">
            <a:miter lim="400000"/>
          </a:ln>
          <a:effectLst>
            <a:outerShdw blurRad="50800" dist="50800" dir="16200000" rotWithShape="0">
              <a:srgbClr val="FFFFFF">
                <a:alpha val="0"/>
              </a:srgbClr>
            </a:outerShdw>
          </a:effectLst>
        </p:spPr>
        <p:txBody>
          <a:bodyPr wrap="square" lIns="45719" rIns="45719">
            <a:spAutoFit/>
          </a:bodyPr>
          <a:lstStyle>
            <a:lvl1pPr>
              <a:defRPr sz="2000">
                <a:solidFill>
                  <a:srgbClr val="FFFFFF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华文细黑" panose="02010600040101010101" pitchFamily="2" charset="-122"/>
                <a:sym typeface="华文细黑" panose="02010600040101010101" pitchFamily="2" charset="-122"/>
              </a:rPr>
              <a:t>句子</a:t>
            </a:r>
          </a:p>
        </p:txBody>
      </p:sp>
      <p:grpSp>
        <p:nvGrpSpPr>
          <p:cNvPr id="70" name="小钩"/>
          <p:cNvGrpSpPr/>
          <p:nvPr/>
        </p:nvGrpSpPr>
        <p:grpSpPr>
          <a:xfrm>
            <a:off x="10073640" y="2813685"/>
            <a:ext cx="579755" cy="560070"/>
            <a:chOff x="677837" y="1446312"/>
            <a:chExt cx="633828" cy="612000"/>
          </a:xfrm>
        </p:grpSpPr>
        <p:sp>
          <p:nvSpPr>
            <p:cNvPr id="65" name="椭圆 64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67" name="图片 66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小钩"/>
          <p:cNvGrpSpPr/>
          <p:nvPr/>
        </p:nvGrpSpPr>
        <p:grpSpPr>
          <a:xfrm>
            <a:off x="8994775" y="3591560"/>
            <a:ext cx="579755" cy="560070"/>
            <a:chOff x="677837" y="1446312"/>
            <a:chExt cx="633828" cy="612000"/>
          </a:xfrm>
        </p:grpSpPr>
        <p:sp>
          <p:nvSpPr>
            <p:cNvPr id="6" name="椭圆 5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小钩"/>
          <p:cNvGrpSpPr/>
          <p:nvPr/>
        </p:nvGrpSpPr>
        <p:grpSpPr>
          <a:xfrm>
            <a:off x="9014460" y="4323715"/>
            <a:ext cx="579755" cy="560070"/>
            <a:chOff x="677837" y="1446312"/>
            <a:chExt cx="633828" cy="612000"/>
          </a:xfrm>
        </p:grpSpPr>
        <p:sp>
          <p:nvSpPr>
            <p:cNvPr id="9" name="椭圆 8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小钩"/>
          <p:cNvGrpSpPr/>
          <p:nvPr/>
        </p:nvGrpSpPr>
        <p:grpSpPr>
          <a:xfrm>
            <a:off x="10073640" y="5009515"/>
            <a:ext cx="579755" cy="560070"/>
            <a:chOff x="677837" y="1446312"/>
            <a:chExt cx="633828" cy="612000"/>
          </a:xfrm>
        </p:grpSpPr>
        <p:sp>
          <p:nvSpPr>
            <p:cNvPr id="12" name="椭圆 11"/>
            <p:cNvSpPr/>
            <p:nvPr/>
          </p:nvSpPr>
          <p:spPr>
            <a:xfrm>
              <a:off x="699665" y="1446312"/>
              <a:ext cx="612000" cy="6120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 b="1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5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82" t="18621" r="14688" b="11881"/>
            <a:stretch>
              <a:fillRect/>
            </a:stretch>
          </p:blipFill>
          <p:spPr>
            <a:xfrm>
              <a:off x="677837" y="1480289"/>
              <a:ext cx="580878" cy="5612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doors dir="ver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58704" y="3193415"/>
            <a:ext cx="2837180" cy="1851834"/>
            <a:chOff x="7727" y="3144"/>
            <a:chExt cx="5660" cy="2060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27" y="3321"/>
              <a:ext cx="5660" cy="1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算</a:t>
              </a: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动词——</a:t>
              </a:r>
              <a:r>
                <a:rPr altLang="zh-CN" sz="2000" b="1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认作、当做</a:t>
              </a:r>
              <a:endParaRPr lang="vi-V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=coi như</a:t>
              </a:r>
              <a:endParaRPr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628"/>
              <a:ext cx="13446" cy="9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21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例如著名的文学家鲁迅，在吃喝这件事上，就</a:t>
              </a:r>
              <a:r>
                <a:rPr lang="zh-CN" altLang="en-US" sz="21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算</a:t>
              </a:r>
              <a:r>
                <a:rPr lang="zh-CN" altLang="en-US" sz="21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是个地道的行家，……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4375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73"/>
              <a:ext cx="13446" cy="1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29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这钱就</a:t>
              </a:r>
              <a:r>
                <a:rPr lang="zh-CN" altLang="en-US" sz="29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算</a:t>
              </a:r>
              <a:r>
                <a:rPr lang="zh-CN" altLang="en-US" sz="29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我借给你的，将来你有了的时候再还我。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2865" y="3380740"/>
            <a:ext cx="1605915" cy="1504315"/>
          </a:xfrm>
          <a:prstGeom prst="rect">
            <a:avLst/>
          </a:prstGeom>
        </p:spPr>
      </p:pic>
      <p:pic>
        <p:nvPicPr>
          <p:cNvPr id="3" name="图片 2" descr="1近代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038350" y="1063625"/>
            <a:ext cx="1159510" cy="1416050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58704" y="3184426"/>
            <a:ext cx="2837180" cy="2000160"/>
            <a:chOff x="7727" y="3134"/>
            <a:chExt cx="5660" cy="222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27" y="3134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算</a:t>
              </a: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后面可以跟“了”，</a:t>
              </a:r>
              <a:r>
                <a:rPr altLang="zh-CN" sz="2000" b="1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表示</a:t>
              </a:r>
              <a:r>
                <a:rPr altLang="zh-CN" sz="2000" b="1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作罢、不再计较</a:t>
              </a:r>
              <a:endParaRPr lang="vi-V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Bỏ đi thường đi với </a:t>
              </a:r>
              <a:r>
                <a:rPr lang="zh-CN" altLang="en-US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了</a:t>
              </a:r>
              <a:endParaRPr lang="vi-V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29485"/>
            <a:ext cx="8538845" cy="852805"/>
            <a:chOff x="518" y="3388"/>
            <a:chExt cx="13447" cy="1343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388"/>
              <a:ext cx="13446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en-US" altLang="zh-CN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          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不就是一个空瓶子吗？扔掉</a:t>
              </a: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算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597400"/>
            <a:ext cx="8538845" cy="875030"/>
            <a:chOff x="518" y="3353"/>
            <a:chExt cx="13447" cy="1378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353"/>
              <a:ext cx="13446" cy="13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32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算</a:t>
              </a:r>
              <a:r>
                <a:rPr lang="zh-CN" altLang="en-US" sz="32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了吧，你跑得再快，也追不上会飞的鸟啊。</a:t>
              </a:r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>
            <a:clrChange>
              <a:clrFrom>
                <a:srgbClr val="FCFBFC">
                  <a:alpha val="100000"/>
                </a:srgbClr>
              </a:clrFrom>
              <a:clrTo>
                <a:srgbClr val="FCFBFC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175" y="1502410"/>
            <a:ext cx="1273175" cy="1691005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420000">
            <a:off x="7339965" y="5427345"/>
            <a:ext cx="1527810" cy="1027430"/>
          </a:xfrm>
          <a:prstGeom prst="ellipse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用“算”完成下列句子或对话。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94829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1.从我家去公司，坐几站地铁就到了，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45615" y="3295015"/>
            <a:ext cx="8151495" cy="11245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.A：后天是孩子的生日，你打算怎么表示一下呀？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__？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630420"/>
            <a:ext cx="8236585" cy="9772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A：电影几点开始？吃好饭再去，时间是不是有点儿紧张？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</a:t>
            </a:r>
            <a:r>
              <a:rPr lang="en-US" altLang="zh-CN" sz="24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          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第九课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287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9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3583" cy="902"/>
                  <a:chOff x="8865" y="6525"/>
                  <a:chExt cx="13583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9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3652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The Lu Xun You Don’t Know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9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 别样鲁迅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2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见解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416172" y="1157303"/>
            <a:ext cx="18592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jiàn jiě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understanding, opinion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9555" y="1463040"/>
            <a:ext cx="3500120" cy="393128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028825" y="4090670"/>
            <a:ext cx="3051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请你说一下对这个词的</a:t>
            </a:r>
            <a:r>
              <a:rPr lang="zh-CN" altLang="en-US">
                <a:solidFill>
                  <a:srgbClr val="FF0000"/>
                </a:solidFill>
              </a:rPr>
              <a:t>见解</a:t>
            </a:r>
            <a:r>
              <a:rPr lang="en-US" altLang="zh-CN"/>
              <a:t>。</a:t>
            </a:r>
          </a:p>
        </p:txBody>
      </p:sp>
      <p:sp>
        <p:nvSpPr>
          <p:cNvPr id="10" name="矩形 9"/>
          <p:cNvSpPr/>
          <p:nvPr/>
        </p:nvSpPr>
        <p:spPr>
          <a:xfrm>
            <a:off x="4600575" y="2964815"/>
            <a:ext cx="99695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理解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3\2作为.jpg2作为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89688" y="2106930"/>
            <a:ext cx="3715385" cy="26441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作为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57422" y="1157303"/>
            <a:ext cx="220472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zuò wéi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v./prep. to be; as, being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71065" y="3816985"/>
            <a:ext cx="35534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你作为领导，什么事情都不做</a:t>
            </a:r>
            <a:r>
              <a:rPr lang="en-US" altLang="zh-CN"/>
              <a:t>，</a:t>
            </a:r>
            <a:r>
              <a:rPr lang="zh-CN" altLang="en-US"/>
              <a:t>就是</a:t>
            </a:r>
            <a:r>
              <a:rPr lang="zh-CN" altLang="en-US">
                <a:solidFill>
                  <a:srgbClr val="FF0000"/>
                </a:solidFill>
              </a:rPr>
              <a:t>不作为</a:t>
            </a:r>
            <a:r>
              <a:rPr lang="en-US" altLang="zh-CN"/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286000" y="4749800"/>
            <a:ext cx="3553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/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位于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400297" y="1157303"/>
            <a:ext cx="190119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wèi yú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be located at (in, on, etc.)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230" y="1839595"/>
            <a:ext cx="3401060" cy="321373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00580" y="3961130"/>
            <a:ext cx="2879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最长的长城</a:t>
            </a:r>
            <a:r>
              <a:rPr lang="zh-CN" altLang="en-US">
                <a:solidFill>
                  <a:srgbClr val="FF0000"/>
                </a:solidFill>
              </a:rPr>
              <a:t>位于</a:t>
            </a:r>
            <a:r>
              <a:rPr lang="zh-CN" altLang="en-US"/>
              <a:t>中国北京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大方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73297" y="1157303"/>
            <a:ext cx="236093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dà fang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 generous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4950" y="1910715"/>
            <a:ext cx="3421380" cy="303339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73300" y="3773805"/>
            <a:ext cx="40582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她是一个</a:t>
            </a:r>
            <a:r>
              <a:rPr lang="zh-CN" altLang="en-US">
                <a:solidFill>
                  <a:srgbClr val="FF0000"/>
                </a:solidFill>
              </a:rPr>
              <a:t>大方</a:t>
            </a:r>
            <a:r>
              <a:rPr lang="zh-CN" altLang="en-US"/>
              <a:t>的人</a:t>
            </a:r>
            <a:r>
              <a:rPr lang="en-US" altLang="zh-CN"/>
              <a:t>，</a:t>
            </a:r>
            <a:r>
              <a:rPr lang="zh-CN" altLang="en-US"/>
              <a:t>经常请客吃饭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3\5好客.jpg5好客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30670" y="2022475"/>
            <a:ext cx="2921635" cy="28263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好客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68547" y="1157303"/>
            <a:ext cx="205486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hào kè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be hospitable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44725" y="3860165"/>
            <a:ext cx="4274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中国人非常热情</a:t>
            </a:r>
            <a:r>
              <a:rPr lang="zh-CN" altLang="en-US">
                <a:solidFill>
                  <a:srgbClr val="FF0000"/>
                </a:solidFill>
              </a:rPr>
              <a:t>好客</a:t>
            </a:r>
            <a:r>
              <a:rPr lang="zh-CN" altLang="en-US"/>
              <a:t>，欢迎世界各地的人来中国旅游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3\6招待.jpg6招待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64705" y="2022475"/>
            <a:ext cx="2753995" cy="28263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招待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178047" y="1157303"/>
            <a:ext cx="252476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zhāo dài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receive, to entertain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16480" y="3759835"/>
            <a:ext cx="4001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今天有客人来</a:t>
            </a:r>
            <a:r>
              <a:rPr lang="en-US" altLang="zh-CN"/>
              <a:t>，</a:t>
            </a:r>
            <a:r>
              <a:rPr lang="zh-CN" altLang="en-US"/>
              <a:t>我们要好好</a:t>
            </a:r>
            <a:r>
              <a:rPr lang="zh-CN" altLang="en-US">
                <a:solidFill>
                  <a:srgbClr val="FF0000"/>
                </a:solidFill>
              </a:rPr>
              <a:t>招待</a:t>
            </a:r>
            <a:r>
              <a:rPr lang="zh-CN" altLang="en-US"/>
              <a:t>她们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3\7高档.jpg7高档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04965" y="2022475"/>
            <a:ext cx="3235325" cy="280479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高档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7547" y="1157303"/>
            <a:ext cx="292735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gāo dàng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67230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 high-grade, top-grade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58365" y="3816985"/>
            <a:ext cx="4001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高档餐厅</a:t>
            </a:r>
          </a:p>
          <a:p>
            <a:r>
              <a:rPr lang="zh-CN" altLang="en-US"/>
              <a:t>高档酒店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/>
        </p:nvGrpSpPr>
        <p:grpSpPr>
          <a:xfrm>
            <a:off x="1736090" y="138430"/>
            <a:ext cx="2200275" cy="3194050"/>
            <a:chOff x="1486086" y="120403"/>
            <a:chExt cx="2200089" cy="3194297"/>
          </a:xfrm>
        </p:grpSpPr>
        <p:sp>
          <p:nvSpPr>
            <p:cNvPr id="44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5" name="文本框 7"/>
          <p:cNvSpPr txBox="1"/>
          <p:nvPr/>
        </p:nvSpPr>
        <p:spPr>
          <a:xfrm>
            <a:off x="165735" y="213995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490" y="702310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8374380" y="165100"/>
            <a:ext cx="2200275" cy="3194050"/>
            <a:chOff x="1486086" y="120403"/>
            <a:chExt cx="2200089" cy="3194297"/>
          </a:xfrm>
        </p:grpSpPr>
        <p:sp>
          <p:nvSpPr>
            <p:cNvPr id="5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59" name="图片 5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5026660" y="127635"/>
            <a:ext cx="2200275" cy="3194050"/>
            <a:chOff x="1486086" y="120403"/>
            <a:chExt cx="2200089" cy="3194297"/>
          </a:xfrm>
        </p:grpSpPr>
        <p:sp>
          <p:nvSpPr>
            <p:cNvPr id="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26" name="组合 25"/>
          <p:cNvGrpSpPr/>
          <p:nvPr/>
        </p:nvGrpSpPr>
        <p:grpSpPr>
          <a:xfrm>
            <a:off x="302260" y="3610610"/>
            <a:ext cx="2200275" cy="3194050"/>
            <a:chOff x="1486086" y="120403"/>
            <a:chExt cx="2200089" cy="3194297"/>
          </a:xfrm>
        </p:grpSpPr>
        <p:sp>
          <p:nvSpPr>
            <p:cNvPr id="27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3587115" y="3628390"/>
            <a:ext cx="2200275" cy="3194050"/>
            <a:chOff x="1486086" y="120403"/>
            <a:chExt cx="2200089" cy="3194297"/>
          </a:xfrm>
        </p:grpSpPr>
        <p:sp>
          <p:nvSpPr>
            <p:cNvPr id="18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6557010" y="3628390"/>
            <a:ext cx="2200275" cy="3194050"/>
            <a:chOff x="1486086" y="120403"/>
            <a:chExt cx="2200089" cy="3194297"/>
          </a:xfrm>
        </p:grpSpPr>
        <p:sp>
          <p:nvSpPr>
            <p:cNvPr id="22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9841865" y="3646170"/>
            <a:ext cx="2200275" cy="3194050"/>
            <a:chOff x="1486086" y="120403"/>
            <a:chExt cx="2200089" cy="3194297"/>
          </a:xfrm>
        </p:grpSpPr>
        <p:sp>
          <p:nvSpPr>
            <p:cNvPr id="33" name="矩形: 圆角 76"/>
            <p:cNvSpPr/>
            <p:nvPr/>
          </p:nvSpPr>
          <p:spPr>
            <a:xfrm>
              <a:off x="1486086" y="120403"/>
              <a:ext cx="2200089" cy="3194297"/>
            </a:xfrm>
            <a:prstGeom prst="roundRect">
              <a:avLst/>
            </a:prstGeom>
            <a:solidFill>
              <a:srgbClr val="E2AEAB"/>
            </a:solidFill>
            <a:ln>
              <a:noFill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14281" y="196147"/>
              <a:ext cx="2124195" cy="3004708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/>
        </p:nvSpPr>
        <p:spPr>
          <a:xfrm>
            <a:off x="1720847" y="124112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见解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139052" y="124112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作为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391522" y="124112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位于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02257" y="471838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大方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587112" y="471838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好客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696072" y="471838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招待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946002" y="481871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高档</a:t>
            </a:r>
          </a:p>
        </p:txBody>
      </p:sp>
    </p:spTree>
    <p:custDataLst>
      <p:tags r:id="rId1"/>
    </p:custDataLst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9" grpId="0"/>
      <p:bldP spid="10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58704" y="3184426"/>
            <a:ext cx="2837180" cy="2000160"/>
            <a:chOff x="7727" y="3134"/>
            <a:chExt cx="5660" cy="222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27" y="3134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作为</a:t>
              </a: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动词——</a:t>
              </a:r>
              <a:r>
                <a:rPr altLang="zh-CN" sz="2000" b="1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看作，认为是</a:t>
              </a:r>
              <a:r>
                <a:rPr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......</a:t>
              </a:r>
              <a:endPara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Xem như, coi như</a:t>
              </a:r>
              <a:endParaRPr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532"/>
              <a:ext cx="13446" cy="10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北海公园离家最近，所以我把那儿</a:t>
              </a:r>
              <a:r>
                <a:rPr lang="zh-CN" altLang="en-US" sz="26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作为</a:t>
              </a:r>
              <a:r>
                <a:rPr lang="zh-CN" altLang="en-US" sz="26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每晚散步的去处。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597400"/>
            <a:ext cx="8538845" cy="875030"/>
            <a:chOff x="518" y="3353"/>
            <a:chExt cx="13447" cy="1378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100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353"/>
              <a:ext cx="13446" cy="11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经理要请我去吃顿饭，说是</a:t>
              </a:r>
              <a:r>
                <a:rPr lang="zh-CN" altLang="en-US" sz="28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作为</a:t>
              </a:r>
              <a:r>
                <a:rPr lang="zh-CN" altLang="en-US" sz="28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我加班的表扬。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79310" y="5265420"/>
            <a:ext cx="1227455" cy="11944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1115060" y="1063625"/>
            <a:ext cx="1704975" cy="1399540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58704" y="3184426"/>
            <a:ext cx="2837180" cy="2000160"/>
            <a:chOff x="7727" y="3134"/>
            <a:chExt cx="5660" cy="2225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27" y="3134"/>
              <a:ext cx="5660" cy="2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4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作为</a:t>
              </a: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介词——</a:t>
              </a:r>
              <a:r>
                <a:rPr altLang="zh-CN" sz="2000" b="1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用于</a:t>
              </a:r>
              <a:r>
                <a:rPr altLang="zh-CN" sz="2000" b="1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引出人的身份或事物性质</a:t>
              </a:r>
              <a:endParaRPr lang="vi-V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Cương vị,  với vai trò</a:t>
              </a:r>
              <a:endParaRPr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1451610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00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9" y="3571"/>
              <a:ext cx="13446" cy="934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23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作为</a:t>
              </a:r>
              <a:r>
                <a:rPr lang="zh-CN" altLang="en-US" sz="23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大作家、大学问家，鲁迅对吃很讲究，吃的内容在他的日记里占了很大一部分。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30200" y="4354195"/>
            <a:ext cx="8538845" cy="1316990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00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26"/>
              <a:ext cx="13446" cy="822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l"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23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西红柿是世界上种植非常普遍的蔬菜，中国</a:t>
              </a:r>
              <a:r>
                <a:rPr lang="zh-CN" altLang="en-US" sz="23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作为</a:t>
              </a:r>
              <a:r>
                <a:rPr lang="zh-CN" altLang="en-US" sz="23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主要生产国之一也在扩大它的种植面积。</a:t>
              </a:r>
            </a:p>
          </p:txBody>
        </p:sp>
      </p:grpSp>
      <p:pic>
        <p:nvPicPr>
          <p:cNvPr id="4" name="图片 3" descr="1近代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2752090" y="766445"/>
            <a:ext cx="1159510" cy="1416050"/>
          </a:xfrm>
          <a:prstGeom prst="ellips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36285" y="5034280"/>
            <a:ext cx="1870710" cy="14522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4\1胃口.jpg1胃口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720965" y="2125345"/>
            <a:ext cx="2303145" cy="260921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胃口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41547" y="1157303"/>
            <a:ext cx="224790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wèi kǒu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appetite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17445" y="3630295"/>
            <a:ext cx="4384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小朋友的</a:t>
            </a:r>
            <a:r>
              <a:rPr lang="zh-CN" altLang="en-US">
                <a:solidFill>
                  <a:srgbClr val="FF0000"/>
                </a:solidFill>
              </a:rPr>
              <a:t>胃口</a:t>
            </a:r>
            <a:r>
              <a:rPr lang="zh-CN" altLang="en-US"/>
              <a:t>真好</a:t>
            </a:r>
            <a:r>
              <a:rPr lang="en-US" altLang="zh-CN"/>
              <a:t>，</a:t>
            </a:r>
            <a:r>
              <a:rPr lang="zh-CN" altLang="en-US"/>
              <a:t>每次吃饭都吃很多</a:t>
            </a:r>
            <a:r>
              <a:rPr lang="en-US" altLang="zh-CN"/>
              <a:t>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544445" y="4402455"/>
            <a:ext cx="4988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前几天感冒了</a:t>
            </a:r>
            <a:r>
              <a:rPr lang="en-US" altLang="zh-CN"/>
              <a:t>，</a:t>
            </a:r>
            <a:r>
              <a:rPr lang="zh-CN" altLang="en-US">
                <a:solidFill>
                  <a:srgbClr val="FF0000"/>
                </a:solidFill>
              </a:rPr>
              <a:t>胃口</a:t>
            </a:r>
            <a:r>
              <a:rPr lang="zh-CN" altLang="en-US"/>
              <a:t>变差了</a:t>
            </a:r>
            <a:r>
              <a:rPr lang="en-US" altLang="zh-CN"/>
              <a:t>，</a:t>
            </a:r>
            <a:r>
              <a:rPr lang="zh-CN" altLang="en-US"/>
              <a:t>什么也不想吃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明明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55797" y="1157303"/>
            <a:ext cx="302768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míng míng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919605" y="2964815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adv. evidently, undoubtedly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425" y="2310130"/>
            <a:ext cx="2228850" cy="223837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45055" y="3975735"/>
            <a:ext cx="4203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她</a:t>
            </a:r>
            <a:r>
              <a:rPr lang="zh-CN" altLang="en-US">
                <a:solidFill>
                  <a:srgbClr val="FF0000"/>
                </a:solidFill>
              </a:rPr>
              <a:t>明明</a:t>
            </a:r>
            <a:r>
              <a:rPr lang="zh-CN" altLang="en-US"/>
              <a:t>白天很累了</a:t>
            </a:r>
            <a:r>
              <a:rPr lang="en-US" altLang="zh-CN"/>
              <a:t>，</a:t>
            </a:r>
            <a:r>
              <a:rPr lang="zh-CN" altLang="en-US"/>
              <a:t>晚上还是睡不着觉</a:t>
            </a:r>
            <a:r>
              <a:rPr lang="en-US" altLang="zh-CN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345055" y="4710430"/>
            <a:ext cx="42037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她刚刚</a:t>
            </a:r>
            <a:r>
              <a:rPr lang="zh-CN" altLang="en-US">
                <a:solidFill>
                  <a:srgbClr val="FF0000"/>
                </a:solidFill>
              </a:rPr>
              <a:t>明明</a:t>
            </a:r>
            <a:r>
              <a:rPr lang="zh-CN" altLang="en-US"/>
              <a:t>就在这里</a:t>
            </a:r>
            <a:r>
              <a:rPr lang="en-US" altLang="zh-CN"/>
              <a:t>，</a:t>
            </a:r>
            <a:r>
              <a:rPr lang="zh-CN" altLang="en-US"/>
              <a:t>怎么不见了</a:t>
            </a:r>
            <a:r>
              <a:rPr lang="en-US" altLang="zh-CN"/>
              <a:t>？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4\3胃.jpg3胃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43270" y="2192020"/>
            <a:ext cx="3049905" cy="24733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73932" y="1839293"/>
            <a:ext cx="120015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胃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352672" y="1157303"/>
            <a:ext cx="112204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wèi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59230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stomach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369182" y="1839293"/>
            <a:ext cx="120015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戒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574922" y="1157303"/>
            <a:ext cx="77152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jiè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59230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give up, to quit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195" y="2022475"/>
            <a:ext cx="2783205" cy="277685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01545" y="3517265"/>
            <a:ext cx="33534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小明爸爸最近</a:t>
            </a:r>
            <a:r>
              <a:rPr lang="zh-CN" altLang="en-US">
                <a:solidFill>
                  <a:srgbClr val="FF0000"/>
                </a:solidFill>
              </a:rPr>
              <a:t>戒</a:t>
            </a:r>
            <a:r>
              <a:rPr lang="zh-CN" altLang="en-US"/>
              <a:t>烟了</a:t>
            </a:r>
            <a:r>
              <a:rPr lang="en-US" altLang="zh-CN"/>
              <a:t>，</a:t>
            </a:r>
            <a:r>
              <a:rPr lang="zh-CN" altLang="en-US"/>
              <a:t>因为他知道吸烟有害健康</a:t>
            </a:r>
            <a:r>
              <a:rPr lang="en-US" altLang="zh-CN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369185" y="4402455"/>
            <a:ext cx="33534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戒酒</a:t>
            </a:r>
          </a:p>
          <a:p>
            <a:r>
              <a:rPr lang="zh-CN" altLang="en-US"/>
              <a:t>戒荤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4\5保存.jpg5保存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38975" y="2022475"/>
            <a:ext cx="2695575" cy="305879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16280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保存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051047" y="1157303"/>
            <a:ext cx="249301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bǎo cún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6085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keep, to save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287905" y="3572510"/>
            <a:ext cx="338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皮衣不能晒太阳</a:t>
            </a:r>
            <a:r>
              <a:rPr lang="en-US" altLang="zh-CN"/>
              <a:t>，</a:t>
            </a:r>
            <a:r>
              <a:rPr lang="zh-CN" altLang="en-US"/>
              <a:t>要避光</a:t>
            </a:r>
            <a:r>
              <a:rPr lang="zh-CN" altLang="en-US">
                <a:solidFill>
                  <a:srgbClr val="FF0000"/>
                </a:solidFill>
              </a:rPr>
              <a:t>保存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6280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曾经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7547" y="1157303"/>
            <a:ext cx="270637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céng jīng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08480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adv. once, in the past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4780" y="1925955"/>
            <a:ext cx="2893060" cy="3061970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62810" y="3745865"/>
            <a:ext cx="3296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他</a:t>
            </a:r>
            <a:r>
              <a:rPr lang="zh-CN" altLang="en-US">
                <a:solidFill>
                  <a:srgbClr val="FF0000"/>
                </a:solidFill>
              </a:rPr>
              <a:t>曾经</a:t>
            </a:r>
            <a:r>
              <a:rPr lang="zh-CN" altLang="en-US"/>
              <a:t>长得很普通</a:t>
            </a:r>
            <a:r>
              <a:rPr lang="en-US" altLang="zh-CN"/>
              <a:t>，</a:t>
            </a:r>
            <a:r>
              <a:rPr lang="zh-CN" altLang="en-US"/>
              <a:t>现在越来越漂亮了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4\7形象.jpg7形象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990080" y="1910715"/>
            <a:ext cx="2846070" cy="308165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5805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形象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7547" y="1157303"/>
            <a:ext cx="289750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xíng xiàng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08480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 vivid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172335" y="3673475"/>
            <a:ext cx="3181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slow">
    <p:push/>
    <p:sndAc>
      <p:stSnd>
        <p:snd r:embed="rId2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/>
          <p:cNvSpPr txBox="1"/>
          <p:nvPr/>
        </p:nvSpPr>
        <p:spPr>
          <a:xfrm>
            <a:off x="165735" y="173355"/>
            <a:ext cx="63322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语言点</a:t>
            </a:r>
            <a:endParaRPr lang="en-US" altLang="zh-CN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9" name="文本框 7"/>
          <p:cNvSpPr txBox="1"/>
          <p:nvPr/>
        </p:nvSpPr>
        <p:spPr>
          <a:xfrm>
            <a:off x="237490" y="695325"/>
            <a:ext cx="180086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Language Point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9288780" y="1243965"/>
            <a:ext cx="2792095" cy="5854700"/>
          </a:xfrm>
          <a:prstGeom prst="trapezoid">
            <a:avLst>
              <a:gd name="adj" fmla="val 30365"/>
            </a:avLst>
          </a:prstGeom>
          <a:solidFill>
            <a:schemeClr val="accent4">
              <a:alpha val="67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30" name="图片 29" descr="C:\Users\Administrator\Desktop\4a7e7ce1.png4a7e7ce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776248" y="-717762"/>
            <a:ext cx="1801707" cy="2511213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9258704" y="3077451"/>
            <a:ext cx="2837180" cy="2246471"/>
            <a:chOff x="7727" y="3015"/>
            <a:chExt cx="5660" cy="2499"/>
          </a:xfrm>
        </p:grpSpPr>
        <p:sp>
          <p:nvSpPr>
            <p:cNvPr id="33" name="圆角矩形 32"/>
            <p:cNvSpPr/>
            <p:nvPr/>
          </p:nvSpPr>
          <p:spPr>
            <a:xfrm>
              <a:off x="8776" y="3144"/>
              <a:ext cx="3577" cy="1882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27" y="3015"/>
              <a:ext cx="5660" cy="2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ctr"/>
              <a:r>
                <a:rPr lang="zh-CN" altLang="en-US" sz="4000" b="1" kern="100" dirty="0">
                  <a:solidFill>
                    <a:srgbClr val="FF0000"/>
                  </a:solidFill>
                  <a:latin typeface="华文楷体" panose="02010600040101010101" charset="-122"/>
                  <a:ea typeface="华文楷体" panose="02010600040101010101" charset="-122"/>
                  <a:cs typeface="华文细黑" panose="02010600040101010101" pitchFamily="2" charset="-122"/>
                  <a:sym typeface="+mn-ea"/>
                </a:rPr>
                <a:t>曾经</a:t>
              </a:r>
              <a:endParaRPr lang="zh-CN" altLang="en-US" sz="4400" b="1" kern="100" dirty="0">
                <a:solidFill>
                  <a:srgbClr val="FF0000"/>
                </a:solidFill>
                <a:latin typeface="华文楷体" panose="02010600040101010101" charset="-122"/>
                <a:ea typeface="华文楷体" panose="02010600040101010101" charset="-122"/>
                <a:cs typeface="华文细黑" panose="02010600040101010101" pitchFamily="2" charset="-122"/>
                <a:sym typeface="+mn-ea"/>
              </a:endParaRPr>
            </a:p>
            <a:p>
              <a:pPr algn="ctr" fontAlgn="ctr"/>
              <a:endParaRPr lang="zh-CN" altLang="zh-CN" sz="2000" dirty="0">
                <a:solidFill>
                  <a:schemeClr val="bg1">
                    <a:lumMod val="6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altLang="zh-CN" sz="2000" b="1" dirty="0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副词——</a:t>
              </a:r>
              <a:r>
                <a:rPr altLang="zh-CN" sz="2000" b="1" dirty="0" err="1">
                  <a:solidFill>
                    <a:schemeClr val="bg1">
                      <a:lumMod val="6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表示</a:t>
              </a:r>
              <a:r>
                <a:rPr altLang="zh-CN" sz="2000" b="1" dirty="0" err="1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从前有过某种行为或出现过某种情况</a:t>
              </a:r>
              <a:endParaRPr lang="vi-VN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  <a:p>
              <a:pPr algn="ctr" fontAlgn="ctr"/>
              <a:r>
                <a:rPr lang="vi-VN" altLang="zh-CN" sz="2000" b="1" dirty="0">
                  <a:solidFill>
                    <a:srgbClr val="FF0000"/>
                  </a:solidFill>
                  <a:highlight>
                    <a:srgbClr val="FFFF00"/>
                  </a:highlight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细黑" panose="02010600040101010101" pitchFamily="2" charset="-122"/>
                </a:rPr>
                <a:t>Từng</a:t>
              </a:r>
              <a:endParaRPr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328930" y="2253615"/>
            <a:ext cx="8538845" cy="828675"/>
            <a:chOff x="518" y="3426"/>
            <a:chExt cx="13447" cy="1305"/>
          </a:xfrm>
        </p:grpSpPr>
        <p:sp>
          <p:nvSpPr>
            <p:cNvPr id="62" name="圆角矩形 61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00"/>
            </a:p>
          </p:txBody>
        </p:sp>
        <p:sp>
          <p:nvSpPr>
            <p:cNvPr id="63" name="文本框 7"/>
            <p:cNvSpPr txBox="1"/>
            <p:nvPr/>
          </p:nvSpPr>
          <p:spPr>
            <a:xfrm>
              <a:off x="518" y="3508"/>
              <a:ext cx="13446" cy="11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algn="l" defTabSz="914400" rtl="0" eaLnBrk="1" fontAlgn="base" latinLnBrk="0" hangingPunct="0">
                <a:lnSpc>
                  <a:spcPct val="150000"/>
                </a:lnSpc>
                <a:buClrTx/>
                <a:buSzTx/>
                <a:buFontTx/>
                <a:buNone/>
              </a:pPr>
              <a:r>
                <a:rPr lang="zh-CN" altLang="en-US" sz="27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鲁迅</a:t>
              </a:r>
              <a:r>
                <a:rPr lang="zh-CN" altLang="en-US" sz="27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曾经</a:t>
              </a:r>
              <a:r>
                <a:rPr lang="zh-CN" altLang="en-US" sz="27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说他是将别人喝牛奶、咖啡的时间用来学习。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328930" y="4643755"/>
            <a:ext cx="8538845" cy="828675"/>
            <a:chOff x="518" y="3426"/>
            <a:chExt cx="13447" cy="1305"/>
          </a:xfrm>
        </p:grpSpPr>
        <p:sp>
          <p:nvSpPr>
            <p:cNvPr id="81" name="圆角矩形 80"/>
            <p:cNvSpPr/>
            <p:nvPr/>
          </p:nvSpPr>
          <p:spPr>
            <a:xfrm>
              <a:off x="518" y="3426"/>
              <a:ext cx="13447" cy="1305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2AEAB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900"/>
            </a:p>
          </p:txBody>
        </p:sp>
        <p:sp>
          <p:nvSpPr>
            <p:cNvPr id="82" name="文本框 7"/>
            <p:cNvSpPr txBox="1"/>
            <p:nvPr/>
          </p:nvSpPr>
          <p:spPr>
            <a:xfrm>
              <a:off x="519" y="3473"/>
              <a:ext cx="13446" cy="1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 eaLnBrk="1" fontAlgn="base" hangingPunct="0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sz="29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孔子</a:t>
              </a:r>
              <a:r>
                <a:rPr lang="zh-CN" altLang="en-US" sz="2900" b="1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曾经</a:t>
              </a:r>
              <a:r>
                <a:rPr lang="zh-CN" altLang="en-US" sz="2900" b="1" noProof="0" dirty="0">
                  <a:ln>
                    <a:noFill/>
                  </a:ln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sym typeface="华文细黑" panose="02010600040101010101" pitchFamily="2" charset="-122"/>
                </a:rPr>
                <a:t>带着学生周游各国14年，传播他的思想。</a:t>
              </a: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60040" y="940435"/>
            <a:ext cx="1582420" cy="1527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6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12125" y="4885055"/>
            <a:ext cx="1406525" cy="169291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表现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表达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6393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他平时成绩一般，但在今晚的比赛中</a:t>
            </a:r>
          </a:p>
          <a:p>
            <a:pPr algn="l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得很突出。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4568528" y="158942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表现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现代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近代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442325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我对从1840年到1919年的中国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历史很感兴趣。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7601923" y="113159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近代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胃口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胃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859520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just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我今天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不太舒服，所以没什么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4745058" y="1070630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胃</a:t>
            </a:r>
          </a:p>
        </p:txBody>
      </p:sp>
      <p:sp>
        <p:nvSpPr>
          <p:cNvPr id="2" name="8 CuadroTexto"/>
          <p:cNvSpPr txBox="1"/>
          <p:nvPr/>
        </p:nvSpPr>
        <p:spPr>
          <a:xfrm>
            <a:off x="3337263" y="165419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胃口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Nube"/>
          <p:cNvSpPr/>
          <p:nvPr/>
        </p:nvSpPr>
        <p:spPr>
          <a:xfrm>
            <a:off x="6919272" y="3495057"/>
            <a:ext cx="2232249" cy="1032364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_tradnl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已经</a:t>
            </a:r>
          </a:p>
        </p:txBody>
      </p:sp>
      <p:sp>
        <p:nvSpPr>
          <p:cNvPr id="6" name="5 Nube"/>
          <p:cNvSpPr/>
          <p:nvPr/>
        </p:nvSpPr>
        <p:spPr>
          <a:xfrm>
            <a:off x="4005590" y="3500864"/>
            <a:ext cx="2212865" cy="1021497"/>
          </a:xfrm>
          <a:prstGeom prst="cloud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  <a:ln w="76200"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s-ES"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anose="030F0902030302020204" pitchFamily="66" charset="0"/>
                <a:cs typeface="Aharoni" panose="02010803020104030203" pitchFamily="2" charset="-79"/>
              </a:rPr>
              <a:t>曾经</a:t>
            </a:r>
          </a:p>
        </p:txBody>
      </p:sp>
      <p:sp>
        <p:nvSpPr>
          <p:cNvPr id="11" name="圆角矩形标注 10"/>
          <p:cNvSpPr/>
          <p:nvPr/>
        </p:nvSpPr>
        <p:spPr>
          <a:xfrm>
            <a:off x="2446020" y="1209040"/>
            <a:ext cx="8989060" cy="918210"/>
          </a:xfrm>
          <a:prstGeom prst="wedgeRoundRectCallout">
            <a:avLst>
              <a:gd name="adj1" fmla="val -57398"/>
              <a:gd name="adj2" fmla="val 56298"/>
              <a:gd name="adj3" fmla="val 16667"/>
            </a:avLst>
          </a:prstGeom>
          <a:solidFill>
            <a:srgbClr val="E2AEA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人们</a:t>
            </a:r>
            <a:r>
              <a:rPr lang="zh-CN" altLang="zh-CN" sz="3200" b="1" u="sng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              </a:t>
            </a:r>
            <a:r>
              <a:rPr lang="zh-CN" altLang="zh-CN" sz="3200" b="1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细黑" panose="02010600040101010101" pitchFamily="2" charset="-122"/>
              </a:rPr>
              <a:t>把西红柿当做有害的果子。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3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34" name="图片 33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9753" y="0"/>
            <a:ext cx="1459230" cy="1459230"/>
          </a:xfrm>
          <a:prstGeom prst="rect">
            <a:avLst/>
          </a:prstGeom>
        </p:spPr>
      </p:pic>
      <p:pic>
        <p:nvPicPr>
          <p:cNvPr id="14" name="图片 13" descr="人物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51660"/>
            <a:ext cx="3337560" cy="5006340"/>
          </a:xfrm>
          <a:prstGeom prst="rect">
            <a:avLst/>
          </a:prstGeom>
        </p:spPr>
      </p:pic>
      <p:sp>
        <p:nvSpPr>
          <p:cNvPr id="9" name="8 CuadroTexto"/>
          <p:cNvSpPr txBox="1"/>
          <p:nvPr/>
        </p:nvSpPr>
        <p:spPr>
          <a:xfrm>
            <a:off x="3797638" y="1344315"/>
            <a:ext cx="1561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s-ES_tradnl" sz="3200" b="1" dirty="0">
                <a:solidFill>
                  <a:srgbClr val="C00000"/>
                </a:solidFill>
                <a:effectLst/>
                <a:latin typeface="华文楷体" panose="02010600040101010101" charset="-122"/>
                <a:ea typeface="华文楷体" panose="02010600040101010101" charset="-122"/>
              </a:rPr>
              <a:t>曾经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B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C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237744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这事你找我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商量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找对人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了，这方面我可动的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不少。</a:t>
            </a: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00761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我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听说总理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将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参加这次活动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算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亲自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上图顶部底图"/>
          <p:cNvGrpSpPr/>
          <p:nvPr/>
        </p:nvGrpSpPr>
        <p:grpSpPr>
          <a:xfrm>
            <a:off x="3930015" y="2047240"/>
            <a:ext cx="5907405" cy="1473835"/>
            <a:chOff x="3758" y="2217"/>
            <a:chExt cx="9303" cy="2321"/>
          </a:xfrm>
        </p:grpSpPr>
        <p:sp>
          <p:nvSpPr>
            <p:cNvPr id="35" name="圆角矩形 34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D</a:t>
                </a: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974465" y="4685030"/>
            <a:ext cx="5907405" cy="1473835"/>
            <a:chOff x="3758" y="2217"/>
            <a:chExt cx="9303" cy="2321"/>
          </a:xfrm>
        </p:grpSpPr>
        <p:sp>
          <p:nvSpPr>
            <p:cNvPr id="14" name="圆角矩形 13"/>
            <p:cNvSpPr/>
            <p:nvPr/>
          </p:nvSpPr>
          <p:spPr>
            <a:xfrm>
              <a:off x="3758" y="2217"/>
              <a:ext cx="9303" cy="2321"/>
            </a:xfrm>
            <a:prstGeom prst="roundRect">
              <a:avLst/>
            </a:prstGeom>
            <a:blipFill rotWithShape="1"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5618" y="2529"/>
              <a:ext cx="3072" cy="1691"/>
              <a:chOff x="5618" y="2529"/>
              <a:chExt cx="3072" cy="1691"/>
            </a:xfrm>
          </p:grpSpPr>
          <p:sp>
            <p:nvSpPr>
              <p:cNvPr id="17" name="圆角矩形 16"/>
              <p:cNvSpPr/>
              <p:nvPr/>
            </p:nvSpPr>
            <p:spPr>
              <a:xfrm>
                <a:off x="5618" y="2529"/>
                <a:ext cx="3072" cy="1691"/>
              </a:xfrm>
              <a:prstGeom prst="roundRect">
                <a:avLst/>
              </a:prstGeom>
              <a:solidFill>
                <a:schemeClr val="bg1">
                  <a:alpha val="8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5618" y="2805"/>
                <a:ext cx="3071" cy="11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C0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D</a:t>
                </a:r>
              </a:p>
            </p:txBody>
          </p:sp>
        </p:grpSp>
      </p:grpSp>
      <p:sp>
        <p:nvSpPr>
          <p:cNvPr id="3" name="文本框 7"/>
          <p:cNvSpPr txBox="1"/>
          <p:nvPr/>
        </p:nvSpPr>
        <p:spPr>
          <a:xfrm>
            <a:off x="165852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6" name="文本框 7"/>
          <p:cNvSpPr txBox="1"/>
          <p:nvPr/>
        </p:nvSpPr>
        <p:spPr>
          <a:xfrm>
            <a:off x="237290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l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Practise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39" name="上图顶部橙色半夹"/>
          <p:cNvSpPr/>
          <p:nvPr/>
        </p:nvSpPr>
        <p:spPr>
          <a:xfrm>
            <a:off x="2566670" y="201485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上图左半夹文字"/>
          <p:cNvSpPr/>
          <p:nvPr/>
        </p:nvSpPr>
        <p:spPr>
          <a:xfrm>
            <a:off x="2566035" y="1996440"/>
            <a:ext cx="4540885" cy="15684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请写下与你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关系最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亲近的六个朋友，记下他们每个人的月收入，然后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算出他们月收入的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数。</a:t>
            </a:r>
          </a:p>
        </p:txBody>
      </p:sp>
      <p:sp>
        <p:nvSpPr>
          <p:cNvPr id="41" name="下图顶部橙色半夹"/>
          <p:cNvSpPr/>
          <p:nvPr/>
        </p:nvSpPr>
        <p:spPr>
          <a:xfrm>
            <a:off x="2566670" y="4645025"/>
            <a:ext cx="5392420" cy="1533525"/>
          </a:xfrm>
          <a:custGeom>
            <a:avLst/>
            <a:gdLst>
              <a:gd name="adj" fmla="val 1666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935" h="1656">
                <a:moveTo>
                  <a:pt x="276" y="0"/>
                </a:moveTo>
                <a:lnTo>
                  <a:pt x="4797" y="0"/>
                </a:lnTo>
                <a:cubicBezTo>
                  <a:pt x="4845" y="0"/>
                  <a:pt x="4889" y="12"/>
                  <a:pt x="4929" y="33"/>
                </a:cubicBezTo>
                <a:lnTo>
                  <a:pt x="4935" y="37"/>
                </a:lnTo>
                <a:lnTo>
                  <a:pt x="4917" y="36"/>
                </a:lnTo>
                <a:cubicBezTo>
                  <a:pt x="4904" y="35"/>
                  <a:pt x="4890" y="35"/>
                  <a:pt x="4877" y="35"/>
                </a:cubicBezTo>
                <a:cubicBezTo>
                  <a:pt x="4438" y="35"/>
                  <a:pt x="4083" y="390"/>
                  <a:pt x="4083" y="829"/>
                </a:cubicBezTo>
                <a:cubicBezTo>
                  <a:pt x="4083" y="1267"/>
                  <a:pt x="4438" y="1622"/>
                  <a:pt x="4877" y="1622"/>
                </a:cubicBezTo>
                <a:cubicBezTo>
                  <a:pt x="4890" y="1622"/>
                  <a:pt x="4904" y="1622"/>
                  <a:pt x="4917" y="1621"/>
                </a:cubicBezTo>
                <a:lnTo>
                  <a:pt x="4933" y="1620"/>
                </a:lnTo>
                <a:lnTo>
                  <a:pt x="4929" y="1623"/>
                </a:lnTo>
                <a:cubicBezTo>
                  <a:pt x="4889" y="1644"/>
                  <a:pt x="4845" y="1656"/>
                  <a:pt x="4797" y="1656"/>
                </a:cubicBezTo>
                <a:lnTo>
                  <a:pt x="276" y="1656"/>
                </a:lnTo>
                <a:cubicBezTo>
                  <a:pt x="124" y="1656"/>
                  <a:pt x="0" y="1532"/>
                  <a:pt x="0" y="1380"/>
                </a:cubicBezTo>
                <a:lnTo>
                  <a:pt x="0" y="276"/>
                </a:lnTo>
                <a:cubicBezTo>
                  <a:pt x="0" y="124"/>
                  <a:pt x="124" y="0"/>
                  <a:pt x="276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7000">
                <a:srgbClr val="F2C366"/>
              </a:gs>
              <a:gs pos="100000">
                <a:srgbClr val="F2C366"/>
              </a:gs>
              <a:gs pos="99000">
                <a:srgbClr val="F2C366"/>
              </a:gs>
              <a:gs pos="93000">
                <a:srgbClr val="F2C366">
                  <a:alpha val="83000"/>
                  <a:lumMod val="79000"/>
                  <a:lumOff val="21000"/>
                </a:srgbClr>
              </a:gs>
              <a:gs pos="47000">
                <a:srgbClr val="F2C366"/>
              </a:gs>
              <a:gs pos="81000">
                <a:srgbClr val="F2C366"/>
              </a:gs>
              <a:gs pos="100000">
                <a:srgbClr val="F2C366"/>
              </a:gs>
              <a:gs pos="68000">
                <a:srgbClr val="F2C366"/>
              </a:gs>
              <a:gs pos="100000">
                <a:srgbClr val="F2C366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下图左半夹文字"/>
          <p:cNvSpPr/>
          <p:nvPr/>
        </p:nvSpPr>
        <p:spPr>
          <a:xfrm>
            <a:off x="2566035" y="5007610"/>
            <a:ext cx="4540885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marL="0" marR="0" lvl="0" indent="0" algn="l" defTabSz="130048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A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这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B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怎么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C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是个缺点呢？</a:t>
            </a:r>
            <a:r>
              <a:rPr lang="zh-CN" altLang="zh-CN" sz="240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D</a:t>
            </a:r>
            <a:r>
              <a:rPr lang="zh-CN" altLang="zh-CN" sz="2400" noProof="0">
                <a:ln>
                  <a:noFill/>
                </a:ln>
                <a:effectLst/>
                <a:uLnTx/>
                <a:uFillTx/>
                <a:latin typeface="华文细黑" panose="02010600040101010101" pitchFamily="2" charset="-122"/>
                <a:ea typeface="华文细黑" panose="02010600040101010101" pitchFamily="2" charset="-122"/>
                <a:cs typeface="Helvetica Light" charset="0"/>
                <a:sym typeface="华文细黑" panose="02010600040101010101" pitchFamily="2" charset="-122"/>
              </a:rPr>
              <a:t>是个优点呀！</a:t>
            </a:r>
          </a:p>
        </p:txBody>
      </p:sp>
      <p:sp>
        <p:nvSpPr>
          <p:cNvPr id="43" name="文本框 7"/>
          <p:cNvSpPr txBox="1"/>
          <p:nvPr/>
        </p:nvSpPr>
        <p:spPr>
          <a:xfrm>
            <a:off x="3693160" y="641328"/>
            <a:ext cx="480568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1300480" eaLnBrk="1"/>
            <a:r>
              <a:rPr lang="zh-CN" altLang="zh-CN" sz="2800" dirty="0">
                <a:latin typeface="华文细黑" panose="02010600040101010101" pitchFamily="2" charset="-122"/>
                <a:ea typeface="华文细黑" panose="02010600040101010101" pitchFamily="2" charset="-122"/>
                <a:sym typeface="华文细黑" panose="02010600040101010101" pitchFamily="2" charset="-122"/>
              </a:rPr>
              <a:t>给括号里的词选择适当的位置</a:t>
            </a:r>
            <a:endParaRPr kumimoji="0" lang="zh-CN" altLang="en-US" sz="2800" i="0" u="none" strike="noStrike" kern="1200" cap="none" spc="0" normalizeH="0" baseline="0" dirty="0">
              <a:solidFill>
                <a:schemeClr val="tx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1300" y="2382520"/>
            <a:ext cx="1925320" cy="706755"/>
            <a:chOff x="4428" y="448"/>
            <a:chExt cx="3124" cy="1113"/>
          </a:xfrm>
        </p:grpSpPr>
        <p:sp>
          <p:nvSpPr>
            <p:cNvPr id="8" name="圆角矩形 7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平均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36855" y="5058410"/>
            <a:ext cx="1925320" cy="706755"/>
            <a:chOff x="4428" y="448"/>
            <a:chExt cx="3124" cy="1113"/>
          </a:xfrm>
        </p:grpSpPr>
        <p:sp>
          <p:nvSpPr>
            <p:cNvPr id="9" name="圆角矩形 8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明明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0.25 0  E" pathEditMode="relative" ptsTypes="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用“作为”完成下列句子或对话。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71335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________，治病救人是我们的职责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45615" y="3218815"/>
            <a:ext cx="9255760" cy="11620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9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9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.A：你做的面包比外边卖的都好吃，你真应该开个店。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9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B：我喜欢现在的工作，</a:t>
            </a:r>
            <a:r>
              <a:rPr lang="zh-CN" altLang="en-US" sz="29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+mn-ea"/>
              </a:rPr>
              <a:t>__________</a:t>
            </a:r>
            <a:r>
              <a:rPr lang="zh-CN" altLang="en-US" sz="29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__？</a:t>
            </a:r>
            <a:endParaRPr lang="zh-CN" altLang="en-US" sz="29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+mn-ea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417060"/>
            <a:ext cx="8986520" cy="15297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6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6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26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A：小明每天从早忙到晚，又是学游泳，又是弹钢琴，可学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26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习成绩下降了很多。  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26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</a:t>
            </a:r>
            <a:r>
              <a:rPr lang="en-US" altLang="zh-CN" sz="26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          </a:t>
            </a:r>
            <a:r>
              <a:rPr lang="zh-CN" altLang="en-US" sz="26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？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96060" y="2007235"/>
            <a:ext cx="90176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用“曾经”完成下列句子或对话。</a:t>
            </a:r>
            <a:endParaRPr lang="en-US" altLang="zh-CN" sz="2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45615" y="2619375"/>
            <a:ext cx="11674475" cy="95313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1.</a:t>
            </a: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：你和李阳好像很熟啊，你们以前就认识？</a:t>
            </a:r>
          </a:p>
          <a:p>
            <a:pPr algn="l"/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B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：对，</a:t>
            </a:r>
            <a:r>
              <a:rPr lang="zh-CN" altLang="en-US" sz="28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                。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</a:rPr>
              <a:t>                     。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745615" y="3599815"/>
            <a:ext cx="8072755" cy="11245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2</a:t>
            </a: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.A：你来北京才半年，汉语怎么说得这么好？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28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 B：哦，是这样的，</a:t>
            </a:r>
            <a:r>
              <a:rPr lang="zh-CN" altLang="en-US" sz="2800" b="1" u="sng" dirty="0">
                <a:solidFill>
                  <a:schemeClr val="bg1"/>
                </a:solid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                。</a:t>
            </a: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45615" y="4752340"/>
            <a:ext cx="11089640" cy="9772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3</a:t>
            </a:r>
            <a:r>
              <a:rPr lang="zh-CN" altLang="en-US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.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A：</a:t>
            </a:r>
            <a:r>
              <a:rPr lang="en-US" altLang="zh-CN" sz="24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                              </a:t>
            </a:r>
            <a:r>
              <a:rPr lang="zh-CN" altLang="en-US" sz="2400" b="1" u="sng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。</a:t>
            </a: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                        。</a:t>
            </a:r>
          </a:p>
          <a:p>
            <a:pPr algn="l" eaLnBrk="1">
              <a:lnSpc>
                <a:spcPct val="120000"/>
              </a:lnSpc>
            </a:pPr>
            <a:r>
              <a:rPr lang="en-US" altLang="zh-CN" sz="2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B：真的吗？我最近也迷上了摄影，以后遇到问题可以请教他了。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图片 601" descr="C:\Users\38577\Desktop\11.jpg11"/>
          <p:cNvPicPr>
            <a:picLocks noChangeAspect="1"/>
          </p:cNvPicPr>
          <p:nvPr/>
        </p:nvPicPr>
        <p:blipFill rotWithShape="1">
          <a:blip r:embed="rId118"/>
          <a:srcRect/>
          <a:stretch>
            <a:fillRect/>
          </a:stretch>
        </p:blipFill>
        <p:spPr>
          <a:xfrm>
            <a:off x="-190500" y="-578167"/>
            <a:ext cx="12573635" cy="8015605"/>
          </a:xfrm>
          <a:prstGeom prst="rect">
            <a:avLst/>
          </a:prstGeom>
        </p:spPr>
      </p:pic>
      <p:sp>
        <p:nvSpPr>
          <p:cNvPr id="34" name="PA-4-Point Star 33"/>
          <p:cNvSpPr/>
          <p:nvPr>
            <p:custDataLst>
              <p:tags r:id="rId1"/>
            </p:custDataLst>
          </p:nvPr>
        </p:nvSpPr>
        <p:spPr>
          <a:xfrm rot="8294776">
            <a:off x="5002837" y="21462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A-4-Point Star 34"/>
          <p:cNvSpPr/>
          <p:nvPr>
            <p:custDataLst>
              <p:tags r:id="rId2"/>
            </p:custDataLst>
          </p:nvPr>
        </p:nvSpPr>
        <p:spPr>
          <a:xfrm rot="8294776">
            <a:off x="5483061" y="2369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A-4-Point Star 35"/>
          <p:cNvSpPr/>
          <p:nvPr>
            <p:custDataLst>
              <p:tags r:id="rId3"/>
            </p:custDataLst>
          </p:nvPr>
        </p:nvSpPr>
        <p:spPr>
          <a:xfrm rot="8294776">
            <a:off x="5344914" y="2685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A-4-Point Star 36"/>
          <p:cNvSpPr/>
          <p:nvPr>
            <p:custDataLst>
              <p:tags r:id="rId4"/>
            </p:custDataLst>
          </p:nvPr>
        </p:nvSpPr>
        <p:spPr>
          <a:xfrm rot="16200000">
            <a:off x="243104" y="-655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PA-4-Point Star 77"/>
          <p:cNvSpPr/>
          <p:nvPr>
            <p:custDataLst>
              <p:tags r:id="rId5"/>
            </p:custDataLst>
          </p:nvPr>
        </p:nvSpPr>
        <p:spPr>
          <a:xfrm rot="16200000">
            <a:off x="6457747" y="229694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PA-4-Point Star 96"/>
          <p:cNvSpPr/>
          <p:nvPr>
            <p:custDataLst>
              <p:tags r:id="rId6"/>
            </p:custDataLst>
          </p:nvPr>
        </p:nvSpPr>
        <p:spPr>
          <a:xfrm rot="8294776">
            <a:off x="5628180" y="26272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PA-4-Point Star 97"/>
          <p:cNvSpPr/>
          <p:nvPr>
            <p:custDataLst>
              <p:tags r:id="rId7"/>
            </p:custDataLst>
          </p:nvPr>
        </p:nvSpPr>
        <p:spPr>
          <a:xfrm rot="16200000">
            <a:off x="11913218" y="758020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PA-4-Point Star 108"/>
          <p:cNvSpPr/>
          <p:nvPr>
            <p:custDataLst>
              <p:tags r:id="rId8"/>
            </p:custDataLst>
          </p:nvPr>
        </p:nvSpPr>
        <p:spPr>
          <a:xfrm rot="16200000">
            <a:off x="6141590" y="2473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PA-4-Point Star 133"/>
          <p:cNvSpPr/>
          <p:nvPr>
            <p:custDataLst>
              <p:tags r:id="rId9"/>
            </p:custDataLst>
          </p:nvPr>
        </p:nvSpPr>
        <p:spPr>
          <a:xfrm rot="16200000">
            <a:off x="4653787" y="3063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PA-4-Point Star 134"/>
          <p:cNvSpPr/>
          <p:nvPr>
            <p:custDataLst>
              <p:tags r:id="rId10"/>
            </p:custDataLst>
          </p:nvPr>
        </p:nvSpPr>
        <p:spPr>
          <a:xfrm rot="8294776">
            <a:off x="5693570" y="21922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PA-4-Point Star 135"/>
          <p:cNvSpPr/>
          <p:nvPr>
            <p:custDataLst>
              <p:tags r:id="rId11"/>
            </p:custDataLst>
          </p:nvPr>
        </p:nvSpPr>
        <p:spPr>
          <a:xfrm rot="8294776">
            <a:off x="5555423" y="25080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PA-4-Point Star 136"/>
          <p:cNvSpPr/>
          <p:nvPr>
            <p:custDataLst>
              <p:tags r:id="rId12"/>
            </p:custDataLst>
          </p:nvPr>
        </p:nvSpPr>
        <p:spPr>
          <a:xfrm rot="8294776">
            <a:off x="4594974" y="2672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A-4-Point Star 138"/>
          <p:cNvSpPr/>
          <p:nvPr>
            <p:custDataLst>
              <p:tags r:id="rId13"/>
            </p:custDataLst>
          </p:nvPr>
        </p:nvSpPr>
        <p:spPr>
          <a:xfrm rot="16200000">
            <a:off x="6686518" y="4379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PA-4-Point Star 139"/>
          <p:cNvSpPr/>
          <p:nvPr>
            <p:custDataLst>
              <p:tags r:id="rId14"/>
            </p:custDataLst>
          </p:nvPr>
        </p:nvSpPr>
        <p:spPr>
          <a:xfrm rot="7352446">
            <a:off x="9882647" y="68728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PA-4-Point Star 140"/>
          <p:cNvSpPr/>
          <p:nvPr>
            <p:custDataLst>
              <p:tags r:id="rId15"/>
            </p:custDataLst>
          </p:nvPr>
        </p:nvSpPr>
        <p:spPr>
          <a:xfrm rot="7352446">
            <a:off x="9744500" y="718859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A-4-Point Star 141"/>
          <p:cNvSpPr/>
          <p:nvPr>
            <p:custDataLst>
              <p:tags r:id="rId16"/>
            </p:custDataLst>
          </p:nvPr>
        </p:nvSpPr>
        <p:spPr>
          <a:xfrm rot="8294776">
            <a:off x="7009842" y="177126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4" name="PA-4-Point Star 153"/>
          <p:cNvSpPr/>
          <p:nvPr>
            <p:custDataLst>
              <p:tags r:id="rId17"/>
            </p:custDataLst>
          </p:nvPr>
        </p:nvSpPr>
        <p:spPr>
          <a:xfrm rot="13694776">
            <a:off x="-716950" y="47656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PA-4-Point Star 154"/>
          <p:cNvSpPr/>
          <p:nvPr>
            <p:custDataLst>
              <p:tags r:id="rId18"/>
            </p:custDataLst>
          </p:nvPr>
        </p:nvSpPr>
        <p:spPr>
          <a:xfrm rot="13694776">
            <a:off x="275801" y="-113633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6" name="PA-4-Point Star 155"/>
          <p:cNvSpPr/>
          <p:nvPr>
            <p:custDataLst>
              <p:tags r:id="rId19"/>
            </p:custDataLst>
          </p:nvPr>
        </p:nvSpPr>
        <p:spPr>
          <a:xfrm>
            <a:off x="506143" y="-49301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PA-4-Point Star 225"/>
          <p:cNvSpPr/>
          <p:nvPr>
            <p:custDataLst>
              <p:tags r:id="rId20"/>
            </p:custDataLst>
          </p:nvPr>
        </p:nvSpPr>
        <p:spPr>
          <a:xfrm rot="13694776">
            <a:off x="-209233" y="15781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PA-4-Point Star 236"/>
          <p:cNvSpPr/>
          <p:nvPr>
            <p:custDataLst>
              <p:tags r:id="rId21"/>
            </p:custDataLst>
          </p:nvPr>
        </p:nvSpPr>
        <p:spPr>
          <a:xfrm rot="13694776">
            <a:off x="5239957" y="26512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PA-4-Point Star 237"/>
          <p:cNvSpPr/>
          <p:nvPr>
            <p:custDataLst>
              <p:tags r:id="rId22"/>
            </p:custDataLst>
          </p:nvPr>
        </p:nvSpPr>
        <p:spPr>
          <a:xfrm>
            <a:off x="960449" y="-53828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PA-4-Point Star 238"/>
          <p:cNvSpPr/>
          <p:nvPr>
            <p:custDataLst>
              <p:tags r:id="rId23"/>
            </p:custDataLst>
          </p:nvPr>
        </p:nvSpPr>
        <p:spPr>
          <a:xfrm>
            <a:off x="0" y="-3738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PA-4-Point Star 239"/>
          <p:cNvSpPr/>
          <p:nvPr>
            <p:custDataLst>
              <p:tags r:id="rId24"/>
            </p:custDataLst>
          </p:nvPr>
        </p:nvSpPr>
        <p:spPr>
          <a:xfrm>
            <a:off x="5390375" y="718363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PA-4-Point Star 241"/>
          <p:cNvSpPr/>
          <p:nvPr>
            <p:custDataLst>
              <p:tags r:id="rId25"/>
            </p:custDataLst>
          </p:nvPr>
        </p:nvSpPr>
        <p:spPr>
          <a:xfrm rot="13694776">
            <a:off x="-209232" y="14334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PA-4-Point Star 242"/>
          <p:cNvSpPr/>
          <p:nvPr>
            <p:custDataLst>
              <p:tags r:id="rId26"/>
            </p:custDataLst>
          </p:nvPr>
        </p:nvSpPr>
        <p:spPr>
          <a:xfrm>
            <a:off x="-1098007" y="548865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PA-4-Point Star 243"/>
          <p:cNvSpPr/>
          <p:nvPr>
            <p:custDataLst>
              <p:tags r:id="rId27"/>
            </p:custDataLst>
          </p:nvPr>
        </p:nvSpPr>
        <p:spPr>
          <a:xfrm>
            <a:off x="3844446" y="708495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PA-4-Point Star 244"/>
          <p:cNvSpPr/>
          <p:nvPr>
            <p:custDataLst>
              <p:tags r:id="rId28"/>
            </p:custDataLst>
          </p:nvPr>
        </p:nvSpPr>
        <p:spPr>
          <a:xfrm rot="13694776">
            <a:off x="-696034" y="15781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PA-4-Point Star 245"/>
          <p:cNvSpPr/>
          <p:nvPr>
            <p:custDataLst>
              <p:tags r:id="rId29"/>
            </p:custDataLst>
          </p:nvPr>
        </p:nvSpPr>
        <p:spPr>
          <a:xfrm>
            <a:off x="-966438" y="55412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7" name="PA-4-Point Star 246"/>
          <p:cNvSpPr/>
          <p:nvPr>
            <p:custDataLst>
              <p:tags r:id="rId30"/>
            </p:custDataLst>
          </p:nvPr>
        </p:nvSpPr>
        <p:spPr>
          <a:xfrm>
            <a:off x="-1104585" y="58570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PA-4-Point Star 247"/>
          <p:cNvSpPr/>
          <p:nvPr>
            <p:custDataLst>
              <p:tags r:id="rId31"/>
            </p:custDataLst>
          </p:nvPr>
        </p:nvSpPr>
        <p:spPr>
          <a:xfrm>
            <a:off x="3837868" y="745334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PA-4-Point Star 251"/>
          <p:cNvSpPr/>
          <p:nvPr>
            <p:custDataLst>
              <p:tags r:id="rId32"/>
            </p:custDataLst>
          </p:nvPr>
        </p:nvSpPr>
        <p:spPr>
          <a:xfrm>
            <a:off x="10170037" y="-720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PA-4-Point Star 256"/>
          <p:cNvSpPr/>
          <p:nvPr>
            <p:custDataLst>
              <p:tags r:id="rId33"/>
            </p:custDataLst>
          </p:nvPr>
        </p:nvSpPr>
        <p:spPr>
          <a:xfrm>
            <a:off x="730203" y="-70274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PA-4-Point Star 261"/>
          <p:cNvSpPr/>
          <p:nvPr>
            <p:custDataLst>
              <p:tags r:id="rId34"/>
            </p:custDataLst>
          </p:nvPr>
        </p:nvSpPr>
        <p:spPr>
          <a:xfrm>
            <a:off x="10321341" y="-28909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PA-4-Point Star 264"/>
          <p:cNvSpPr/>
          <p:nvPr>
            <p:custDataLst>
              <p:tags r:id="rId35"/>
            </p:custDataLst>
          </p:nvPr>
        </p:nvSpPr>
        <p:spPr>
          <a:xfrm>
            <a:off x="4844366" y="74138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PA-4-Point Star 265"/>
          <p:cNvSpPr/>
          <p:nvPr>
            <p:custDataLst>
              <p:tags r:id="rId36"/>
            </p:custDataLst>
          </p:nvPr>
        </p:nvSpPr>
        <p:spPr>
          <a:xfrm>
            <a:off x="-913810" y="58241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PA-4-Point Star 266"/>
          <p:cNvSpPr/>
          <p:nvPr>
            <p:custDataLst>
              <p:tags r:id="rId37"/>
            </p:custDataLst>
          </p:nvPr>
        </p:nvSpPr>
        <p:spPr>
          <a:xfrm>
            <a:off x="9420098" y="-28251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PA-4-Point Star 267"/>
          <p:cNvSpPr/>
          <p:nvPr>
            <p:custDataLst>
              <p:tags r:id="rId38"/>
            </p:custDataLst>
          </p:nvPr>
        </p:nvSpPr>
        <p:spPr>
          <a:xfrm>
            <a:off x="4423348" y="70323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PA-4-Point Star 268"/>
          <p:cNvSpPr/>
          <p:nvPr>
            <p:custDataLst>
              <p:tags r:id="rId39"/>
            </p:custDataLst>
          </p:nvPr>
        </p:nvSpPr>
        <p:spPr>
          <a:xfrm>
            <a:off x="5456160" y="707837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PA-4-Point Star 383"/>
          <p:cNvSpPr/>
          <p:nvPr>
            <p:custDataLst>
              <p:tags r:id="rId40"/>
            </p:custDataLst>
          </p:nvPr>
        </p:nvSpPr>
        <p:spPr>
          <a:xfrm rot="8294776">
            <a:off x="6733943" y="16996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PA-4-Point Star 387"/>
          <p:cNvSpPr/>
          <p:nvPr>
            <p:custDataLst>
              <p:tags r:id="rId41"/>
            </p:custDataLst>
          </p:nvPr>
        </p:nvSpPr>
        <p:spPr>
          <a:xfrm rot="8294776">
            <a:off x="4805877" y="251540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PA-4-Point Star 391"/>
          <p:cNvSpPr/>
          <p:nvPr>
            <p:custDataLst>
              <p:tags r:id="rId42"/>
            </p:custDataLst>
          </p:nvPr>
        </p:nvSpPr>
        <p:spPr>
          <a:xfrm rot="16200000">
            <a:off x="657938" y="-62144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PA-4-Point Star 396"/>
          <p:cNvSpPr/>
          <p:nvPr>
            <p:custDataLst>
              <p:tags r:id="rId43"/>
            </p:custDataLst>
          </p:nvPr>
        </p:nvSpPr>
        <p:spPr>
          <a:xfrm rot="15257670">
            <a:off x="12926393" y="53587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PA-4-Point Star 401"/>
          <p:cNvSpPr/>
          <p:nvPr>
            <p:custDataLst>
              <p:tags r:id="rId44"/>
            </p:custDataLst>
          </p:nvPr>
        </p:nvSpPr>
        <p:spPr>
          <a:xfrm rot="8294776">
            <a:off x="5865005" y="26140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PA-4-Point Star 402"/>
          <p:cNvSpPr/>
          <p:nvPr>
            <p:custDataLst>
              <p:tags r:id="rId45"/>
            </p:custDataLst>
          </p:nvPr>
        </p:nvSpPr>
        <p:spPr>
          <a:xfrm rot="16200000">
            <a:off x="7095855" y="225090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PA-4-Point Star 403"/>
          <p:cNvSpPr/>
          <p:nvPr>
            <p:custDataLst>
              <p:tags r:id="rId46"/>
            </p:custDataLst>
          </p:nvPr>
        </p:nvSpPr>
        <p:spPr>
          <a:xfrm rot="16200000">
            <a:off x="6957708" y="256666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PA-4-Point Star 404"/>
          <p:cNvSpPr/>
          <p:nvPr>
            <p:custDataLst>
              <p:tags r:id="rId47"/>
            </p:custDataLst>
          </p:nvPr>
        </p:nvSpPr>
        <p:spPr>
          <a:xfrm rot="16200000">
            <a:off x="10446429" y="-39198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6" name="PA-4-Point Star 405"/>
          <p:cNvSpPr/>
          <p:nvPr>
            <p:custDataLst>
              <p:tags r:id="rId48"/>
            </p:custDataLst>
          </p:nvPr>
        </p:nvSpPr>
        <p:spPr>
          <a:xfrm rot="16200000">
            <a:off x="6495647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8" name="PA-4-Point Star 407"/>
          <p:cNvSpPr/>
          <p:nvPr>
            <p:custDataLst>
              <p:tags r:id="rId49"/>
            </p:custDataLst>
          </p:nvPr>
        </p:nvSpPr>
        <p:spPr>
          <a:xfrm rot="16200000">
            <a:off x="657939" y="-76617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9" name="PA-4-Point Star 408"/>
          <p:cNvSpPr/>
          <p:nvPr>
            <p:custDataLst>
              <p:tags r:id="rId50"/>
            </p:custDataLst>
          </p:nvPr>
        </p:nvSpPr>
        <p:spPr>
          <a:xfrm rot="16200000">
            <a:off x="519792" y="-45040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2" name="PA-4-Point Star 411"/>
          <p:cNvSpPr/>
          <p:nvPr>
            <p:custDataLst>
              <p:tags r:id="rId51"/>
            </p:custDataLst>
          </p:nvPr>
        </p:nvSpPr>
        <p:spPr>
          <a:xfrm rot="16200000">
            <a:off x="651361" y="-3977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3" name="PA-4-Point Star 412"/>
          <p:cNvSpPr/>
          <p:nvPr>
            <p:custDataLst>
              <p:tags r:id="rId52"/>
            </p:custDataLst>
          </p:nvPr>
        </p:nvSpPr>
        <p:spPr>
          <a:xfrm rot="16200000">
            <a:off x="9854371" y="-28673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5" name="PA-4-Point Star 414"/>
          <p:cNvSpPr/>
          <p:nvPr>
            <p:custDataLst>
              <p:tags r:id="rId53"/>
            </p:custDataLst>
          </p:nvPr>
        </p:nvSpPr>
        <p:spPr>
          <a:xfrm rot="16200000">
            <a:off x="12071102" y="731048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6" name="PA-4-Point Star 415"/>
          <p:cNvSpPr/>
          <p:nvPr>
            <p:custDataLst>
              <p:tags r:id="rId54"/>
            </p:custDataLst>
          </p:nvPr>
        </p:nvSpPr>
        <p:spPr>
          <a:xfrm rot="15257670">
            <a:off x="12919816" y="558238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7" name="PA-4-Point Star 416"/>
          <p:cNvSpPr/>
          <p:nvPr>
            <p:custDataLst>
              <p:tags r:id="rId55"/>
            </p:custDataLst>
          </p:nvPr>
        </p:nvSpPr>
        <p:spPr>
          <a:xfrm rot="15257670">
            <a:off x="12781669" y="589814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8" name="PA-4-Point Star 417"/>
          <p:cNvSpPr/>
          <p:nvPr>
            <p:custDataLst>
              <p:tags r:id="rId56"/>
            </p:custDataLst>
          </p:nvPr>
        </p:nvSpPr>
        <p:spPr>
          <a:xfrm rot="16200000">
            <a:off x="6416706" y="711362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3" name="PA-4-Point Star 422"/>
          <p:cNvSpPr/>
          <p:nvPr>
            <p:custDataLst>
              <p:tags r:id="rId57"/>
            </p:custDataLst>
          </p:nvPr>
        </p:nvSpPr>
        <p:spPr>
          <a:xfrm rot="16200000">
            <a:off x="6727462" y="2402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6" name="PA-4-Point Star 425"/>
          <p:cNvSpPr/>
          <p:nvPr>
            <p:custDataLst>
              <p:tags r:id="rId58"/>
            </p:custDataLst>
          </p:nvPr>
        </p:nvSpPr>
        <p:spPr>
          <a:xfrm rot="16200000">
            <a:off x="8113939" y="69952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7" name="PA-4-Point Star 426"/>
          <p:cNvSpPr/>
          <p:nvPr>
            <p:custDataLst>
              <p:tags r:id="rId59"/>
            </p:custDataLst>
          </p:nvPr>
        </p:nvSpPr>
        <p:spPr>
          <a:xfrm rot="16200000">
            <a:off x="2295770" y="708495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8" name="PA-4-Point Star 427"/>
          <p:cNvSpPr/>
          <p:nvPr>
            <p:custDataLst>
              <p:tags r:id="rId60"/>
            </p:custDataLst>
          </p:nvPr>
        </p:nvSpPr>
        <p:spPr>
          <a:xfrm rot="16200000">
            <a:off x="6977443" y="302057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9" name="PA-4-Point Star 428"/>
          <p:cNvSpPr/>
          <p:nvPr>
            <p:custDataLst>
              <p:tags r:id="rId61"/>
            </p:custDataLst>
          </p:nvPr>
        </p:nvSpPr>
        <p:spPr>
          <a:xfrm rot="16200000">
            <a:off x="7048234" y="712020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0" name="PA-4-Point Star 429"/>
          <p:cNvSpPr/>
          <p:nvPr>
            <p:custDataLst>
              <p:tags r:id="rId62"/>
            </p:custDataLst>
          </p:nvPr>
        </p:nvSpPr>
        <p:spPr>
          <a:xfrm rot="16200000">
            <a:off x="6910087" y="743596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1" name="PA-4-Point Star 430"/>
          <p:cNvSpPr/>
          <p:nvPr>
            <p:custDataLst>
              <p:tags r:id="rId63"/>
            </p:custDataLst>
          </p:nvPr>
        </p:nvSpPr>
        <p:spPr>
          <a:xfrm rot="16200000">
            <a:off x="5949638" y="76004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2" name="PA-4-Point Star 431"/>
          <p:cNvSpPr/>
          <p:nvPr>
            <p:custDataLst>
              <p:tags r:id="rId64"/>
            </p:custDataLst>
          </p:nvPr>
        </p:nvSpPr>
        <p:spPr>
          <a:xfrm rot="16200000">
            <a:off x="10045146" y="-3196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3" name="PA-4-Point Star 432"/>
          <p:cNvSpPr/>
          <p:nvPr>
            <p:custDataLst>
              <p:tags r:id="rId65"/>
            </p:custDataLst>
          </p:nvPr>
        </p:nvSpPr>
        <p:spPr>
          <a:xfrm rot="16200000">
            <a:off x="6076200" y="3027153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4" name="PA-4-Point Star 433"/>
          <p:cNvSpPr/>
          <p:nvPr>
            <p:custDataLst>
              <p:tags r:id="rId66"/>
            </p:custDataLst>
          </p:nvPr>
        </p:nvSpPr>
        <p:spPr>
          <a:xfrm rot="16200000">
            <a:off x="5528620" y="72188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5" name="PA-4-Point Star 434"/>
          <p:cNvSpPr/>
          <p:nvPr>
            <p:custDataLst>
              <p:tags r:id="rId67"/>
            </p:custDataLst>
          </p:nvPr>
        </p:nvSpPr>
        <p:spPr>
          <a:xfrm rot="16200000">
            <a:off x="6561432" y="726492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6" name="PA-4-Point Star 435"/>
          <p:cNvSpPr/>
          <p:nvPr>
            <p:custDataLst>
              <p:tags r:id="rId68"/>
            </p:custDataLst>
          </p:nvPr>
        </p:nvSpPr>
        <p:spPr>
          <a:xfrm rot="16200000">
            <a:off x="7041656" y="748859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7" name="PA-4-Point Star 436"/>
          <p:cNvSpPr/>
          <p:nvPr>
            <p:custDataLst>
              <p:tags r:id="rId69"/>
            </p:custDataLst>
          </p:nvPr>
        </p:nvSpPr>
        <p:spPr>
          <a:xfrm rot="16200000">
            <a:off x="1703712" y="719021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8" name="PA-4-Point Star 437"/>
          <p:cNvSpPr/>
          <p:nvPr>
            <p:custDataLst>
              <p:tags r:id="rId70"/>
            </p:custDataLst>
          </p:nvPr>
        </p:nvSpPr>
        <p:spPr>
          <a:xfrm rot="7352446">
            <a:off x="9751474" y="728147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9" name="PA-4-Point Star 438"/>
          <p:cNvSpPr/>
          <p:nvPr>
            <p:custDataLst>
              <p:tags r:id="rId71"/>
            </p:custDataLst>
          </p:nvPr>
        </p:nvSpPr>
        <p:spPr>
          <a:xfrm rot="16200000">
            <a:off x="12475404" y="357659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0" name="PA-4-Point Star 439"/>
          <p:cNvSpPr/>
          <p:nvPr>
            <p:custDataLst>
              <p:tags r:id="rId72"/>
            </p:custDataLst>
          </p:nvPr>
        </p:nvSpPr>
        <p:spPr>
          <a:xfrm rot="15257670">
            <a:off x="12722463" y="555606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1" name="PA-4-Point Star 440"/>
          <p:cNvSpPr/>
          <p:nvPr>
            <p:custDataLst>
              <p:tags r:id="rId73"/>
            </p:custDataLst>
          </p:nvPr>
        </p:nvSpPr>
        <p:spPr>
          <a:xfrm rot="16200000">
            <a:off x="8225770" y="73701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7" name="PA-4-Point Star 456"/>
          <p:cNvSpPr/>
          <p:nvPr>
            <p:custDataLst>
              <p:tags r:id="rId74"/>
            </p:custDataLst>
          </p:nvPr>
        </p:nvSpPr>
        <p:spPr>
          <a:xfrm rot="15257670">
            <a:off x="9567374" y="771427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3" name="PA-4-Point Star 462"/>
          <p:cNvSpPr/>
          <p:nvPr>
            <p:custDataLst>
              <p:tags r:id="rId75"/>
            </p:custDataLst>
          </p:nvPr>
        </p:nvSpPr>
        <p:spPr>
          <a:xfrm>
            <a:off x="3837967" y="6117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PA-4-Point Star 464"/>
          <p:cNvSpPr/>
          <p:nvPr>
            <p:custDataLst>
              <p:tags r:id="rId76"/>
            </p:custDataLst>
          </p:nvPr>
        </p:nvSpPr>
        <p:spPr>
          <a:xfrm rot="13694776">
            <a:off x="4739603" y="253858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6" name="PA-4-Point Star 465"/>
          <p:cNvSpPr/>
          <p:nvPr>
            <p:custDataLst>
              <p:tags r:id="rId77"/>
            </p:custDataLst>
          </p:nvPr>
        </p:nvSpPr>
        <p:spPr>
          <a:xfrm>
            <a:off x="-874734" y="532341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8" name="PA-4-Point Star 467"/>
          <p:cNvSpPr/>
          <p:nvPr>
            <p:custDataLst>
              <p:tags r:id="rId78"/>
            </p:custDataLst>
          </p:nvPr>
        </p:nvSpPr>
        <p:spPr>
          <a:xfrm>
            <a:off x="2292038" y="-3750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9" name="PA-4-Point Star 468"/>
          <p:cNvSpPr/>
          <p:nvPr>
            <p:custDataLst>
              <p:tags r:id="rId79"/>
            </p:custDataLst>
          </p:nvPr>
        </p:nvSpPr>
        <p:spPr>
          <a:xfrm rot="13694776">
            <a:off x="-571439" y="100502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0" name="PA-4-Point Star 469"/>
          <p:cNvSpPr/>
          <p:nvPr>
            <p:custDataLst>
              <p:tags r:id="rId80"/>
            </p:custDataLst>
          </p:nvPr>
        </p:nvSpPr>
        <p:spPr>
          <a:xfrm rot="13694776">
            <a:off x="-709586" y="1320789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2" name="PA-4-Point Star 471"/>
          <p:cNvSpPr/>
          <p:nvPr>
            <p:custDataLst>
              <p:tags r:id="rId81"/>
            </p:custDataLst>
          </p:nvPr>
        </p:nvSpPr>
        <p:spPr>
          <a:xfrm rot="13694776">
            <a:off x="-1058241" y="11497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3" name="PA-4-Point Star 472"/>
          <p:cNvSpPr/>
          <p:nvPr>
            <p:custDataLst>
              <p:tags r:id="rId82"/>
            </p:custDataLst>
          </p:nvPr>
        </p:nvSpPr>
        <p:spPr>
          <a:xfrm rot="13694776">
            <a:off x="-578017" y="1373417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4" name="PA-4-Point Star 473"/>
          <p:cNvSpPr/>
          <p:nvPr>
            <p:custDataLst>
              <p:tags r:id="rId83"/>
            </p:custDataLst>
          </p:nvPr>
        </p:nvSpPr>
        <p:spPr>
          <a:xfrm>
            <a:off x="-347675" y="201672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PA-4-Point Star 480"/>
          <p:cNvSpPr/>
          <p:nvPr>
            <p:custDataLst>
              <p:tags r:id="rId84"/>
            </p:custDataLst>
          </p:nvPr>
        </p:nvSpPr>
        <p:spPr>
          <a:xfrm>
            <a:off x="4002426" y="-491416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2" name="PA-4-Point Star 481"/>
          <p:cNvSpPr/>
          <p:nvPr>
            <p:custDataLst>
              <p:tags r:id="rId85"/>
            </p:custDataLst>
          </p:nvPr>
        </p:nvSpPr>
        <p:spPr>
          <a:xfrm>
            <a:off x="3041977" y="-3269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3" name="PA-4-Point Star 482"/>
          <p:cNvSpPr/>
          <p:nvPr>
            <p:custDataLst>
              <p:tags r:id="rId86"/>
            </p:custDataLst>
          </p:nvPr>
        </p:nvSpPr>
        <p:spPr>
          <a:xfrm rot="13694776">
            <a:off x="4509357" y="237412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2" name="PA-4-Point Star 501"/>
          <p:cNvSpPr/>
          <p:nvPr>
            <p:custDataLst>
              <p:tags r:id="rId87"/>
            </p:custDataLst>
          </p:nvPr>
        </p:nvSpPr>
        <p:spPr>
          <a:xfrm rot="13694776">
            <a:off x="-999821" y="466694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3" name="PA-4-Point Star 502"/>
          <p:cNvSpPr/>
          <p:nvPr>
            <p:custDataLst>
              <p:tags r:id="rId88"/>
            </p:custDataLst>
          </p:nvPr>
        </p:nvSpPr>
        <p:spPr>
          <a:xfrm rot="13694776">
            <a:off x="4502780" y="25977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4" name="PA-4-Point Star 503"/>
          <p:cNvSpPr/>
          <p:nvPr>
            <p:custDataLst>
              <p:tags r:id="rId89"/>
            </p:custDataLst>
          </p:nvPr>
        </p:nvSpPr>
        <p:spPr>
          <a:xfrm>
            <a:off x="223272" y="-59169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5" name="PA-4-Point Star 504"/>
          <p:cNvSpPr/>
          <p:nvPr>
            <p:custDataLst>
              <p:tags r:id="rId90"/>
            </p:custDataLst>
          </p:nvPr>
        </p:nvSpPr>
        <p:spPr>
          <a:xfrm>
            <a:off x="-1249704" y="5698384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9" name="PA-4-Point Star 528"/>
          <p:cNvSpPr/>
          <p:nvPr>
            <p:custDataLst>
              <p:tags r:id="rId91"/>
            </p:custDataLst>
          </p:nvPr>
        </p:nvSpPr>
        <p:spPr>
          <a:xfrm rot="13694776">
            <a:off x="4476465" y="243990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1" name="PA-4-Point Star 530"/>
          <p:cNvSpPr/>
          <p:nvPr>
            <p:custDataLst>
              <p:tags r:id="rId92"/>
            </p:custDataLst>
          </p:nvPr>
        </p:nvSpPr>
        <p:spPr>
          <a:xfrm>
            <a:off x="3153811" y="-41905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" name="PA-4-Point Star 531"/>
          <p:cNvSpPr/>
          <p:nvPr>
            <p:custDataLst>
              <p:tags r:id="rId93"/>
            </p:custDataLst>
          </p:nvPr>
        </p:nvSpPr>
        <p:spPr>
          <a:xfrm>
            <a:off x="3634035" y="-195388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PA-4-Point Star 532"/>
          <p:cNvSpPr/>
          <p:nvPr>
            <p:custDataLst>
              <p:tags r:id="rId94"/>
            </p:custDataLst>
          </p:nvPr>
        </p:nvSpPr>
        <p:spPr>
          <a:xfrm rot="13694776">
            <a:off x="-966930" y="435118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4" name="PA-4-Point Star 533"/>
          <p:cNvSpPr/>
          <p:nvPr>
            <p:custDataLst>
              <p:tags r:id="rId95"/>
            </p:custDataLst>
          </p:nvPr>
        </p:nvSpPr>
        <p:spPr>
          <a:xfrm rot="13694776">
            <a:off x="-808262" y="110370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PA-4-Point Star 534"/>
          <p:cNvSpPr/>
          <p:nvPr>
            <p:custDataLst>
              <p:tags r:id="rId96"/>
            </p:custDataLst>
          </p:nvPr>
        </p:nvSpPr>
        <p:spPr>
          <a:xfrm>
            <a:off x="-651069" y="56062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9" name="PA-4-Point Star 538"/>
          <p:cNvSpPr/>
          <p:nvPr>
            <p:custDataLst>
              <p:tags r:id="rId97"/>
            </p:custDataLst>
          </p:nvPr>
        </p:nvSpPr>
        <p:spPr>
          <a:xfrm>
            <a:off x="328526" y="-696950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2" name="PA-4-Point Star 541"/>
          <p:cNvSpPr/>
          <p:nvPr>
            <p:custDataLst>
              <p:tags r:id="rId98"/>
            </p:custDataLst>
          </p:nvPr>
        </p:nvSpPr>
        <p:spPr>
          <a:xfrm>
            <a:off x="2285459" y="54592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3" name="PA-4-Point Star 542"/>
          <p:cNvSpPr/>
          <p:nvPr>
            <p:custDataLst>
              <p:tags r:id="rId99"/>
            </p:custDataLst>
          </p:nvPr>
        </p:nvSpPr>
        <p:spPr>
          <a:xfrm rot="13694776">
            <a:off x="-1196389" y="1189221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5" name="PA-4-Point Star 544"/>
          <p:cNvSpPr/>
          <p:nvPr>
            <p:custDataLst>
              <p:tags r:id="rId100"/>
            </p:custDataLst>
          </p:nvPr>
        </p:nvSpPr>
        <p:spPr>
          <a:xfrm>
            <a:off x="3120917" y="-287485"/>
            <a:ext cx="72000" cy="72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0" name="PA-4-Point Star 559"/>
          <p:cNvSpPr/>
          <p:nvPr>
            <p:custDataLst>
              <p:tags r:id="rId101"/>
            </p:custDataLst>
          </p:nvPr>
        </p:nvSpPr>
        <p:spPr>
          <a:xfrm>
            <a:off x="3361858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1" name="PA-4-Point Star 560"/>
          <p:cNvSpPr/>
          <p:nvPr>
            <p:custDataLst>
              <p:tags r:id="rId102"/>
            </p:custDataLst>
          </p:nvPr>
        </p:nvSpPr>
        <p:spPr>
          <a:xfrm>
            <a:off x="2479263" y="-66142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2" name="PA-4-Point Star 561"/>
          <p:cNvSpPr/>
          <p:nvPr>
            <p:custDataLst>
              <p:tags r:id="rId103"/>
            </p:custDataLst>
          </p:nvPr>
        </p:nvSpPr>
        <p:spPr>
          <a:xfrm>
            <a:off x="-694732" y="185261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8" name="PA-4-Point Star 567"/>
          <p:cNvSpPr/>
          <p:nvPr>
            <p:custDataLst>
              <p:tags r:id="rId104"/>
            </p:custDataLst>
          </p:nvPr>
        </p:nvSpPr>
        <p:spPr>
          <a:xfrm>
            <a:off x="-993911" y="1779033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0" name="PA-4-Point Star 569"/>
          <p:cNvSpPr/>
          <p:nvPr>
            <p:custDataLst>
              <p:tags r:id="rId105"/>
            </p:custDataLst>
          </p:nvPr>
        </p:nvSpPr>
        <p:spPr>
          <a:xfrm>
            <a:off x="-811031" y="2152744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1" name="PA-4-Point Star 570"/>
          <p:cNvSpPr/>
          <p:nvPr>
            <p:custDataLst>
              <p:tags r:id="rId106"/>
            </p:custDataLst>
          </p:nvPr>
        </p:nvSpPr>
        <p:spPr>
          <a:xfrm>
            <a:off x="-842836" y="278089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2" name="PA-4-Point Star 571"/>
          <p:cNvSpPr/>
          <p:nvPr>
            <p:custDataLst>
              <p:tags r:id="rId107"/>
            </p:custDataLst>
          </p:nvPr>
        </p:nvSpPr>
        <p:spPr>
          <a:xfrm>
            <a:off x="-1411295" y="7320855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3" name="PA-4-Point Star 572"/>
          <p:cNvSpPr/>
          <p:nvPr>
            <p:custDataLst>
              <p:tags r:id="rId108"/>
            </p:custDataLst>
          </p:nvPr>
        </p:nvSpPr>
        <p:spPr>
          <a:xfrm>
            <a:off x="4225824" y="740226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7" name="PA-4-Point Star 586"/>
          <p:cNvSpPr/>
          <p:nvPr>
            <p:custDataLst>
              <p:tags r:id="rId109"/>
            </p:custDataLst>
          </p:nvPr>
        </p:nvSpPr>
        <p:spPr>
          <a:xfrm rot="8294776">
            <a:off x="-859688" y="4374360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0" name="PA-4-Point Star 589"/>
          <p:cNvSpPr/>
          <p:nvPr>
            <p:custDataLst>
              <p:tags r:id="rId110"/>
            </p:custDataLst>
          </p:nvPr>
        </p:nvSpPr>
        <p:spPr>
          <a:xfrm rot="8294776">
            <a:off x="12236491" y="8201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1" name="PA-4-Point Star 590"/>
          <p:cNvSpPr/>
          <p:nvPr>
            <p:custDataLst>
              <p:tags r:id="rId111"/>
            </p:custDataLst>
          </p:nvPr>
        </p:nvSpPr>
        <p:spPr>
          <a:xfrm rot="16200000">
            <a:off x="12604980" y="1720167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2" name="PA-4-Point Star 591"/>
          <p:cNvSpPr/>
          <p:nvPr>
            <p:custDataLst>
              <p:tags r:id="rId112"/>
            </p:custDataLst>
          </p:nvPr>
        </p:nvSpPr>
        <p:spPr>
          <a:xfrm rot="16200000">
            <a:off x="3004408" y="704445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6" name="PA-4-Point Star 595"/>
          <p:cNvSpPr/>
          <p:nvPr>
            <p:custDataLst>
              <p:tags r:id="rId113"/>
            </p:custDataLst>
          </p:nvPr>
        </p:nvSpPr>
        <p:spPr>
          <a:xfrm rot="8294776">
            <a:off x="12236490" y="2495122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7" name="PA-4-Point Star 596"/>
          <p:cNvSpPr/>
          <p:nvPr>
            <p:custDataLst>
              <p:tags r:id="rId114"/>
            </p:custDataLst>
          </p:nvPr>
        </p:nvSpPr>
        <p:spPr>
          <a:xfrm rot="16200000">
            <a:off x="7117397" y="-643626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8" name="PA-4-Point Star 597"/>
          <p:cNvSpPr/>
          <p:nvPr>
            <p:custDataLst>
              <p:tags r:id="rId115"/>
            </p:custDataLst>
          </p:nvPr>
        </p:nvSpPr>
        <p:spPr>
          <a:xfrm rot="16200000">
            <a:off x="5058009" y="-715188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9" name="PA-4-Point Star 598"/>
          <p:cNvSpPr/>
          <p:nvPr>
            <p:custDataLst>
              <p:tags r:id="rId116"/>
            </p:custDataLst>
          </p:nvPr>
        </p:nvSpPr>
        <p:spPr>
          <a:xfrm rot="16200000">
            <a:off x="3602920" y="-659529"/>
            <a:ext cx="216000" cy="216000"/>
          </a:xfrm>
          <a:prstGeom prst="star4">
            <a:avLst/>
          </a:prstGeom>
          <a:solidFill>
            <a:schemeClr val="bg1"/>
          </a:solidFill>
          <a:ln>
            <a:noFill/>
          </a:ln>
          <a:effectLst>
            <a:glow rad="254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08571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第九课</a:t>
            </a:r>
            <a:r>
              <a:rPr lang="en-US" altLang="zh-CN" sz="2800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72872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 9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201913" y="2576830"/>
            <a:ext cx="9659087" cy="2916646"/>
            <a:chOff x="1893" y="4058"/>
            <a:chExt cx="15211" cy="4593"/>
          </a:xfrm>
        </p:grpSpPr>
        <p:grpSp>
          <p:nvGrpSpPr>
            <p:cNvPr id="14" name="组合 13"/>
            <p:cNvGrpSpPr/>
            <p:nvPr/>
          </p:nvGrpSpPr>
          <p:grpSpPr>
            <a:xfrm>
              <a:off x="1893" y="4058"/>
              <a:ext cx="15211" cy="4593"/>
              <a:chOff x="-96" y="3669"/>
              <a:chExt cx="18916" cy="5713"/>
            </a:xfrm>
          </p:grpSpPr>
          <p:sp>
            <p:nvSpPr>
              <p:cNvPr id="10" name="圆角矩形 9"/>
              <p:cNvSpPr/>
              <p:nvPr/>
            </p:nvSpPr>
            <p:spPr>
              <a:xfrm>
                <a:off x="-96" y="3669"/>
                <a:ext cx="18744" cy="5713"/>
              </a:xfrm>
              <a:prstGeom prst="roundRect">
                <a:avLst/>
              </a:prstGeom>
              <a:solidFill>
                <a:schemeClr val="bg1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-96" y="4499"/>
                <a:ext cx="18916" cy="2928"/>
                <a:chOff x="3051" y="4499"/>
                <a:chExt cx="18916" cy="2928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6731" y="6525"/>
                  <a:ext cx="13583" cy="902"/>
                  <a:chOff x="8865" y="6525"/>
                  <a:chExt cx="13583" cy="902"/>
                </a:xfrm>
              </p:grpSpPr>
              <p:sp>
                <p:nvSpPr>
                  <p:cNvPr id="15" name="矩形 14"/>
                  <p:cNvSpPr/>
                  <p:nvPr/>
                </p:nvSpPr>
                <p:spPr>
                  <a:xfrm>
                    <a:off x="8865" y="6525"/>
                    <a:ext cx="3417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l"/>
                    <a:r>
                      <a:rPr lang="en-US" altLang="zh-CN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Lesson 9</a:t>
                    </a:r>
                  </a:p>
                </p:txBody>
              </p:sp>
              <p:sp>
                <p:nvSpPr>
                  <p:cNvPr id="18" name="矩形 17"/>
                  <p:cNvSpPr/>
                  <p:nvPr/>
                </p:nvSpPr>
                <p:spPr>
                  <a:xfrm>
                    <a:off x="13652" y="6525"/>
                    <a:ext cx="8796" cy="90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华文细黑" panose="02010600040101010101" pitchFamily="2" charset="-122"/>
                        <a:ea typeface="华文细黑" panose="02010600040101010101" pitchFamily="2" charset="-122"/>
                      </a:rPr>
                      <a:t>The Lu Xun You Don’t Know</a:t>
                    </a:r>
                  </a:p>
                </p:txBody>
              </p:sp>
            </p:grpSp>
            <p:sp>
              <p:nvSpPr>
                <p:cNvPr id="6" name="文本框 7"/>
                <p:cNvSpPr txBox="1"/>
                <p:nvPr/>
              </p:nvSpPr>
              <p:spPr>
                <a:xfrm>
                  <a:off x="3051" y="4499"/>
                  <a:ext cx="18916" cy="244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fontAlgn="auto">
                    <a:lnSpc>
                      <a:spcPts val="902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第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9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课 </a:t>
                  </a:r>
                  <a:r>
                    <a:rPr kumimoji="0" lang="en-US" altLang="zh-CN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 </a:t>
                  </a:r>
                  <a:r>
                    <a:rPr kumimoji="0" lang="zh-CN" altLang="en-US" sz="66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华文楷体" panose="02010600040101010101" charset="-122"/>
                      <a:ea typeface="华文楷体" panose="02010600040101010101" charset="-122"/>
                      <a:cs typeface="华文楷体" panose="02010600040101010101" charset="-122"/>
                    </a:rPr>
                    <a:t>别样鲁迅</a:t>
                  </a:r>
                </a:p>
              </p:txBody>
            </p:sp>
          </p:grpSp>
        </p:grpSp>
        <p:sp>
          <p:nvSpPr>
            <p:cNvPr id="7" name="矩形 6"/>
            <p:cNvSpPr/>
            <p:nvPr/>
          </p:nvSpPr>
          <p:spPr>
            <a:xfrm>
              <a:off x="2071" y="7368"/>
              <a:ext cx="14751" cy="11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4000" b="1" noProof="0" dirty="0">
                  <a:ln>
                    <a:noFill/>
                  </a:ln>
                  <a:solidFill>
                    <a:srgbClr val="9F313C"/>
                  </a:solidFill>
                  <a:effectLst/>
                  <a:uLnTx/>
                  <a:uFillTx/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+mn-ea"/>
                </a:rPr>
                <a:t>Part 3</a:t>
              </a:r>
              <a:endParaRPr lang="en-US" sz="4000" dirty="0">
                <a:solidFill>
                  <a:schemeClr val="bg1">
                    <a:lumMod val="5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</p:grpSp>
      <p:pic>
        <p:nvPicPr>
          <p:cNvPr id="4" name="图片 3" descr="1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10681970" y="5398770"/>
            <a:ext cx="1459230" cy="1459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9700"/>
    </mc:Choice>
    <mc:Fallback xmlns="">
      <p:transition spd="slow" advTm="5097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repeatCount="indefinite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repeatCount="indefinite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5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repeatCount="indefinite" fill="hold" grpId="0" nodeType="withEffect">
                                  <p:stCondLst>
                                    <p:cond delay="507"/>
                                  </p:stCondLst>
                                  <p:childTnLst>
                                    <p:set>
                                      <p:cBhvr>
                                        <p:cTn id="20" dur="6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6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5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8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repeatCount="indefinite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6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6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repeatCount="indefinite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6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68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8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repeatCount="indefinite" fill="hold" grpId="0" nodeType="withEffect">
                                  <p:stCondLst>
                                    <p:cond delay="244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153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153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repeatCount="indefinite" fill="hold" grpId="0" nodeType="withEffect">
                                  <p:stCondLst>
                                    <p:cond delay="1334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175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175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repeatCount="indefinite" fill="hold" grpId="0" nodeType="withEffect">
                                  <p:stCondLst>
                                    <p:cond delay="1892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142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142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repeatCount="indefinite" fill="hold" grpId="0" nodeType="withEffect">
                                  <p:stCondLst>
                                    <p:cond delay="907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232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232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528" repeatCount="indefinite" fill="hold" grpId="0" nodeType="withEffect">
                                  <p:stCondLst>
                                    <p:cond delay="317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737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737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3" presetClass="entr" presetSubtype="528" repeatCount="indefinite" fill="hold" grpId="0" nodeType="withEffect">
                                  <p:stCondLst>
                                    <p:cond delay="1699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6663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63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53" presetClass="entr" presetSubtype="528" repeatCount="indefinite" fill="hold" grpId="0" nodeType="withEffect">
                                  <p:stCondLst>
                                    <p:cond delay="1993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24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24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528" repeatCount="indefinite" fill="hold" grpId="0" nodeType="withEffect">
                                  <p:stCondLst>
                                    <p:cond delay="140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7466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466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528" repeatCount="indefinite" fill="hold" grpId="0" nodeType="withEffect">
                                  <p:stCondLst>
                                    <p:cond delay="1034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6672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672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53" presetClass="entr" presetSubtype="528" repeatCount="indefinite" fill="hold" grpId="0" nodeType="withEffect">
                                  <p:stCondLst>
                                    <p:cond delay="57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637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637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53" presetClass="entr" presetSubtype="528" repeatCount="indefinite" fill="hold" grpId="0" nodeType="withEffect">
                                  <p:stCondLst>
                                    <p:cond delay="1978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644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44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53" presetClass="entr" presetSubtype="528" repeatCount="indefinite" fill="hold" grpId="0" nodeType="withEffect">
                                  <p:stCondLst>
                                    <p:cond delay="136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6172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617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53" presetClass="entr" presetSubtype="528" repeatCount="indefinite" fill="hold" grpId="0" nodeType="withEffect">
                                  <p:stCondLst>
                                    <p:cond delay="177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618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18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53" presetClass="entr" presetSubtype="528" repeatCount="indefinite" fill="hold" grpId="0" nodeType="withEffect">
                                  <p:stCondLst>
                                    <p:cond delay="1791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546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54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53" presetClass="entr" presetSubtype="528" repeatCount="indefinite" fill="hold" grpId="0" nodeType="withEffect">
                                  <p:stCondLst>
                                    <p:cond delay="731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6797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797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53" presetClass="entr" presetSubtype="528" repeatCount="indefinite" fill="hold" grpId="0" nodeType="withEffect">
                                  <p:stCondLst>
                                    <p:cond delay="18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7034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034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53" presetClass="entr" presetSubtype="528" repeatCount="indefinite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6907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6907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53" presetClass="entr" presetSubtype="528" repeatCount="indefinite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6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1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6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3" presetID="53" presetClass="entr" presetSubtype="528" repeatCount="indefinite" fill="hold" grpId="0" nodeType="withEffect">
                                  <p:stCondLst>
                                    <p:cond delay="1481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366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36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repeatCount="indefinite" fill="hold" grpId="0" nodeType="withEffect">
                                  <p:stCondLst>
                                    <p:cond delay="1091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755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755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repeatCount="indefinite" fill="hold" grpId="0" nodeType="withEffect">
                                  <p:stCondLst>
                                    <p:cond delay="334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746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746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repeatCount="indefinite" fill="hold" grpId="0" nodeType="withEffect">
                                  <p:stCondLst>
                                    <p:cond delay="1852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254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25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repeatCount="indefinite" fill="hold" grpId="0" nodeType="withEffect">
                                  <p:stCondLst>
                                    <p:cond delay="657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6642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2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889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889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repeatCount="indefinite" fill="hold" grpId="0" nodeType="withEffect">
                                  <p:stCondLst>
                                    <p:cond delay="854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408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40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repeatCount="indefinite" fill="hold" grpId="0" nodeType="withEffect">
                                  <p:stCondLst>
                                    <p:cond delay="793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173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173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6982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6982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repeatCount="indefinite" fill="hold" grpId="0" nodeType="withEffect">
                                  <p:stCondLst>
                                    <p:cond delay="232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6854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6854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repeatCount="indefinite" fill="hold" grpId="0" nodeType="withEffect">
                                  <p:stCondLst>
                                    <p:cond delay="1449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704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704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repeatCount="indefinite" fill="hold" grpId="0" nodeType="withEffect">
                                  <p:stCondLst>
                                    <p:cond delay="1214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6173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173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repeatCount="indefinite" fill="hold" grpId="0" nodeType="withEffect">
                                  <p:stCondLst>
                                    <p:cond delay="1303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6273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273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4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6866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86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1" presetID="53" presetClass="entr" presetSubtype="528" repeatCount="indefinite" fill="hold" grpId="0" nodeType="withEffect">
                                  <p:stCondLst>
                                    <p:cond delay="1083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3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5" dur="5969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969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53" presetClass="entr" presetSubtype="528" repeatCount="indefinite" fill="hold" grpId="0" nodeType="withEffect">
                                  <p:stCondLst>
                                    <p:cond delay="127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7002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4" dur="7002" fill="hold"/>
                                        <p:tgtEl>
                                          <p:spTgt spid="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5" presetID="53" presetClass="entr" presetSubtype="528" repeatCount="indefinite" fill="hold" grpId="0" nodeType="withEffect">
                                  <p:stCondLst>
                                    <p:cond delay="1739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737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0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737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53" presetClass="entr" presetSubtype="528" repeatCount="indefinite" fill="hold" grpId="0" nodeType="withEffect">
                                  <p:stCondLst>
                                    <p:cond delay="1018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6" dur="5261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5261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53" presetClass="entr" presetSubtype="528" repeatCount="indefinite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1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3" dur="6177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4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5" dur="6177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6" presetID="53" presetClass="entr" presetSubtype="528" repeatCount="indefinite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5255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25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3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5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6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7" dur="5534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5534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53" presetClass="entr" presetSubtype="528" repeatCount="indefinite" fill="hold" grpId="0" nodeType="withEffect">
                                  <p:stCondLst>
                                    <p:cond delay="377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2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3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4" dur="6932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5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6" dur="6932" fill="hold"/>
                                        <p:tgtEl>
                                          <p:spTgt spid="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7" presetID="53" presetClass="entr" presetSubtype="528" repeatCount="indefinite" fill="hold" grpId="0" nodeType="withEffect">
                                  <p:stCondLst>
                                    <p:cond delay="1461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9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1" dur="7218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2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7218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4" presetID="53" presetClass="entr" presetSubtype="528" repeatCount="indefinite" fill="hold" grpId="0" nodeType="withEffect">
                                  <p:stCondLst>
                                    <p:cond delay="1078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6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8" dur="6826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6826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1" presetID="53" presetClass="entr" presetSubtype="528" repeatCount="indefinite" fill="hold" grpId="0" nodeType="withEffect">
                                  <p:stCondLst>
                                    <p:cond delay="1447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3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5" dur="5322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6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532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8" presetID="53" presetClass="entr" presetSubtype="528" repeatCount="indefinite" fill="hold" grpId="0" nodeType="withEffect">
                                  <p:stCondLst>
                                    <p:cond delay="1654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6922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6922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53" presetClass="entr" presetSubtype="528" repeatCount="indefinite" fill="hold" grpId="0" nodeType="withEffect">
                                  <p:stCondLst>
                                    <p:cond delay="487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7039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0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7039" fill="hold"/>
                                        <p:tgtEl>
                                          <p:spTgt spid="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2" presetID="53" presetClass="entr" presetSubtype="528" repeatCount="indefinite" fill="hold" grpId="0" nodeType="withEffect">
                                  <p:stCondLst>
                                    <p:cond delay="1043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6539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7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6539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9" presetID="53" presetClass="entr" presetSubtype="528" repeatCount="indefinite" fill="hold" grpId="0" nodeType="withEffect">
                                  <p:stCondLst>
                                    <p:cond delay="502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1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2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3" dur="5392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4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5392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6" presetID="53" presetClass="entr" presetSubtype="528" repeatCount="indefinite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8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9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0" dur="5326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5326" fill="hold"/>
                                        <p:tgtEl>
                                          <p:spTgt spid="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3" presetID="53" presetClass="entr" presetSubtype="528" repeatCount="indefinite" fill="hold" grpId="0" nodeType="withEffect">
                                  <p:stCondLst>
                                    <p:cond delay="1436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5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7" dur="5561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9" dur="5561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0" presetID="53" presetClass="entr" presetSubtype="528" repeatCount="indefinite" fill="hold" grpId="0" nodeType="withEffect">
                                  <p:stCondLst>
                                    <p:cond delay="1228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4" dur="6911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6911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53" presetClass="entr" presetSubtype="528" repeatCount="indefinite" fill="hold" grpId="0" nodeType="withEffect">
                                  <p:stCondLst>
                                    <p:cond delay="904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9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1" dur="5869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2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5869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4" presetID="53" presetClass="entr" presetSubtype="528" repeatCount="indefinite" fill="hold" grpId="0" nodeType="withEffect">
                                  <p:stCondLst>
                                    <p:cond delay="603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6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8" dur="6813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9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0" dur="681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53" presetClass="entr" presetSubtype="528" repeatCount="indefinite" fill="hold" grpId="0" nodeType="withEffect">
                                  <p:stCondLst>
                                    <p:cond delay="857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3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4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5" dur="5399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6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7" dur="5399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8" presetID="53" presetClass="entr" presetSubtype="528" repeatCount="indefinite" fill="hold" grpId="0" nodeType="withEffect">
                                  <p:stCondLst>
                                    <p:cond delay="1332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0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2" dur="698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3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6980" fill="hold"/>
                                        <p:tgtEl>
                                          <p:spTgt spid="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5" presetID="53" presetClass="entr" presetSubtype="528" repeatCount="indefinite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7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8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9" dur="596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596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53" presetClass="entr" presetSubtype="528" repeatCount="indefinite" fill="hold" grpId="0" nodeType="withEffect">
                                  <p:stCondLst>
                                    <p:cond delay="464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5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6" dur="6406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406" fill="hold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9" presetID="53" presetClass="entr" presetSubtype="528" repeatCount="indefinite" fill="hold" grpId="0" nodeType="withEffect">
                                  <p:stCondLst>
                                    <p:cond delay="1093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1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2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3" dur="6713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6713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6" presetID="53" presetClass="entr" presetSubtype="528" repeatCount="indefinite" fill="hold" grpId="0" nodeType="withEffect">
                                  <p:stCondLst>
                                    <p:cond delay="1754"/>
                                  </p:stCondLst>
                                  <p:childTnLst>
                                    <p:set>
                                      <p:cBhvr>
                                        <p:cTn id="4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8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9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0" dur="6271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1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2" dur="6271" fill="hold"/>
                                        <p:tgtEl>
                                          <p:spTgt spid="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3" presetID="53" presetClass="entr" presetSubtype="528" repeatCount="indefinite" fill="hold" grpId="0" nodeType="withEffect">
                                  <p:stCondLst>
                                    <p:cond delay="331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5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7" dur="6081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8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6081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0" presetID="53" presetClass="entr" presetSubtype="528" repeatCount="indefinite" fill="hold" grpId="0" nodeType="withEffect">
                                  <p:stCondLst>
                                    <p:cond delay="52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2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3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4" dur="6712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5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6" dur="6712" fill="hold"/>
                                        <p:tgtEl>
                                          <p:spTgt spid="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7" presetID="53" presetClass="entr" presetSubtype="528" repeatCount="indefinite" fill="hold" grpId="0" nodeType="withEffect">
                                  <p:stCondLst>
                                    <p:cond delay="35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9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1" dur="5135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2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5135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4" presetID="53" presetClass="entr" presetSubtype="528" repeatCount="indefinite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8" dur="5463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9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0" dur="5463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1" presetID="53" presetClass="entr" presetSubtype="528" repeatCount="indefinite" fill="hold" grpId="0" nodeType="withEffect">
                                  <p:stCondLst>
                                    <p:cond delay="207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3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4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5" dur="5327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6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5327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8" presetID="53" presetClass="entr" presetSubtype="528" repeatCount="indefinite" fill="hold" grpId="0" nodeType="withEffect">
                                  <p:stCondLst>
                                    <p:cond delay="852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2" dur="5099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3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5099" fill="hold"/>
                                        <p:tgtEl>
                                          <p:spTgt spid="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5" presetID="53" presetClass="entr" presetSubtype="528" repeatCount="indefinite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7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8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9" dur="7073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0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7073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2" presetID="53" presetClass="entr" presetSubtype="528" repeatCount="indefinite" fill="hold" grpId="0" nodeType="withEffect">
                                  <p:stCondLst>
                                    <p:cond delay="176"/>
                                  </p:stCondLst>
                                  <p:childTnLst>
                                    <p:set>
                                      <p:cBhvr>
                                        <p:cTn id="5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4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6" dur="7201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7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8" dur="7201" fill="hold"/>
                                        <p:tgtEl>
                                          <p:spTgt spid="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9" presetID="53" presetClass="entr" presetSubtype="528" repeatCount="indefinite" fill="hold" grpId="0" nodeType="withEffect">
                                  <p:stCondLst>
                                    <p:cond delay="157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7468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4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7468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6" presetID="53" presetClass="entr" presetSubtype="528" repeatCount="indefinite" fill="hold" grpId="0" nodeType="withEffect">
                                  <p:stCondLst>
                                    <p:cond delay="234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7485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1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2" dur="7485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3" presetID="53" presetClass="entr" presetSubtype="528" repeatCount="indefinite" fill="hold" grpId="0" nodeType="withEffect">
                                  <p:stCondLst>
                                    <p:cond delay="1802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6432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8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9" dur="643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0" presetID="53" presetClass="entr" presetSubtype="528" repeatCount="indefinite" fill="hold" grpId="0" nodeType="withEffect">
                                  <p:stCondLst>
                                    <p:cond delay="736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2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3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4" dur="5423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5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5423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7" presetID="53" presetClass="entr" presetSubtype="528" repeatCount="indefinite" fill="hold" grpId="0" nodeType="withEffect">
                                  <p:stCondLst>
                                    <p:cond delay="482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5102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2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3" dur="5102" fill="hold"/>
                                        <p:tgtEl>
                                          <p:spTgt spid="4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4" presetID="53" presetClass="entr" presetSubtype="528" repeatCount="indefinite" fill="hold" grpId="0" nodeType="withEffect">
                                  <p:stCondLst>
                                    <p:cond delay="399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6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7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8" dur="5819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5819" fill="hold"/>
                                        <p:tgtEl>
                                          <p:spTgt spid="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1" presetID="53" presetClass="entr" presetSubtype="528" repeatCount="indefinite" fill="hold" grpId="0" nodeType="withEffect">
                                  <p:stCondLst>
                                    <p:cond delay="1338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3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4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5" dur="6554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6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7" dur="6554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8" presetID="53" presetClass="entr" presetSubtype="528" repeatCount="indefinite" fill="hold" grpId="0" nodeType="withEffect">
                                  <p:stCondLst>
                                    <p:cond delay="24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1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2" dur="5853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3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4" dur="5853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5" presetID="53" presetClass="entr" presetSubtype="528" repeatCount="indefinite" fill="hold" grpId="0" nodeType="withEffect">
                                  <p:stCondLst>
                                    <p:cond delay="1555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7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9" dur="5653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0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1" dur="565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2" presetID="53" presetClass="entr" presetSubtype="528" repeatCount="indefinite" fill="hold" grpId="0" nodeType="withEffect">
                                  <p:stCondLst>
                                    <p:cond delay="1065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4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5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6" dur="7301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7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7301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9" presetID="53" presetClass="entr" presetSubtype="528" repeatCount="indefinite" fill="hold" grpId="0" nodeType="withEffect">
                                  <p:stCondLst>
                                    <p:cond delay="1298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1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3" dur="7173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4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7173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6" presetID="53" presetClass="entr" presetSubtype="528" repeatCount="indefinite" fill="hold" grpId="0" nodeType="withEffect">
                                  <p:stCondLst>
                                    <p:cond delay="1367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8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0" dur="6011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1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011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3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5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6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7" dur="5785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8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5785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0" presetID="53" presetClass="entr" presetSubtype="528" repeatCount="indefinite" fill="hold" grpId="0" nodeType="withEffect">
                                  <p:stCondLst>
                                    <p:cond delay="273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2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3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4" dur="6234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5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6" dur="623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7" presetID="53" presetClass="entr" presetSubtype="528" repeatCount="indefinite" fill="hold" grpId="0" nodeType="withEffect">
                                  <p:stCondLst>
                                    <p:cond delay="191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9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0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1" dur="7063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2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3" dur="7063" fill="hold"/>
                                        <p:tgtEl>
                                          <p:spTgt spid="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4" presetID="53" presetClass="entr" presetSubtype="528" repeatCount="indefinite" fill="hold" grpId="0" nodeType="withEffect">
                                  <p:stCondLst>
                                    <p:cond delay="633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6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8" dur="5494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9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0" dur="5494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1" presetID="53" presetClass="entr" presetSubtype="528" repeatCount="indefinite" fill="hold" grpId="0" nodeType="withEffect">
                                  <p:stCondLst>
                                    <p:cond delay="1769"/>
                                  </p:stCondLst>
                                  <p:childTnLs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3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4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5" dur="7135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6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7" dur="7135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8" presetID="53" presetClass="entr" presetSubtype="528" repeatCount="indefinite" fill="hold" grpId="0" nodeType="withEffect">
                                  <p:stCondLst>
                                    <p:cond delay="552"/>
                                  </p:stCondLst>
                                  <p:childTnLst>
                                    <p:set>
                                      <p:cBhvr>
                                        <p:cTn id="6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0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2" dur="7132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3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4" dur="7132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5" presetID="53" presetClass="entr" presetSubtype="528" repeatCount="indefinite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7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8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9" dur="5041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0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1" dur="5041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2" presetID="53" presetClass="entr" presetSubtype="528" repeatCount="indefinite" fill="hold" grpId="0" nodeType="withEffect">
                                  <p:stCondLst>
                                    <p:cond delay="1934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4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5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6" dur="6965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7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8" dur="6965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9" presetID="53" presetClass="entr" presetSubtype="528" repeatCount="indefinite" fill="hold" grpId="0" nodeType="withEffect">
                                  <p:stCondLst>
                                    <p:cond delay="775"/>
                                  </p:stCondLst>
                                  <p:childTnLst>
                                    <p:set>
                                      <p:cBhvr>
                                        <p:cTn id="6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1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2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3" dur="5313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4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5" dur="5313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6" presetID="53" presetClass="entr" presetSubtype="528" repeatCount="indefinite" fill="hold" grpId="0" nodeType="withEffect">
                                  <p:stCondLst>
                                    <p:cond delay="178"/>
                                  </p:stCondLst>
                                  <p:childTnLst>
                                    <p:set>
                                      <p:cBhvr>
                                        <p:cTn id="6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8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9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0" dur="563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5630" fill="hold"/>
                                        <p:tgtEl>
                                          <p:spTgt spid="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3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5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6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7" dur="5437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8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9" dur="5437" fill="hold"/>
                                        <p:tgtEl>
                                          <p:spTgt spid="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0" presetID="53" presetClass="entr" presetSubtype="528" repeatCount="indefinite" fill="hold" grpId="0" nodeType="withEffect">
                                  <p:stCondLst>
                                    <p:cond delay="441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2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3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4" dur="566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5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6" dur="566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7" presetID="53" presetClass="entr" presetSubtype="528" repeatCount="indefinite" fill="hold" grpId="0" nodeType="withEffect">
                                  <p:stCondLst>
                                    <p:cond delay="1747"/>
                                  </p:stCondLst>
                                  <p:childTnLst>
                                    <p:set>
                                      <p:cBhvr>
                                        <p:cTn id="6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9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1" dur="6723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2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3" dur="6723" fill="hold"/>
                                        <p:tgtEl>
                                          <p:spTgt spid="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4" presetID="53" presetClass="entr" presetSubtype="528" repeatCount="indefinite" fill="hold" grpId="0" nodeType="withEffect">
                                  <p:stCondLst>
                                    <p:cond delay="1402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6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7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8" dur="5888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9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0" dur="5888" fill="hold"/>
                                        <p:tgtEl>
                                          <p:spTgt spid="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1" presetID="53" presetClass="entr" presetSubtype="528" repeatCount="indefinite" fill="hold" grpId="0" nodeType="withEffect">
                                  <p:stCondLst>
                                    <p:cond delay="809"/>
                                  </p:stCondLst>
                                  <p:childTnLst>
                                    <p:set>
                                      <p:cBhvr>
                                        <p:cTn id="6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3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5" dur="5356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6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5356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8" presetID="53" presetClass="entr" presetSubtype="528" repeatCount="indefinite" fill="hold" grpId="0" nodeType="withEffect">
                                  <p:stCondLst>
                                    <p:cond delay="351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0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1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2" dur="7274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3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4" dur="7274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5" presetID="53" presetClass="entr" presetSubtype="528" repeatCount="indefinite" fill="hold" grpId="0" nodeType="withEffect">
                                  <p:stCondLst>
                                    <p:cond delay="1594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7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8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9" dur="5069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0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5069" fill="hold"/>
                                        <p:tgtEl>
                                          <p:spTgt spid="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2" presetID="53" presetClass="entr" presetSubtype="528" repeatCount="indefinite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4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5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6" dur="5443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7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8" dur="5443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9" presetID="53" presetClass="entr" presetSubtype="528" repeatCount="indefinite" fill="hold" grpId="0" nodeType="withEffect">
                                  <p:stCondLst>
                                    <p:cond delay="1243"/>
                                  </p:stCondLst>
                                  <p:childTnLst>
                                    <p:set>
                                      <p:cBhvr>
                                        <p:cTn id="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1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2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3" dur="6959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4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5" dur="6959" fill="hold"/>
                                        <p:tgtEl>
                                          <p:spTgt spid="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6" presetID="53" presetClass="entr" presetSubtype="528" repeatCount="indefinite" fill="hold" grpId="0" nodeType="withEffect">
                                  <p:stCondLst>
                                    <p:cond delay="1388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8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0" dur="5861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1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2" dur="5861" fill="hold"/>
                                        <p:tgtEl>
                                          <p:spTgt spid="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3" presetID="53" presetClass="entr" presetSubtype="528" repeatCount="indefinite" fill="hold" grpId="0" nodeType="withEffect">
                                  <p:stCondLst>
                                    <p:cond delay="278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5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6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7" dur="5961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8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9" dur="5961" fill="hold"/>
                                        <p:tgtEl>
                                          <p:spTgt spid="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0" presetID="53" presetClass="entr" presetSubtype="528" repeatCount="indefinite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2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4" dur="5261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5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6" dur="5261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7" presetID="53" presetClass="entr" presetSubtype="528" repeatCount="indefinite" fill="hold" grpId="0" nodeType="withEffect">
                                  <p:stCondLst>
                                    <p:cond delay="494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9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0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1" dur="6404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2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3" dur="6404" fill="hold"/>
                                        <p:tgtEl>
                                          <p:spTgt spid="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4" presetID="53" presetClass="entr" presetSubtype="528" repeatCount="indefinite" fill="hold" grpId="0" nodeType="withEffect">
                                  <p:stCondLst>
                                    <p:cond delay="1901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6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7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8" dur="6419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9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6419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1" presetID="53" presetClass="entr" presetSubtype="528" repeatCount="indefinite" fill="hold" grpId="0" nodeType="withEffect">
                                  <p:stCondLst>
                                    <p:cond delay="367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3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4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5" dur="7266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6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7" dur="7266" fill="hold"/>
                                        <p:tgtEl>
                                          <p:spTgt spid="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8" presetID="53" presetClass="entr" presetSubtype="528" repeatCount="indefinite" fill="hold" grpId="0" nodeType="withEffect">
                                  <p:stCondLst>
                                    <p:cond delay="961"/>
                                  </p:stCondLst>
                                  <p:childTnLst>
                                    <p:set>
                                      <p:cBhvr>
                                        <p:cTn id="7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0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1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2" dur="6578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578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5" presetID="53" presetClass="entr" presetSubtype="528" repeatCount="indefinite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7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8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9" dur="5112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0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1" dur="5112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2" presetID="53" presetClass="entr" presetSubtype="528" repeatCount="indefinite" fill="hold" grpId="0" nodeType="withEffect">
                                  <p:stCondLst>
                                    <p:cond delay="1664"/>
                                  </p:stCondLst>
                                  <p:childTnLst>
                                    <p:set>
                                      <p:cBhvr>
                                        <p:cTn id="7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4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5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6" dur="5239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7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8" dur="5239" fill="hold"/>
                                        <p:tgtEl>
                                          <p:spTgt spid="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9" presetID="53" presetClass="entr" presetSubtype="528" repeatCount="indefinite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7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1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3" dur="5535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4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5" dur="5535" fill="hold"/>
                                        <p:tgtEl>
                                          <p:spTgt spid="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6" presetID="53" presetClass="entr" presetSubtype="528" repeatCount="indefinite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8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9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0" dur="5003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1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2" dur="5003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3" presetID="53" presetClass="entr" presetSubtype="528" repeatCount="indefinite" fill="hold" grpId="0" nodeType="withEffect">
                                  <p:stCondLst>
                                    <p:cond delay="1048"/>
                                  </p:stCondLst>
                                  <p:childTnLst>
                                    <p:set>
                                      <p:cBhvr>
                                        <p:cTn id="8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5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6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7" dur="5033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8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9" dur="5033" fill="hold"/>
                                        <p:tgtEl>
                                          <p:spTgt spid="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0" presetID="53" presetClass="entr" presetSubtype="528" repeatCount="indefinite" fill="hold" grpId="0" nodeType="withEffect">
                                  <p:stCondLst>
                                    <p:cond delay="1359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2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3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4" dur="6787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5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6" dur="6787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7" presetID="2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1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2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25 0.0564815 L -0.000833333 -0.258611 " pathEditMode="relative" rAng="0" ptsTypes="">
                                      <p:cBhvr>
                                        <p:cTn id="824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ldLvl="0" animBg="1"/>
      <p:bldP spid="35" grpId="0" bldLvl="0" animBg="1"/>
      <p:bldP spid="36" grpId="0" bldLvl="0" animBg="1"/>
      <p:bldP spid="37" grpId="0" bldLvl="0" animBg="1"/>
      <p:bldP spid="78" grpId="0" bldLvl="0" animBg="1"/>
      <p:bldP spid="97" grpId="0" bldLvl="0" animBg="1"/>
      <p:bldP spid="98" grpId="0" bldLvl="0" animBg="1"/>
      <p:bldP spid="109" grpId="0" bldLvl="0" animBg="1"/>
      <p:bldP spid="134" grpId="0" bldLvl="0" animBg="1"/>
      <p:bldP spid="135" grpId="0" bldLvl="0" animBg="1"/>
      <p:bldP spid="136" grpId="0" bldLvl="0" animBg="1"/>
      <p:bldP spid="137" grpId="0" bldLvl="0" animBg="1"/>
      <p:bldP spid="139" grpId="0" bldLvl="0" animBg="1"/>
      <p:bldP spid="140" grpId="0" bldLvl="0" animBg="1"/>
      <p:bldP spid="141" grpId="0" bldLvl="0" animBg="1"/>
      <p:bldP spid="142" grpId="0" bldLvl="0" animBg="1"/>
      <p:bldP spid="154" grpId="0" bldLvl="0" animBg="1"/>
      <p:bldP spid="155" grpId="0" bldLvl="0" animBg="1"/>
      <p:bldP spid="156" grpId="0" bldLvl="0" animBg="1"/>
      <p:bldP spid="226" grpId="0" bldLvl="0" animBg="1"/>
      <p:bldP spid="237" grpId="0" bldLvl="0" animBg="1"/>
      <p:bldP spid="238" grpId="0" bldLvl="0" animBg="1"/>
      <p:bldP spid="239" grpId="0" bldLvl="0" animBg="1"/>
      <p:bldP spid="240" grpId="0" bldLvl="0" animBg="1"/>
      <p:bldP spid="242" grpId="0" bldLvl="0" animBg="1"/>
      <p:bldP spid="243" grpId="0" bldLvl="0" animBg="1"/>
      <p:bldP spid="244" grpId="0" bldLvl="0" animBg="1"/>
      <p:bldP spid="245" grpId="0" bldLvl="0" animBg="1"/>
      <p:bldP spid="246" grpId="0" bldLvl="0" animBg="1"/>
      <p:bldP spid="247" grpId="0" bldLvl="0" animBg="1"/>
      <p:bldP spid="248" grpId="0" bldLvl="0" animBg="1"/>
      <p:bldP spid="252" grpId="0" bldLvl="0" animBg="1"/>
      <p:bldP spid="257" grpId="0" bldLvl="0" animBg="1"/>
      <p:bldP spid="262" grpId="0" bldLvl="0" animBg="1"/>
      <p:bldP spid="265" grpId="0" bldLvl="0" animBg="1"/>
      <p:bldP spid="266" grpId="0" bldLvl="0" animBg="1"/>
      <p:bldP spid="267" grpId="0" bldLvl="0" animBg="1"/>
      <p:bldP spid="268" grpId="0" bldLvl="0" animBg="1"/>
      <p:bldP spid="269" grpId="0" bldLvl="0" animBg="1"/>
      <p:bldP spid="384" grpId="0" bldLvl="0" animBg="1"/>
      <p:bldP spid="388" grpId="0" bldLvl="0" animBg="1"/>
      <p:bldP spid="392" grpId="0" bldLvl="0" animBg="1"/>
      <p:bldP spid="397" grpId="0" bldLvl="0" animBg="1"/>
      <p:bldP spid="402" grpId="0" bldLvl="0" animBg="1"/>
      <p:bldP spid="403" grpId="0" bldLvl="0" animBg="1"/>
      <p:bldP spid="404" grpId="0" bldLvl="0" animBg="1"/>
      <p:bldP spid="405" grpId="0" bldLvl="0" animBg="1"/>
      <p:bldP spid="406" grpId="0" bldLvl="0" animBg="1"/>
      <p:bldP spid="408" grpId="0" bldLvl="0" animBg="1"/>
      <p:bldP spid="409" grpId="0" bldLvl="0" animBg="1"/>
      <p:bldP spid="412" grpId="0" bldLvl="0" animBg="1"/>
      <p:bldP spid="413" grpId="0" bldLvl="0" animBg="1"/>
      <p:bldP spid="415" grpId="0" bldLvl="0" animBg="1"/>
      <p:bldP spid="416" grpId="0" bldLvl="0" animBg="1"/>
      <p:bldP spid="417" grpId="0" bldLvl="0" animBg="1"/>
      <p:bldP spid="418" grpId="0" bldLvl="0" animBg="1"/>
      <p:bldP spid="423" grpId="0" bldLvl="0" animBg="1"/>
      <p:bldP spid="426" grpId="0" bldLvl="0" animBg="1"/>
      <p:bldP spid="427" grpId="0" bldLvl="0" animBg="1"/>
      <p:bldP spid="428" grpId="0" bldLvl="0" animBg="1"/>
      <p:bldP spid="429" grpId="0" bldLvl="0" animBg="1"/>
      <p:bldP spid="430" grpId="0" bldLvl="0" animBg="1"/>
      <p:bldP spid="431" grpId="0" bldLvl="0" animBg="1"/>
      <p:bldP spid="432" grpId="0" bldLvl="0" animBg="1"/>
      <p:bldP spid="433" grpId="0" bldLvl="0" animBg="1"/>
      <p:bldP spid="434" grpId="0" bldLvl="0" animBg="1"/>
      <p:bldP spid="435" grpId="0" bldLvl="0" animBg="1"/>
      <p:bldP spid="436" grpId="0" bldLvl="0" animBg="1"/>
      <p:bldP spid="437" grpId="0" bldLvl="0" animBg="1"/>
      <p:bldP spid="438" grpId="0" bldLvl="0" animBg="1"/>
      <p:bldP spid="439" grpId="0" bldLvl="0" animBg="1"/>
      <p:bldP spid="440" grpId="0" bldLvl="0" animBg="1"/>
      <p:bldP spid="441" grpId="0" bldLvl="0" animBg="1"/>
      <p:bldP spid="457" grpId="0" bldLvl="0" animBg="1"/>
      <p:bldP spid="463" grpId="0" bldLvl="0" animBg="1"/>
      <p:bldP spid="465" grpId="0" bldLvl="0" animBg="1"/>
      <p:bldP spid="466" grpId="0" bldLvl="0" animBg="1"/>
      <p:bldP spid="468" grpId="0" bldLvl="0" animBg="1"/>
      <p:bldP spid="469" grpId="0" bldLvl="0" animBg="1"/>
      <p:bldP spid="470" grpId="0" bldLvl="0" animBg="1"/>
      <p:bldP spid="472" grpId="0" bldLvl="0" animBg="1"/>
      <p:bldP spid="473" grpId="0" bldLvl="0" animBg="1"/>
      <p:bldP spid="474" grpId="0" bldLvl="0" animBg="1"/>
      <p:bldP spid="481" grpId="0" bldLvl="0" animBg="1"/>
      <p:bldP spid="482" grpId="0" bldLvl="0" animBg="1"/>
      <p:bldP spid="483" grpId="0" bldLvl="0" animBg="1"/>
      <p:bldP spid="502" grpId="0" bldLvl="0" animBg="1"/>
      <p:bldP spid="503" grpId="0" bldLvl="0" animBg="1"/>
      <p:bldP spid="504" grpId="0" bldLvl="0" animBg="1"/>
      <p:bldP spid="505" grpId="0" bldLvl="0" animBg="1"/>
      <p:bldP spid="529" grpId="0" bldLvl="0" animBg="1"/>
      <p:bldP spid="531" grpId="0" bldLvl="0" animBg="1"/>
      <p:bldP spid="532" grpId="0" bldLvl="0" animBg="1"/>
      <p:bldP spid="533" grpId="0" bldLvl="0" animBg="1"/>
      <p:bldP spid="534" grpId="0" bldLvl="0" animBg="1"/>
      <p:bldP spid="535" grpId="0" bldLvl="0" animBg="1"/>
      <p:bldP spid="539" grpId="0" bldLvl="0" animBg="1"/>
      <p:bldP spid="542" grpId="0" bldLvl="0" animBg="1"/>
      <p:bldP spid="543" grpId="0" bldLvl="0" animBg="1"/>
      <p:bldP spid="545" grpId="0" bldLvl="0" animBg="1"/>
      <p:bldP spid="560" grpId="0" bldLvl="0" animBg="1"/>
      <p:bldP spid="561" grpId="0" bldLvl="0" animBg="1"/>
      <p:bldP spid="562" grpId="0" bldLvl="0" animBg="1"/>
      <p:bldP spid="568" grpId="0" bldLvl="0" animBg="1"/>
      <p:bldP spid="570" grpId="0" bldLvl="0" animBg="1"/>
      <p:bldP spid="571" grpId="0" bldLvl="0" animBg="1"/>
      <p:bldP spid="572" grpId="0" bldLvl="0" animBg="1"/>
      <p:bldP spid="573" grpId="0" bldLvl="0" animBg="1"/>
      <p:bldP spid="587" grpId="0" bldLvl="0" animBg="1"/>
      <p:bldP spid="590" grpId="0" bldLvl="0" animBg="1"/>
      <p:bldP spid="591" grpId="0" bldLvl="0" animBg="1"/>
      <p:bldP spid="592" grpId="0" bldLvl="0" animBg="1"/>
      <p:bldP spid="596" grpId="0" bldLvl="0" animBg="1"/>
      <p:bldP spid="597" grpId="0" bldLvl="0" animBg="1"/>
      <p:bldP spid="598" grpId="0" bldLvl="0" animBg="1"/>
      <p:bldP spid="599" grpId="0" bldLvl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手拿遥控器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997950" y="3854450"/>
            <a:ext cx="3194050" cy="3003550"/>
          </a:xfrm>
          <a:prstGeom prst="rect">
            <a:avLst/>
          </a:prstGeom>
        </p:spPr>
      </p:pic>
      <p:grpSp>
        <p:nvGrpSpPr>
          <p:cNvPr id="55" name="组合 54"/>
          <p:cNvGrpSpPr/>
          <p:nvPr/>
        </p:nvGrpSpPr>
        <p:grpSpPr>
          <a:xfrm>
            <a:off x="676910" y="946785"/>
            <a:ext cx="7586980" cy="5412105"/>
            <a:chOff x="1066" y="1491"/>
            <a:chExt cx="11948" cy="8523"/>
          </a:xfrm>
        </p:grpSpPr>
        <p:grpSp>
          <p:nvGrpSpPr>
            <p:cNvPr id="2" name="组合 1"/>
            <p:cNvGrpSpPr/>
            <p:nvPr/>
          </p:nvGrpSpPr>
          <p:grpSpPr>
            <a:xfrm>
              <a:off x="1066" y="1491"/>
              <a:ext cx="11948" cy="8523"/>
              <a:chOff x="1066" y="1491"/>
              <a:chExt cx="11948" cy="8523"/>
            </a:xfrm>
          </p:grpSpPr>
          <p:pic>
            <p:nvPicPr>
              <p:cNvPr id="3" name="图片 2" descr="电视机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6" y="1491"/>
                <a:ext cx="11948" cy="8523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5675" y="8209"/>
                <a:ext cx="2939" cy="1013"/>
              </a:xfrm>
              <a:prstGeom prst="rect">
                <a:avLst/>
              </a:prstGeom>
              <a:solidFill>
                <a:srgbClr val="FD431C"/>
              </a:solidFill>
              <a:ln>
                <a:solidFill>
                  <a:srgbClr val="FD431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pic>
          <p:nvPicPr>
            <p:cNvPr id="54" name="图片 53" descr="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83" y="8073"/>
              <a:ext cx="1661" cy="1661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7430718" y="-493395"/>
            <a:ext cx="4806699" cy="2945130"/>
            <a:chOff x="9056" y="6028"/>
            <a:chExt cx="6741" cy="4638"/>
          </a:xfrm>
        </p:grpSpPr>
        <p:pic>
          <p:nvPicPr>
            <p:cNvPr id="11" name="图片 10" descr="0f19f38c4d898577ade8f7c1d044040e (1)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300000">
              <a:off x="9317" y="6028"/>
              <a:ext cx="6480" cy="4638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9056" y="8693"/>
              <a:ext cx="671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1300480" eaLnBrk="1"/>
              <a:r>
                <a:rPr lang="zh-CN" altLang="en-US" sz="2000" b="1" dirty="0">
                  <a:latin typeface="华文细黑" panose="02010600040101010101" pitchFamily="2" charset="-122"/>
                  <a:ea typeface="华文细黑" panose="02010600040101010101" pitchFamily="2" charset="-122"/>
                  <a:cs typeface="宋体" panose="02010600030101010101" pitchFamily="2" charset="-122"/>
                  <a:sym typeface="Calibri" panose="020F0502020204030204" charset="0"/>
                </a:rPr>
                <a:t>你听说过鲁迅吗？</a:t>
              </a:r>
              <a:endParaRPr lang="zh-CN" altLang="en-US" sz="2000" b="1" dirty="0">
                <a:latin typeface="华文细黑" panose="02010600040101010101" pitchFamily="2" charset="-122"/>
                <a:ea typeface="华文细黑" panose="02010600040101010101" pitchFamily="2" charset="-122"/>
                <a:cs typeface="宋体" panose="02010600030101010101" pitchFamily="2" charset="-122"/>
                <a:sym typeface="+mn-ea"/>
              </a:endParaRPr>
            </a:p>
          </p:txBody>
        </p:sp>
      </p:grpSp>
      <p:sp>
        <p:nvSpPr>
          <p:cNvPr id="4" name="文本框 7"/>
          <p:cNvSpPr txBox="1"/>
          <p:nvPr/>
        </p:nvSpPr>
        <p:spPr>
          <a:xfrm>
            <a:off x="165735" y="2139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热身</a:t>
            </a:r>
          </a:p>
        </p:txBody>
      </p:sp>
      <p:sp>
        <p:nvSpPr>
          <p:cNvPr id="6" name="文本框 7"/>
          <p:cNvSpPr txBox="1"/>
          <p:nvPr/>
        </p:nvSpPr>
        <p:spPr>
          <a:xfrm>
            <a:off x="237490" y="702310"/>
            <a:ext cx="117729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Warm-up</a:t>
            </a:r>
          </a:p>
        </p:txBody>
      </p:sp>
      <p:pic>
        <p:nvPicPr>
          <p:cNvPr id="24581" name="Picture 6" descr="pasted-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820" y="1943100"/>
            <a:ext cx="5576570" cy="3183255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5\1写作.jpg1写作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51040" y="2233930"/>
            <a:ext cx="3132455" cy="23901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187705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写作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7547" y="1157303"/>
            <a:ext cx="200850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xiě zuò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5605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write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16480" y="3759835"/>
            <a:ext cx="4231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鲁迅善于</a:t>
            </a:r>
            <a:r>
              <a:rPr lang="zh-CN" altLang="en-US">
                <a:solidFill>
                  <a:srgbClr val="FF0000"/>
                </a:solidFill>
              </a:rPr>
              <a:t>写作</a:t>
            </a:r>
            <a:r>
              <a:rPr lang="en-US" altLang="zh-CN"/>
              <a:t>，</a:t>
            </a:r>
            <a:r>
              <a:rPr lang="zh-CN" altLang="en-US"/>
              <a:t>写出了许多有名的作品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3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5\2点心.jpg2点心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7810" y="2269173"/>
            <a:ext cx="3132455" cy="231965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029457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点心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87547" y="1157303"/>
            <a:ext cx="226060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diǎn xin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27505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dessert, dim sum</a:t>
            </a:r>
          </a:p>
        </p:txBody>
      </p:sp>
    </p:spTree>
  </p:cSld>
  <p:clrMapOvr>
    <a:masterClrMapping/>
  </p:clrMapOvr>
  <p:transition spd="slow">
    <p:push/>
    <p:sndAc>
      <p:stSnd>
        <p:snd r:embed="rId3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5\3学问.jpg3学问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74218" y="2199323"/>
            <a:ext cx="2308860" cy="231965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827652" y="191041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学问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827652" y="1142063"/>
            <a:ext cx="246189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xué wen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663825" y="3159760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 knowledge, learning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59660" y="4263390"/>
            <a:ext cx="32816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我们要坚持学习读书</a:t>
            </a:r>
            <a:r>
              <a:rPr lang="en-US" altLang="zh-CN"/>
              <a:t>，</a:t>
            </a:r>
            <a:r>
              <a:rPr lang="zh-CN" altLang="en-US"/>
              <a:t>这样才能有更多</a:t>
            </a:r>
            <a:r>
              <a:rPr lang="zh-CN" altLang="en-US">
                <a:solidFill>
                  <a:srgbClr val="FF0000"/>
                </a:solidFill>
              </a:rPr>
              <a:t>学问</a:t>
            </a:r>
            <a:r>
              <a:rPr lang="en-US" altLang="zh-CN"/>
              <a:t>。</a:t>
            </a:r>
          </a:p>
        </p:txBody>
      </p:sp>
      <p:sp>
        <p:nvSpPr>
          <p:cNvPr id="9" name="矩形 8"/>
          <p:cNvSpPr/>
          <p:nvPr/>
        </p:nvSpPr>
        <p:spPr>
          <a:xfrm>
            <a:off x="5597525" y="2829560"/>
            <a:ext cx="99695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3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知识</a:t>
            </a:r>
          </a:p>
        </p:txBody>
      </p:sp>
    </p:spTree>
  </p:cSld>
  <p:clrMapOvr>
    <a:masterClrMapping/>
  </p:clrMapOvr>
  <p:transition spd="slow">
    <p:push/>
    <p:sndAc>
      <p:stSnd>
        <p:snd r:embed="rId3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296157" y="1839293"/>
            <a:ext cx="120015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首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2216147" y="1157303"/>
            <a:ext cx="144589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shǒu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27480" y="2964815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n./m. head, first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590" y="1839595"/>
            <a:ext cx="2266950" cy="332422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58695" y="3773805"/>
            <a:ext cx="3411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他买了自己人生中的</a:t>
            </a:r>
            <a:r>
              <a:rPr lang="zh-CN" altLang="en-US">
                <a:solidFill>
                  <a:srgbClr val="FF0000"/>
                </a:solidFill>
              </a:rPr>
              <a:t>首</a:t>
            </a:r>
            <a:r>
              <a:rPr lang="zh-CN" altLang="en-US"/>
              <a:t>套房子</a:t>
            </a:r>
            <a:r>
              <a:rPr lang="en-US" altLang="zh-CN"/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385695" y="4402455"/>
            <a:ext cx="38290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开车时，</a:t>
            </a:r>
            <a:r>
              <a:rPr lang="zh-CN" altLang="en-US">
                <a:solidFill>
                  <a:srgbClr val="FF0000"/>
                </a:solidFill>
              </a:rPr>
              <a:t>首</a:t>
            </a:r>
            <a:r>
              <a:rPr lang="zh-CN" altLang="en-US"/>
              <a:t>先</a:t>
            </a:r>
            <a:r>
              <a:rPr lang="en-US" altLang="zh-CN"/>
              <a:t>，</a:t>
            </a:r>
            <a:r>
              <a:rPr lang="zh-CN" altLang="en-US"/>
              <a:t>我们要遵守交通规则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3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058032" y="1839293"/>
            <a:ext cx="323596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呼朋唤友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720847" y="1157303"/>
            <a:ext cx="402082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6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hūpéng huànyǒu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189480" y="2854325"/>
            <a:ext cx="43903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to invite friends, to have friends</a:t>
            </a:r>
          </a:p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gather together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8005" y="2218055"/>
            <a:ext cx="3470275" cy="2421890"/>
          </a:xfrm>
          <a:prstGeom prst="round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177280" y="1839595"/>
            <a:ext cx="2015490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叫来很多朋友</a:t>
            </a:r>
          </a:p>
        </p:txBody>
      </p:sp>
    </p:spTree>
  </p:cSld>
  <p:clrMapOvr>
    <a:masterClrMapping/>
  </p:clrMapOvr>
  <p:transition spd="slow">
    <p:push/>
    <p:sndAc>
      <p:stSnd>
        <p:snd r:embed="rId3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342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形容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39922" y="1157303"/>
            <a:ext cx="267017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xíng róng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98955" y="2974340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v. to describe, to depict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535" y="2281555"/>
            <a:ext cx="4562475" cy="2295525"/>
          </a:xfrm>
          <a:prstGeom prst="round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158365" y="3860165"/>
            <a:ext cx="3326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请你</a:t>
            </a:r>
            <a:r>
              <a:rPr lang="zh-CN" altLang="en-US">
                <a:solidFill>
                  <a:srgbClr val="FF0000"/>
                </a:solidFill>
              </a:rPr>
              <a:t>形容</a:t>
            </a:r>
            <a:r>
              <a:rPr lang="zh-CN" altLang="en-US"/>
              <a:t>一下这个男士的样子</a:t>
            </a:r>
            <a:r>
              <a:rPr lang="en-US" altLang="zh-CN"/>
              <a:t>。</a:t>
            </a:r>
          </a:p>
        </p:txBody>
      </p:sp>
    </p:spTree>
  </p:cSld>
  <p:clrMapOvr>
    <a:masterClrMapping/>
  </p:clrMapOvr>
  <p:transition spd="slow">
    <p:push/>
    <p:sndAc>
      <p:stSnd>
        <p:snd r:embed="rId3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pic>
        <p:nvPicPr>
          <p:cNvPr id="38" name="Picture 16" descr="F:\娴）桌面未完成文件\新建文件夹\鱼仔课件\2022.09.20-22课件9\图片\生词5\7朦胧.jpg7朦胧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60950" y="2317750"/>
            <a:ext cx="3594100" cy="222186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2866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蒙眬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39922" y="1157303"/>
            <a:ext cx="3121025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méng lóng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884680" y="2974340"/>
            <a:ext cx="29952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adj. drowsy, half asleep</a:t>
            </a:r>
          </a:p>
        </p:txBody>
      </p:sp>
    </p:spTree>
  </p:cSld>
  <p:clrMapOvr>
    <a:masterClrMapping/>
  </p:clrMapOvr>
  <p:transition spd="slow">
    <p:push/>
    <p:sndAc>
      <p:stSnd>
        <p:snd r:embed="rId3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668" y="536"/>
            <a:ext cx="9180665" cy="6856928"/>
          </a:xfrm>
          <a:prstGeom prst="rect">
            <a:avLst/>
          </a:prstGeom>
        </p:spPr>
      </p:pic>
      <p:pic>
        <p:nvPicPr>
          <p:cNvPr id="5" name="图片 4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74997" y="536"/>
            <a:ext cx="9180665" cy="6856928"/>
          </a:xfrm>
          <a:prstGeom prst="rect">
            <a:avLst/>
          </a:prstGeom>
        </p:spPr>
      </p:pic>
      <p:pic>
        <p:nvPicPr>
          <p:cNvPr id="6" name="图片 5" descr="movie-g4aeb5e484_12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6333" y="536"/>
            <a:ext cx="9180665" cy="685692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981832" y="1839293"/>
            <a:ext cx="221742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b="1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cs typeface="Comic Sans MS" panose="030F0902030302020204" pitchFamily="66" charset="0"/>
              </a:rPr>
              <a:t>悠悠</a:t>
            </a:r>
          </a:p>
        </p:txBody>
      </p:sp>
      <p:pic>
        <p:nvPicPr>
          <p:cNvPr id="17" name="Picture 2" descr="C:\Users\Administrator\Desktop\小红书\对外汉语战略搞钱计划\卡通头像\1.png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551988" y="1052830"/>
            <a:ext cx="969645" cy="969645"/>
          </a:xfrm>
          <a:prstGeom prst="rect">
            <a:avLst/>
          </a:prstGeom>
          <a:noFill/>
        </p:spPr>
      </p:pic>
      <p:sp>
        <p:nvSpPr>
          <p:cNvPr id="3" name="文本框 2"/>
          <p:cNvSpPr txBox="1"/>
          <p:nvPr/>
        </p:nvSpPr>
        <p:spPr>
          <a:xfrm>
            <a:off x="1939922" y="1157303"/>
            <a:ext cx="233299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4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Comic Sans MS" panose="030F0902030302020204" pitchFamily="66" charset="0"/>
              </a:rPr>
              <a:t>yōu yōu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1705" y="1054395"/>
            <a:ext cx="89535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生词</a:t>
            </a:r>
          </a:p>
        </p:txBody>
      </p:sp>
      <p:sp>
        <p:nvSpPr>
          <p:cNvPr id="7" name="文本框 7"/>
          <p:cNvSpPr txBox="1"/>
          <p:nvPr/>
        </p:nvSpPr>
        <p:spPr>
          <a:xfrm>
            <a:off x="73143" y="1542319"/>
            <a:ext cx="128206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New Word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713230" y="2974340"/>
            <a:ext cx="29952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/>
            <a:r>
              <a:rPr lang="zh-CN" altLang="zh-CN" sz="2000" dirty="0">
                <a:solidFill>
                  <a:srgbClr val="2A2A2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adj. leisurely, unhurriedly</a:t>
            </a:r>
            <a:endParaRPr lang="en-US" altLang="zh-CN" sz="200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Comic Sans MS" panose="030F0902030302020204" pitchFamily="66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9525" y="2219325"/>
            <a:ext cx="3730625" cy="2832735"/>
          </a:xfrm>
          <a:prstGeom prst="roundRect">
            <a:avLst/>
          </a:prstGeom>
        </p:spPr>
      </p:pic>
    </p:spTree>
  </p:cSld>
  <p:clrMapOvr>
    <a:masterClrMapping/>
  </p:clrMapOvr>
  <p:transition spd="slow">
    <p:push/>
    <p:sndAc>
      <p:stSnd>
        <p:snd r:embed="rId3" name="佳能快门声-咔嚓-相机拍照_爱给网_aigei_com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24" grpId="0"/>
      <p:bldP spid="7" grpId="0"/>
      <p:bldP spid="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7122795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首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保存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地道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讲究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形象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333"/>
              <a:ext cx="17673" cy="188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sz="32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著名的文学家、语言学家刘半农1920年写了一</a:t>
              </a:r>
              <a:r>
                <a:rPr sz="32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   </a:t>
              </a:r>
              <a:r>
                <a:rPr sz="32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题为《教我如何不想她》的小诗，流传至今。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333"/>
              <a:ext cx="17673" cy="1885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just"/>
              <a:r>
                <a:rPr sz="35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筷子是中餐最主要的进餐用具，在使用上也有很多</a:t>
              </a:r>
              <a:r>
                <a:rPr sz="35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  </a:t>
              </a:r>
              <a:r>
                <a:rPr sz="35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just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你咳嗽得这么厉害，真得</a:t>
              </a:r>
              <a:r>
                <a:rPr sz="36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烟了！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1418590" y="3909695"/>
            <a:ext cx="1995170" cy="67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38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讲究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683885" y="5572760"/>
            <a:ext cx="19951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戒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8893175" y="1694180"/>
            <a:ext cx="19951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/>
          <p:cNvSpPr txBox="1"/>
          <p:nvPr/>
        </p:nvSpPr>
        <p:spPr>
          <a:xfrm>
            <a:off x="166805" y="214290"/>
            <a:ext cx="125158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练一练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5" name="文本框 7"/>
          <p:cNvSpPr txBox="1"/>
          <p:nvPr/>
        </p:nvSpPr>
        <p:spPr>
          <a:xfrm>
            <a:off x="238243" y="702214"/>
            <a:ext cx="104013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Practise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882265" y="372745"/>
            <a:ext cx="7122795" cy="706755"/>
            <a:chOff x="4428" y="448"/>
            <a:chExt cx="3124" cy="1113"/>
          </a:xfrm>
        </p:grpSpPr>
        <p:sp>
          <p:nvSpPr>
            <p:cNvPr id="43" name="圆角矩形 42"/>
            <p:cNvSpPr/>
            <p:nvPr/>
          </p:nvSpPr>
          <p:spPr>
            <a:xfrm>
              <a:off x="4428" y="462"/>
              <a:ext cx="3117" cy="1067"/>
            </a:xfrm>
            <a:prstGeom prst="roundRect">
              <a:avLst/>
            </a:prstGeom>
            <a:solidFill>
              <a:srgbClr val="9F313C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4429" y="448"/>
              <a:ext cx="3123" cy="111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戒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首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保存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地道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讲究</a:t>
              </a:r>
              <a:r>
                <a:rPr lang="en-US" altLang="zh-CN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  </a:t>
              </a:r>
              <a:r>
                <a:rPr lang="zh-CN" altLang="en-US" sz="4000" b="1" dirty="0">
                  <a:solidFill>
                    <a:schemeClr val="bg1"/>
                  </a:solidFill>
                  <a:latin typeface="华文楷体" panose="02010600040101010101" charset="-122"/>
                  <a:ea typeface="华文楷体" panose="02010600040101010101" charset="-122"/>
                  <a:sym typeface="宋体" panose="02010600030101010101" pitchFamily="2" charset="-122"/>
                </a:rPr>
                <a:t>形象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-349885" y="1278255"/>
            <a:ext cx="12430760" cy="1628140"/>
            <a:chOff x="-443" y="1654"/>
            <a:chExt cx="19576" cy="2564"/>
          </a:xfrm>
        </p:grpSpPr>
        <p:sp>
          <p:nvSpPr>
            <p:cNvPr id="2" name="矩形 1"/>
            <p:cNvSpPr/>
            <p:nvPr/>
          </p:nvSpPr>
          <p:spPr>
            <a:xfrm>
              <a:off x="1460" y="2315"/>
              <a:ext cx="17673" cy="1903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l"/>
              <a:r>
                <a:rPr sz="32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作为一家北京的川菜馆，能做出如此</a:t>
              </a:r>
              <a:r>
                <a:rPr sz="32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</a:t>
              </a:r>
              <a:r>
                <a:rPr lang="en-US" sz="32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sz="32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sz="32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的麻婆豆腐真是不容易。</a:t>
              </a:r>
            </a:p>
          </p:txBody>
        </p:sp>
        <p:pic>
          <p:nvPicPr>
            <p:cNvPr id="6" name="图片 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7" name="组合 6"/>
          <p:cNvGrpSpPr/>
          <p:nvPr/>
        </p:nvGrpSpPr>
        <p:grpSpPr>
          <a:xfrm>
            <a:off x="-349885" y="2957195"/>
            <a:ext cx="12430760" cy="1628140"/>
            <a:chOff x="-443" y="1654"/>
            <a:chExt cx="19576" cy="2564"/>
          </a:xfrm>
        </p:grpSpPr>
        <p:sp>
          <p:nvSpPr>
            <p:cNvPr id="8" name="矩形 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新鲜的葡萄不易</a:t>
              </a:r>
              <a:r>
                <a:rPr sz="36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lang="en-US" sz="36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</a:t>
              </a:r>
              <a:r>
                <a:rPr sz="36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，因此其价格也比较高。</a:t>
              </a:r>
            </a:p>
          </p:txBody>
        </p:sp>
        <p:pic>
          <p:nvPicPr>
            <p:cNvPr id="16" name="图片 15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-406400" y="4636135"/>
            <a:ext cx="12430760" cy="1628140"/>
            <a:chOff x="-443" y="1654"/>
            <a:chExt cx="19576" cy="2564"/>
          </a:xfrm>
        </p:grpSpPr>
        <p:sp>
          <p:nvSpPr>
            <p:cNvPr id="18" name="矩形 17"/>
            <p:cNvSpPr/>
            <p:nvPr/>
          </p:nvSpPr>
          <p:spPr>
            <a:xfrm>
              <a:off x="1460" y="2610"/>
              <a:ext cx="17673" cy="160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rgbClr val="9F313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公司这次要求招聘</a:t>
              </a:r>
              <a:r>
                <a:rPr sz="36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</a:t>
              </a:r>
              <a:r>
                <a:rPr lang="en-US" sz="36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</a:t>
              </a:r>
              <a:r>
                <a:rPr sz="3600" b="1" u="sng">
                  <a:solidFill>
                    <a:srgbClr val="C00000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      </a:t>
              </a:r>
              <a:r>
                <a:rPr sz="3600" b="1">
                  <a:solidFill>
                    <a:schemeClr val="tx1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</a:rPr>
                <a:t>好的职员。</a:t>
              </a:r>
            </a:p>
          </p:txBody>
        </p:sp>
        <p:pic>
          <p:nvPicPr>
            <p:cNvPr id="23" name="图片 22" descr="C:\Users\Administrator\Desktop\小红书\对外汉语战略搞钱计划\教学素材\图片素材\我压缩.png我压缩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-443" y="1654"/>
              <a:ext cx="2564" cy="2564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/>
        </p:nvSpPr>
        <p:spPr>
          <a:xfrm>
            <a:off x="4310380" y="3874770"/>
            <a:ext cx="19951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保存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6061710" y="5549900"/>
            <a:ext cx="19951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形象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711440" y="1769110"/>
            <a:ext cx="199517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40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华文楷体" panose="02010600040101010101" charset="-122"/>
                <a:ea typeface="华文楷体" panose="02010600040101010101" charset="-122"/>
                <a:cs typeface="思源黑体 CN Regular" panose="020B0500000000000000" pitchFamily="34" charset="-122"/>
                <a:sym typeface="宋体" panose="02010600030101010101" pitchFamily="2" charset="-122"/>
              </a:rPr>
              <a:t>地道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34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F:\娴）桌面未完成文件\新建文件夹\鱼仔课件\2022.09.20-22课件9\图片\鲁迅.jpg鲁迅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卡通人像" descr="D:\大敏\C盘东西\小红书\对外汉语战略搞钱计划\教学素材\图片素材\我压缩.png我压缩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116830" y="601869"/>
            <a:ext cx="1958340" cy="1958451"/>
          </a:xfrm>
          <a:custGeom>
            <a:avLst/>
            <a:gdLst>
              <a:gd name="connsiteX0" fmla="*/ 2019868 w 4039736"/>
              <a:gd name="connsiteY0" fmla="*/ 0 h 4039736"/>
              <a:gd name="connsiteX1" fmla="*/ 4039736 w 4039736"/>
              <a:gd name="connsiteY1" fmla="*/ 2019868 h 4039736"/>
              <a:gd name="connsiteX2" fmla="*/ 2019868 w 4039736"/>
              <a:gd name="connsiteY2" fmla="*/ 4039736 h 4039736"/>
              <a:gd name="connsiteX3" fmla="*/ 0 w 4039736"/>
              <a:gd name="connsiteY3" fmla="*/ 2019868 h 4039736"/>
              <a:gd name="connsiteX4" fmla="*/ 2019868 w 4039736"/>
              <a:gd name="connsiteY4" fmla="*/ 0 h 4039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39736" h="4039736">
                <a:moveTo>
                  <a:pt x="2019868" y="0"/>
                </a:moveTo>
                <a:cubicBezTo>
                  <a:pt x="3135410" y="0"/>
                  <a:pt x="4039736" y="904326"/>
                  <a:pt x="4039736" y="2019868"/>
                </a:cubicBezTo>
                <a:cubicBezTo>
                  <a:pt x="4039736" y="3135410"/>
                  <a:pt x="3135410" y="4039736"/>
                  <a:pt x="2019868" y="4039736"/>
                </a:cubicBezTo>
                <a:cubicBezTo>
                  <a:pt x="904326" y="4039736"/>
                  <a:pt x="0" y="3135410"/>
                  <a:pt x="0" y="2019868"/>
                </a:cubicBezTo>
                <a:cubicBezTo>
                  <a:pt x="0" y="904326"/>
                  <a:pt x="904326" y="0"/>
                  <a:pt x="2019868" y="0"/>
                </a:cubicBezTo>
                <a:close/>
              </a:path>
            </a:pathLst>
          </a:custGeom>
          <a:ln cap="rnd">
            <a:solidFill>
              <a:srgbClr val="E2AEAB"/>
            </a:solidFill>
          </a:ln>
          <a:effectLst>
            <a:glow rad="152400">
              <a:srgbClr val="FEADBB">
                <a:alpha val="40000"/>
              </a:srgbClr>
            </a:glow>
          </a:effectLst>
        </p:spPr>
      </p:pic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pic>
        <p:nvPicPr>
          <p:cNvPr id="3" name="09-1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9320" y="1757045"/>
            <a:ext cx="1219200" cy="11912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27430" y="2948305"/>
            <a:ext cx="11164570" cy="2758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为什么说鲁迅在吃喝这件事上是个行家。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从鲁迅的日记中可以了解哪些情况？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鲁迅最喜欢的餐馆是哪家?广和居在当时有名吗？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鲁迅喜欢广和居的原因是什么？</a:t>
            </a:r>
          </a:p>
          <a:p>
            <a:pPr marL="457200" indent="-457200" algn="l" fontAlgn="auto">
              <a:lnSpc>
                <a:spcPts val="4160"/>
              </a:lnSpc>
              <a:buFont typeface="Arial" panose="020B0704020202020204" pitchFamily="34" charset="0"/>
              <a:buChar char="•"/>
            </a:pPr>
            <a:r>
              <a:rPr lang="zh-CN" altLang="en-US" sz="28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介绍一下鲁迅的饮食习惯以及他和郁达夫吃饭的情况。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7" fill="hold" display="1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22" dur="19426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F:\娴）桌面未完成文件\新建文件夹\鱼仔课件\2022.09.20-22课件9\图片\鲁迅.jpg鲁迅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848485"/>
            <a:ext cx="11882755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美食很大一部分是靠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名人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推动的，这一点在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民国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时期表现得尤其突出。例如著名的文学家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鲁迅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，在吃喝这件事上，就算是个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地道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的行家，不但会吃，还会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亲自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动手做，对许多美食都有独特的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见解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。这是近代新时尚。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690870"/>
            <a:ext cx="9341485" cy="668020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5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请用重点词语复述故事：名人、民国、鲁迅、地道、亲自、见解</a:t>
            </a:r>
          </a:p>
        </p:txBody>
      </p:sp>
      <p:sp>
        <p:nvSpPr>
          <p:cNvPr id="2" name="矩形 1"/>
          <p:cNvSpPr/>
          <p:nvPr/>
        </p:nvSpPr>
        <p:spPr>
          <a:xfrm>
            <a:off x="2973705" y="843280"/>
            <a:ext cx="5669280" cy="46037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为什么说鲁迅在吃喝这件事上是个行家。</a:t>
            </a:r>
            <a:endParaRPr lang="zh-CN" altLang="en-US" sz="24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F:\娴）桌面未完成文件\新建文件夹\鱼仔课件\2022.09.20-22课件9\图片\鲁迅.jpg鲁迅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5100" y="1208405"/>
            <a:ext cx="11897995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北京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是鲁迅长期生活过的城市，仅从这一时期鲁迅写作的日记中，我们发现他去过的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知名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餐馆就有65家，另外，他还很爱吃稻香村的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点心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。作为大作家、大学问家，鲁迅对吃很讲究，吃的内容在他的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日记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里占了很大一部分。在众多餐馆里，鲁迅去得最多、最喜欢的是广和居，</a:t>
            </a:r>
            <a:r>
              <a:rPr lang="zh-CN" altLang="en-US" sz="2800" dirty="0">
                <a:solidFill>
                  <a:schemeClr val="accent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平均</a:t>
            </a:r>
            <a:r>
              <a: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每周都要去一次。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559425"/>
            <a:ext cx="9341485" cy="73723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请用重点词语复述故事：北京、知名、点心、日记、平均</a:t>
            </a:r>
          </a:p>
        </p:txBody>
      </p:sp>
      <p:sp>
        <p:nvSpPr>
          <p:cNvPr id="2" name="矩形 1"/>
          <p:cNvSpPr/>
          <p:nvPr/>
        </p:nvSpPr>
        <p:spPr>
          <a:xfrm>
            <a:off x="2242185" y="213995"/>
            <a:ext cx="5059680" cy="11582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从鲁迅的日记中可以了解哪些情况？</a:t>
            </a:r>
          </a:p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鲁迅最喜欢的餐馆是哪家?</a:t>
            </a:r>
            <a:endParaRPr lang="zh-CN" altLang="en-US" sz="24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F:\娴）桌面未完成文件\新建文件夹\鱼仔课件\2022.09.20-22课件9\图片\鲁迅.jpg鲁迅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861695"/>
            <a:ext cx="120561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 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鲁迅经常到这家店的一个重要原因是距离近，广和居的大门就在他当时住的胡同的斜对面。位于菜市口附近的广和居是北京“八大居”之首，在民国时期非常出名。广和居算不上豪华，但却很适合朋友在这里聚会、热闹。这里特别欢迎文人的光临，为他们的聚会创造了很好的条件。广和居院里分成大小不同的各种房间，有一个人的，有三五人小聚的，也有十多个人大聚会的。这大大满足了鲁迅爱和朋友吃饭的要求。他爱好交际，大方好客，常呼朋唤友，多数是三五个人一起吃，有时甚至会直接让广和居送外卖到家里，在家招待朋友。当然最重要的还是因为广和居有鲁迅喜欢的菜。那里的菜既有高档的，也有适合普通百姓的，样样都让人有胃口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393190" y="5546090"/>
            <a:ext cx="9341485" cy="73723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听后阅读，概括这段话的内容</a:t>
            </a:r>
            <a:r>
              <a:rPr lang="zh-CN"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。</a:t>
            </a:r>
          </a:p>
        </p:txBody>
      </p:sp>
      <p:sp>
        <p:nvSpPr>
          <p:cNvPr id="2" name="矩形 1"/>
          <p:cNvSpPr/>
          <p:nvPr/>
        </p:nvSpPr>
        <p:spPr>
          <a:xfrm>
            <a:off x="1824355" y="227965"/>
            <a:ext cx="3230880" cy="62484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广和居在当时有名吗？</a:t>
            </a:r>
            <a:endParaRPr lang="zh-CN" altLang="en-US" sz="2400" b="1" dirty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highlight>
                <a:srgbClr val="FFFF00"/>
              </a:highlight>
              <a:latin typeface="华文细黑" panose="02010600040101010101" pitchFamily="2" charset="-122"/>
              <a:ea typeface="华文细黑" panose="02010600040101010101" pitchFamily="2" charset="-122"/>
              <a:cs typeface="思源黑体 CN Regular" panose="020B0500000000000000" pitchFamily="34" charset="-122"/>
              <a:sym typeface="华文楷体" panose="0201060004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52770" y="236855"/>
            <a:ext cx="6096000" cy="624840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4160"/>
              </a:lnSpc>
              <a:buFont typeface="Arial" panose="020B0704020202020204" pitchFamily="34" charset="0"/>
              <a:buNone/>
            </a:pPr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鲁迅喜欢广和居的原因是什么？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底图" descr="F:\娴）桌面未完成文件\新建文件夹\鱼仔课件\2022.09.20-22课件9\图片\鲁迅.jpg鲁迅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sp>
        <p:nvSpPr>
          <p:cNvPr id="9" name="黑色遮罩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4" name="文本框 7"/>
          <p:cNvSpPr txBox="1"/>
          <p:nvPr/>
        </p:nvSpPr>
        <p:spPr>
          <a:xfrm>
            <a:off x="165735" y="213995"/>
            <a:ext cx="125730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课文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 1</a:t>
            </a:r>
            <a:endParaRPr lang="zh-CN" altLang="en-US" sz="2800" b="1" noProof="0" dirty="0">
              <a:ln>
                <a:noFill/>
              </a:ln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sym typeface="+mn-ea"/>
            </a:endParaRPr>
          </a:p>
        </p:txBody>
      </p:sp>
      <p:sp>
        <p:nvSpPr>
          <p:cNvPr id="35" name="文本框 7"/>
          <p:cNvSpPr txBox="1"/>
          <p:nvPr/>
        </p:nvSpPr>
        <p:spPr>
          <a:xfrm>
            <a:off x="237490" y="702310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704020202020204" pitchFamily="34" charset="0"/>
              <a:buNone/>
              <a:defRPr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Text 1 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135" y="1208405"/>
            <a:ext cx="1205611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eaLnBrk="1">
              <a:lnSpc>
                <a:spcPct val="150000"/>
              </a:lnSpc>
            </a:pP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        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鲁迅也爱喝酒，虽然明明知道自己有胃病，不应该喝酒，但却很难戒掉。他是每顿饭必喝酒的人。现在保存的历史资料记载，他和郁达夫一起喝酒的次数最多。鲁迅酒量不大，经常喝醉，而且在喝酒的过程中烟不离手。郁达夫在1933年曾经作诗形容他：“</a:t>
            </a:r>
            <a:r>
              <a:rPr lang="en-US" altLang="zh-CN" sz="2800" dirty="0">
                <a:solidFill>
                  <a:srgbClr val="FF000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醉眼蒙眬上酒楼，彷徨呐喊两悠悠</a:t>
            </a:r>
            <a:r>
              <a:rPr lang="en-US" altLang="zh-CN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华文细黑" panose="02010600040101010101" pitchFamily="2" charset="-122"/>
              </a:rPr>
              <a:t>”，描写得十分形象。</a:t>
            </a:r>
          </a:p>
        </p:txBody>
      </p:sp>
      <p:sp>
        <p:nvSpPr>
          <p:cNvPr id="20" name="圆角矩形 19"/>
          <p:cNvSpPr/>
          <p:nvPr/>
        </p:nvSpPr>
        <p:spPr>
          <a:xfrm>
            <a:off x="224155" y="5393690"/>
            <a:ext cx="11769090" cy="1242060"/>
          </a:xfrm>
          <a:prstGeom prst="roundRect">
            <a:avLst>
              <a:gd name="adj" fmla="val 47532"/>
            </a:avLst>
          </a:prstGeom>
          <a:solidFill>
            <a:srgbClr val="FFFFFF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24155" y="5415915"/>
            <a:ext cx="11768455" cy="1212850"/>
          </a:xfrm>
          <a:prstGeom prst="roundRect">
            <a:avLst>
              <a:gd name="adj" fmla="val 47532"/>
            </a:avLst>
          </a:prstGeom>
          <a:solidFill>
            <a:srgbClr val="DABE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24155" y="5414645"/>
            <a:ext cx="1191895" cy="1214120"/>
            <a:chOff x="584" y="3210"/>
            <a:chExt cx="1353" cy="1378"/>
          </a:xfrm>
        </p:grpSpPr>
        <p:sp>
          <p:nvSpPr>
            <p:cNvPr id="24" name="椭圆 23"/>
            <p:cNvSpPr/>
            <p:nvPr/>
          </p:nvSpPr>
          <p:spPr>
            <a:xfrm>
              <a:off x="584" y="3246"/>
              <a:ext cx="1342" cy="1342"/>
            </a:xfrm>
            <a:prstGeom prst="ellipse">
              <a:avLst/>
            </a:prstGeom>
            <a:solidFill>
              <a:srgbClr val="DABE79"/>
            </a:solidFill>
            <a:ln>
              <a:solidFill>
                <a:schemeClr val="bg1"/>
              </a:solidFill>
            </a:ln>
            <a:effectLst>
              <a:outerShdw blurRad="76200" sx="102000" sy="102000" algn="l" rotWithShape="0">
                <a:prstClr val="black">
                  <a:alpha val="8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pic>
          <p:nvPicPr>
            <p:cNvPr id="25" name="图片 24" descr="我卡通1压缩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" y="3210"/>
              <a:ext cx="1338" cy="1338"/>
            </a:xfrm>
            <a:prstGeom prst="rect">
              <a:avLst/>
            </a:prstGeom>
          </p:spPr>
        </p:pic>
      </p:grpSp>
      <p:sp>
        <p:nvSpPr>
          <p:cNvPr id="28" name="文本框 7"/>
          <p:cNvSpPr txBox="1"/>
          <p:nvPr/>
        </p:nvSpPr>
        <p:spPr>
          <a:xfrm>
            <a:off x="1246505" y="5572125"/>
            <a:ext cx="9341485" cy="737235"/>
          </a:xfrm>
          <a:prstGeom prst="rect">
            <a:avLst/>
          </a:prstGeom>
          <a:noFill/>
          <a:effectLst>
            <a:outerShdw blurRad="127000" dir="5400000" sx="102000" sy="102000" algn="ctr" rotWithShape="0">
              <a:srgbClr val="4E98C7">
                <a:alpha val="68000"/>
              </a:srgbClr>
            </a:outerShdw>
          </a:effectLst>
        </p:spPr>
        <p:txBody>
          <a:bodyPr wrap="square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sz="2800" b="1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华文细黑" panose="02010600040101010101" pitchFamily="2" charset="-122"/>
              </a:rPr>
              <a:t>说一说你对“醉眼蒙眬上酒楼，彷徨呐喊两悠悠”的理解。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566670" y="476250"/>
            <a:ext cx="7719695" cy="460375"/>
          </a:xfrm>
          <a:prstGeom prst="rect">
            <a:avLst/>
          </a:prstGeom>
          <a:noFill/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ighlight>
                  <a:srgbClr val="FFFF00"/>
                </a:highlight>
                <a:latin typeface="华文细黑" panose="02010600040101010101" pitchFamily="2" charset="-122"/>
                <a:ea typeface="华文细黑" panose="02010600040101010101" pitchFamily="2" charset="-122"/>
                <a:cs typeface="思源黑体 CN Regular" panose="020B0500000000000000" pitchFamily="34" charset="-122"/>
                <a:sym typeface="华文楷体" panose="02010600040101010101" charset="-122"/>
              </a:rPr>
              <a:t>介绍一下鲁迅的饮食习惯以及他和郁达夫吃饭的情况。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9687 0 L 0.867969 0.000833333 " pathEditMode="relative" rAng="0" ptsTypes="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000" y="-10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1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\Users\38577\Desktop\黑板.jpg黑板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5205" y="1005840"/>
            <a:ext cx="9963150" cy="57048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192530" y="1205230"/>
            <a:ext cx="95415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4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作业</a:t>
            </a:r>
            <a:endParaRPr lang="zh-CN" sz="44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</a:endParaRPr>
          </a:p>
        </p:txBody>
      </p:sp>
      <p:pic>
        <p:nvPicPr>
          <p:cNvPr id="10" name="图片 9" descr="老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43180" y="4780915"/>
            <a:ext cx="2011045" cy="20770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585595" y="2578100"/>
            <a:ext cx="8761095" cy="245364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 eaLnBrk="1">
              <a:lnSpc>
                <a:spcPct val="120000"/>
              </a:lnSpc>
            </a:pPr>
            <a:r>
              <a:rPr lang="en-US" altLang="zh-CN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    </a:t>
            </a: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请以“我喜欢的一位名人”为题，介绍一位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你熟悉的著名人物。尽量用上本课所学的生词，</a:t>
            </a:r>
          </a:p>
          <a:p>
            <a:pPr algn="l" eaLnBrk="1">
              <a:lnSpc>
                <a:spcPct val="120000"/>
              </a:lnSpc>
            </a:pPr>
            <a:r>
              <a:rPr lang="zh-CN" altLang="en-US" sz="3200" b="1" dirty="0">
                <a:blipFill dpi="0" rotWithShape="1">
                  <a:blip r:embed="rId3"/>
                  <a:srcRect/>
                  <a:tile tx="0" ty="0" sx="100000" sy="100000" flip="none" algn="br"/>
                </a:blipFill>
                <a:latin typeface="方正喵呜体" panose="02010600010101010101" pitchFamily="2" charset="-122"/>
                <a:ea typeface="方正喵呜体" panose="02010600010101010101" pitchFamily="2" charset="-122"/>
                <a:sym typeface="华文细黑" panose="02010600040101010101" pitchFamily="2" charset="-122"/>
              </a:rPr>
              <a:t>字数不少于100字。</a:t>
            </a:r>
          </a:p>
          <a:p>
            <a:pPr algn="l" eaLnBrk="1">
              <a:lnSpc>
                <a:spcPct val="120000"/>
              </a:lnSpc>
            </a:pPr>
            <a:endParaRPr lang="zh-CN" altLang="en-US" sz="3200" b="1" dirty="0">
              <a:blipFill dpi="0" rotWithShape="1">
                <a:blip r:embed="rId3"/>
                <a:srcRect/>
                <a:tile tx="0" ty="0" sx="100000" sy="100000" flip="none" algn="br"/>
              </a:blipFill>
              <a:latin typeface="方正喵呜体" panose="02010600010101010101" pitchFamily="2" charset="-122"/>
              <a:ea typeface="方正喵呜体" panose="02010600010101010101" pitchFamily="2" charset="-122"/>
              <a:sym typeface="华文细黑" panose="02010600040101010101" pitchFamily="2" charset="-122"/>
            </a:endParaRPr>
          </a:p>
        </p:txBody>
      </p:sp>
      <p:pic>
        <p:nvPicPr>
          <p:cNvPr id="2" name="图片 1" descr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8800" y="0"/>
            <a:ext cx="1459230" cy="1459230"/>
          </a:xfrm>
          <a:prstGeom prst="rect">
            <a:avLst/>
          </a:prstGeom>
        </p:spPr>
      </p:pic>
      <p:sp>
        <p:nvSpPr>
          <p:cNvPr id="11" name="文本框 7"/>
          <p:cNvSpPr txBox="1"/>
          <p:nvPr/>
        </p:nvSpPr>
        <p:spPr>
          <a:xfrm>
            <a:off x="165852" y="214290"/>
            <a:ext cx="897890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28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作业</a:t>
            </a:r>
          </a:p>
        </p:txBody>
      </p:sp>
      <p:sp>
        <p:nvSpPr>
          <p:cNvPr id="12" name="文本框 7"/>
          <p:cNvSpPr txBox="1"/>
          <p:nvPr/>
        </p:nvSpPr>
        <p:spPr>
          <a:xfrm>
            <a:off x="237290" y="702214"/>
            <a:ext cx="110744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b="1" dirty="0"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Homework</a:t>
            </a:r>
            <a:endParaRPr kumimoji="0" lang="en-US" b="1" i="0" u="none" strike="noStrike" kern="1200" cap="none" spc="0" normalizeH="0" baseline="0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22"/>
          <a:stretch>
            <a:fillRect/>
          </a:stretch>
        </p:blipFill>
        <p:spPr>
          <a:xfrm>
            <a:off x="1609394" y="2910920"/>
            <a:ext cx="8973213" cy="37245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083"/>
          <a:stretch>
            <a:fillRect/>
          </a:stretch>
        </p:blipFill>
        <p:spPr>
          <a:xfrm>
            <a:off x="1609394" y="2346186"/>
            <a:ext cx="8885546" cy="3649538"/>
          </a:xfrm>
          <a:prstGeom prst="rect">
            <a:avLst/>
          </a:prstGeom>
        </p:spPr>
      </p:pic>
      <p:pic>
        <p:nvPicPr>
          <p:cNvPr id="18" name="图片 17" descr="C:\Users\Administrator\Desktop\小红书\对外汉语战略搞钱计划\卡通头像\2.png2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63141" y="2857500"/>
            <a:ext cx="2981325" cy="2981960"/>
          </a:xfrm>
          <a:prstGeom prst="rect">
            <a:avLst/>
          </a:prstGeom>
        </p:spPr>
      </p:pic>
      <p:pic>
        <p:nvPicPr>
          <p:cNvPr id="17" name="图片 16" descr="C:\Users\Administrator\Desktop\小红书\对外汉语战略搞钱计划\卡通头像\嘟嘴.png嘟嘴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671946" y="2910205"/>
            <a:ext cx="2928620" cy="2929255"/>
          </a:xfrm>
          <a:prstGeom prst="rect">
            <a:avLst/>
          </a:prstGeom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</p:pic>
      <p:sp>
        <p:nvSpPr>
          <p:cNvPr id="20" name="文本框 19"/>
          <p:cNvSpPr txBox="1"/>
          <p:nvPr/>
        </p:nvSpPr>
        <p:spPr>
          <a:xfrm>
            <a:off x="3463663" y="1671088"/>
            <a:ext cx="5177007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96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再见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-35242" y="-635"/>
            <a:ext cx="12235180" cy="7702550"/>
            <a:chOff x="-57" y="-1"/>
            <a:chExt cx="19268" cy="12130"/>
          </a:xfrm>
        </p:grpSpPr>
        <p:sp>
          <p:nvSpPr>
            <p:cNvPr id="15" name="任意多边形: 形状 14"/>
            <p:cNvSpPr/>
            <p:nvPr/>
          </p:nvSpPr>
          <p:spPr>
            <a:xfrm>
              <a:off x="0" y="1291"/>
              <a:ext cx="19197" cy="10839"/>
            </a:xfrm>
            <a:custGeom>
              <a:avLst/>
              <a:gdLst>
                <a:gd name="connsiteX0" fmla="*/ 3583673 w 12192000"/>
                <a:gd name="connsiteY0" fmla="*/ 2333624 h 6858000"/>
                <a:gd name="connsiteX1" fmla="*/ 2468198 w 12192000"/>
                <a:gd name="connsiteY1" fmla="*/ 3429000 h 6858000"/>
                <a:gd name="connsiteX2" fmla="*/ 3583673 w 12192000"/>
                <a:gd name="connsiteY2" fmla="*/ 4524376 h 6858000"/>
                <a:gd name="connsiteX3" fmla="*/ 3583694 w 12192000"/>
                <a:gd name="connsiteY3" fmla="*/ 4524374 h 6858000"/>
                <a:gd name="connsiteX4" fmla="*/ 8608307 w 12192000"/>
                <a:gd name="connsiteY4" fmla="*/ 4524374 h 6858000"/>
                <a:gd name="connsiteX5" fmla="*/ 8608327 w 12192000"/>
                <a:gd name="connsiteY5" fmla="*/ 4524376 h 6858000"/>
                <a:gd name="connsiteX6" fmla="*/ 8608349 w 12192000"/>
                <a:gd name="connsiteY6" fmla="*/ 4524374 h 6858000"/>
                <a:gd name="connsiteX7" fmla="*/ 8728919 w 12192000"/>
                <a:gd name="connsiteY7" fmla="*/ 4524374 h 6858000"/>
                <a:gd name="connsiteX8" fmla="*/ 8728919 w 12192000"/>
                <a:gd name="connsiteY8" fmla="*/ 4512439 h 6858000"/>
                <a:gd name="connsiteX9" fmla="*/ 8833135 w 12192000"/>
                <a:gd name="connsiteY9" fmla="*/ 4502121 h 6858000"/>
                <a:gd name="connsiteX10" fmla="*/ 9723802 w 12192000"/>
                <a:gd name="connsiteY10" fmla="*/ 3429000 h 6858000"/>
                <a:gd name="connsiteX11" fmla="*/ 8833135 w 12192000"/>
                <a:gd name="connsiteY11" fmla="*/ 2355879 h 6858000"/>
                <a:gd name="connsiteX12" fmla="*/ 8728919 w 12192000"/>
                <a:gd name="connsiteY12" fmla="*/ 2345561 h 6858000"/>
                <a:gd name="connsiteX13" fmla="*/ 8728919 w 12192000"/>
                <a:gd name="connsiteY13" fmla="*/ 2333624 h 6858000"/>
                <a:gd name="connsiteX14" fmla="*/ 8608327 w 12192000"/>
                <a:gd name="connsiteY14" fmla="*/ 2333624 h 6858000"/>
                <a:gd name="connsiteX15" fmla="*/ 0 w 12192000"/>
                <a:gd name="connsiteY15" fmla="*/ 0 h 6858000"/>
                <a:gd name="connsiteX16" fmla="*/ 12192000 w 12192000"/>
                <a:gd name="connsiteY16" fmla="*/ 0 h 6858000"/>
                <a:gd name="connsiteX17" fmla="*/ 12192000 w 12192000"/>
                <a:gd name="connsiteY17" fmla="*/ 6858000 h 6858000"/>
                <a:gd name="connsiteX18" fmla="*/ 0 w 12192000"/>
                <a:gd name="connsiteY18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2192000" h="6858000">
                  <a:moveTo>
                    <a:pt x="3583673" y="2333624"/>
                  </a:moveTo>
                  <a:cubicBezTo>
                    <a:pt x="2967613" y="2333624"/>
                    <a:pt x="2468198" y="2824041"/>
                    <a:pt x="2468198" y="3429000"/>
                  </a:cubicBezTo>
                  <a:cubicBezTo>
                    <a:pt x="2468198" y="4033959"/>
                    <a:pt x="2967613" y="4524376"/>
                    <a:pt x="3583673" y="4524376"/>
                  </a:cubicBezTo>
                  <a:lnTo>
                    <a:pt x="3583694" y="4524374"/>
                  </a:lnTo>
                  <a:lnTo>
                    <a:pt x="8608307" y="4524374"/>
                  </a:lnTo>
                  <a:lnTo>
                    <a:pt x="8608327" y="4524376"/>
                  </a:lnTo>
                  <a:lnTo>
                    <a:pt x="8608349" y="4524374"/>
                  </a:lnTo>
                  <a:lnTo>
                    <a:pt x="8728919" y="4524374"/>
                  </a:lnTo>
                  <a:lnTo>
                    <a:pt x="8728919" y="4512439"/>
                  </a:lnTo>
                  <a:lnTo>
                    <a:pt x="8833135" y="4502121"/>
                  </a:lnTo>
                  <a:cubicBezTo>
                    <a:pt x="9341439" y="4399982"/>
                    <a:pt x="9723802" y="3958340"/>
                    <a:pt x="9723802" y="3429000"/>
                  </a:cubicBezTo>
                  <a:cubicBezTo>
                    <a:pt x="9723802" y="2899661"/>
                    <a:pt x="9341439" y="2458018"/>
                    <a:pt x="8833135" y="2355879"/>
                  </a:cubicBezTo>
                  <a:lnTo>
                    <a:pt x="8728919" y="2345561"/>
                  </a:lnTo>
                  <a:lnTo>
                    <a:pt x="8728919" y="2333624"/>
                  </a:lnTo>
                  <a:lnTo>
                    <a:pt x="8608327" y="2333624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3EC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effectLst>
                  <a:innerShdw blurRad="114300">
                    <a:prstClr val="black"/>
                  </a:innerShdw>
                </a:effectLst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57" y="-1"/>
              <a:ext cx="19268" cy="1744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/>
        </p:nvSpPr>
        <p:spPr>
          <a:xfrm>
            <a:off x="3464204" y="1670813"/>
            <a:ext cx="517781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再见</a:t>
            </a:r>
            <a:r>
              <a:rPr lang="en-US" altLang="zh-CN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Bye</a:t>
            </a:r>
          </a:p>
        </p:txBody>
      </p:sp>
      <p:sp>
        <p:nvSpPr>
          <p:cNvPr id="24" name="文本框 7"/>
          <p:cNvSpPr txBox="1"/>
          <p:nvPr/>
        </p:nvSpPr>
        <p:spPr>
          <a:xfrm>
            <a:off x="-48577" y="213995"/>
            <a:ext cx="530034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《HSK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标准教程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5--</a:t>
            </a:r>
            <a:r>
              <a:rPr lang="zh-CN" altLang="en-US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第九课</a:t>
            </a:r>
            <a:r>
              <a:rPr lang="en-US" altLang="zh-CN" sz="2800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sym typeface="+mn-ea"/>
              </a:rPr>
              <a:t>》</a:t>
            </a:r>
            <a:endParaRPr lang="zh-CN" altLang="en-US" sz="2800" b="1" dirty="0">
              <a:gradFill flip="none" rotWithShape="1">
                <a:gsLst>
                  <a:gs pos="0">
                    <a:srgbClr val="E3C982"/>
                  </a:gs>
                  <a:gs pos="95000">
                    <a:srgbClr val="B29054"/>
                  </a:gs>
                </a:gsLst>
                <a:lin ang="0" scaled="1"/>
                <a:tileRect/>
              </a:gra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8243" y="702214"/>
            <a:ext cx="3676650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ln>
                  <a:noFill/>
                </a:ln>
                <a:gradFill flip="none" rotWithShape="1">
                  <a:gsLst>
                    <a:gs pos="0">
                      <a:srgbClr val="E3C982"/>
                    </a:gs>
                    <a:gs pos="95000">
                      <a:srgbClr val="B29054"/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HSK Standard  Course 5  Lesson9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0.3806 -1.11111E-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repeatCount="4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1"/>
      <p:bldP spid="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A0MmQ4N2JlZDRkYTVmM2QxMDAwYTU3YTQ3MzY2OG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ce034b8-f88d-4f6e-b38b-c51fa4f860c9}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4208</Words>
  <Application>Microsoft Office PowerPoint</Application>
  <PresentationFormat>Widescreen</PresentationFormat>
  <Paragraphs>567</Paragraphs>
  <Slides>81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6" baseType="lpstr">
      <vt:lpstr>HelveticaExt-Normal</vt:lpstr>
      <vt:lpstr>微软雅黑</vt:lpstr>
      <vt:lpstr>华文楷体</vt:lpstr>
      <vt:lpstr>华文细黑</vt:lpstr>
      <vt:lpstr>思源黑体 CN Bold</vt:lpstr>
      <vt:lpstr>思源黑体 CN Heavy</vt:lpstr>
      <vt:lpstr>思源黑体 CN Regular</vt:lpstr>
      <vt:lpstr>方正兰亭黑简体</vt:lpstr>
      <vt:lpstr>方正喵呜体</vt:lpstr>
      <vt:lpstr>Arial</vt:lpstr>
      <vt:lpstr>Calibri</vt:lpstr>
      <vt:lpstr>Comic Sans MS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199</cp:revision>
  <dcterms:created xsi:type="dcterms:W3CDTF">2025-04-04T11:46:44Z</dcterms:created>
  <dcterms:modified xsi:type="dcterms:W3CDTF">2025-04-04T15:27:38Z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2052-6.13.2.8918</vt:lpwstr>
  </property>
  <property fmtid="{D5CDD505-2E9C-101B-9397-08002B2CF9AE}" pid="3" name="ICV">
    <vt:lpwstr>D463FC1DF10E4121A472EF5F53493A3D</vt:lpwstr>
  </property>
</Properties>
</file>