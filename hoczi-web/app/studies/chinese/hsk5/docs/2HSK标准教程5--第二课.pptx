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2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notesSlides/notesSlide3.xml" ContentType="application/vnd.openxmlformats-officedocument.presentationml.notesSlide+xml"/>
  <Override PartName="/ppt/tags/tag309.xml" ContentType="application/vnd.openxmlformats-officedocument.presentationml.tags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38" r:id="rId45"/>
    <p:sldId id="337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34" r:id="rId75"/>
    <p:sldId id="335" r:id="rId76"/>
    <p:sldId id="318" r:id="rId77"/>
    <p:sldId id="319" r:id="rId78"/>
  </p:sldIdLst>
  <p:sldSz cx="12192000" cy="6858000"/>
  <p:notesSz cx="6858000" cy="9144000"/>
  <p:custDataLst>
    <p:tags r:id="rId8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48"/>
      </p:cViewPr>
      <p:guideLst>
        <p:guide orient="horz" pos="2160"/>
        <p:guide pos="381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88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13.02325" units="1/cm"/>
          <inkml:channelProperty channel="Y" name="resolution" value="111.9171" units="1/cm"/>
          <inkml:channelProperty channel="T" name="resolution" value="1" units="1/dev"/>
        </inkml:channelProperties>
      </inkml:inkSource>
      <inkml:timestamp xml:id="ts0" timeString="2024-03-13T09:10: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26323 16739 0,'0'0'0,"0"0"0,0 0 0,0 0 15,0 0-15,0 0 16,0 0-16,0 0 0,0 0 16,0 0-16,0 0 0,0 0 15,0 0-15,0 0 16,0 0-16,0 0 0,0 0 16,0 0-16,0 0 0,0 0 15,0 0-15,0 0 0,0 0 16,0 0-16,0 0 0,0 0 15,0 0-15,0 0 16,0 0-16,0 0 0,0 0 16,0 0-16,0 0 0,0 9 15,9 0-15,0 0 16,-9 0-16,8-1 0,-8 10 16,9-9-16,-9 0 0,9-1 15,-9 1-15,9 0 0,-9 0 16,8 0-16,-8 0 15,0-1-15,0-8 0,0 9 16,0-9-16,-8 9 0,-1 9 16,0-9-16,-8-1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3-13T09:29: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22507 6950 0,'35'0'47,"18"0"-32,36 0-15,158 0 16,-212 0 0,247-36-16,-70 36 31,52 0-15,-123 0-1,-88 0 1</inkml:trace>
  <inkml:trace contextRef="#ctx0" brushRef="#br0">1535 8255 0,'0'0'0,"17"0"63,1 0-48,-1 0 17,1 0-1,17 0-31,18 0 15,0 0-15,-17 0 16,-1 0 0,0 0-1,53 0 1,-17 0 15,-36 18-15,-17-18-1,17 0 1,0 0 0,-17 0-1,0 0 1,-1 0 0,1 0-1,-1 0 16</inkml:trace>
  <inkml:trace contextRef="#ctx0" brushRef="#br0">2558 17568 0,'17'0'94,"-17"-17"-79,36 17-15,-1-18 16,-18 0-16,54 1 16,0 17-16,140-18 15,-34 18 1,-54 0-1,106-18 1,1 18 0,-1 0-1,-70 0 1,-18 0 0,-35 0 15,-89 0-31,36 18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3-13T09:31: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11201 13847 0,'0'17'62,"0"18"-62,17 71 16,-17-53 0,0 0-1,0 0 1,0-35-1,0-1 1,0 1 0,0 0 77,0-1-61,0 1-17</inkml:trace>
  <inkml:trace contextRef="#ctx0" brushRef="#br0">11218 13917 0,'18'-18'47,"0"18"-31,17-17-1,-17-1 1,-1 18 0,1-17-1,-1 17 1,1 0 0,0 0 15,-18 17 0,0 1-15,17-1-1,-17 1 1,0 17 31,0-17-47,0 0 15,0 17 1,-17-35 0,-1 18-1,0-1 1,1-17 0,17 18-1,-18-18 16,18 17 1,-35 1-32,0-18 15,35 18 1,-18-18 0,0 0-16,18 17 31,-17-17-16,-1 0 1</inkml:trace>
  <inkml:trace contextRef="#ctx0" brushRef="#br0">11571 13882 0,'0'17'31,"0"1"-31,0 0 16,0-1 0,0 1-1,0 0 1,0-1-16,18-17 16,-18 18 15,0 0 0,0-1 16,0 1-47,0-1 16,0 1-1</inkml:trace>
  <inkml:trace contextRef="#ctx0" brushRef="#br0">11518 13741 0</inkml:trace>
  <inkml:trace contextRef="#ctx0" brushRef="#br0">11924 13776 0,'-18'18'156,"1"-18"-156,-1 0 31,18 17-15,-18-17-16,18 18 31,0 0 0,-17 17-15,17-18-16,0 1 16,0 17-1,0 18 1,0-17-1,0-1 1,17-35 0,1 0 15,17 0-15,1-35-1,-19-18 1,1 0-1,-1-18 1,-17 18 0,0 0-1,0 89 110,0-19-109,0 19-16,0 34 16,0-52-16,18 52 15,-18-34 1,18-36 46,-1 0-46,19 0 0,-19-36-1,1 1 1,0 0-1,-18 52 79,0 72-78,17-72-1,1 1-15,-1 17 32,1-35-32,0 18 15,-1-18 1,1 0 0,17 0-1,36-71 1,-71 18-1,0 0 1,0 18 0,0 17-1,-18 18 17,1 0-1,-1 0-31,-35 0 15,18 0 1,-1 0 15</inkml:trace>
  <inkml:trace contextRef="#ctx0" brushRef="#br0">11959 13370 0,'35'18'47,"1"-18"-31,17 0-1,-18 0 1,0 0-1,-17 0-15,-1 0 16,1 0 0,0 0-1</inkml:trace>
  <inkml:trace contextRef="#ctx0" brushRef="#br0">11606 14605 0,'-17'0'16,"-1"0"15,0 0 63,1 0-79,-1 35 1,18-17-16,-35 17 15,17 0 1,1 1 15,17-19-31,0 36 16,0-17 0,0 34-1,0-17 1,0 0-1,0 0 1,0-35 0,0-1-1,17 54 1,1-18 0,17 0-1,-17-36 1,17 36 15,-35-35-31,35-1 31,-17-17-15,17 18 0,18 0-1,-18-1 1,18-17-1,0 0 1,-17 0 0,34-53-1,-17-17 1,-18 17 0,-17 0-1,0 35 1,-1-52-1,-17 17 1,0-18 15,0 1-15,-17-71 0,-19 105-1,19-17 1,-89-17-1,53 35 1,18 17 0,-54 0-1,19 18 1,-18 0 0,-18 0-1,35 36 16,54-1-15,-54 35-16,36-34 16</inkml:trace>
  <inkml:trace contextRef="#ctx0" brushRef="#br0">11483 16122 0,'0'18'16,"0"-1"0,18 1-16,-18 52 15,0-34 1,0 17 0,0 17-1,0 1 1,-89-1-1,72-17 1,-89 71 15,71-107 1,17 1-32,0-18 31,-17 18-16,35-1 1,-18-17-16</inkml:trace>
  <inkml:trace contextRef="#ctx0" brushRef="#br0">11536 16228 0,'35'-18'31,"-17"0"-31,17 1 16,18-1-1,17 1 17,-34 17-17,-19 0 1,1 0-16,0 0 31,-1 0-31,1 17 31,-18 1-31,18 17 16,17 0 0,-35 1-1,18 70 1,-1 17-1,-17-35 17,0 0-32,0 36 31,18-36-15,-1-35-1,1-35 1,17-18 15,18 17-15,-35 1-1,17-18 1,0 0 0,1-18-1,-19-17-15,19-18 16,-19 18-1,1 17 1,-18 0 0,0 1 15,0-18-15,0 17-1,0 0 1,0 1-1</inkml:trace>
  <inkml:trace contextRef="#ctx0" brushRef="#br0">11783 16616 0,'0'17'31,"0"1"-16,17 0 1,1 17 0,-18 0-1,18-17 1,-18 0 15</inkml:trace>
  <inkml:trace contextRef="#ctx0" brushRef="#br0">11800 16598 0,'0'18'78,"-17"-18"-78,17 17 16,0 1-1,0 0-15,-36 17 16,19 0 0,17 1-1,-18-36 1,1 17 0,-1 1-1,18-1 1,-18 19-1,1-36 1</inkml:trace>
  <inkml:trace contextRef="#ctx0" brushRef="#br0">11642 16422 0,'0'17'62,"17"19"-46,-17-19 0,18 19-1,17 17 1,-17-18 0,-1 18-16,1-18 15,0 0 1,-1-35-1,1 0 1,-18 18 0,18-18 15,-1 0-31</inkml:trace>
  <inkml:trace contextRef="#ctx0" brushRef="#br0">11836 16457 0,'0'18'110,"0"52"-95,-71 124-15,36-158 16,0 16 0,35-16-1,-18 17 1,18-36 31,-18-17 46,18 18-77</inkml:trace>
  <inkml:trace contextRef="#ctx0" brushRef="#br0">10830 15716 0,'36'0'78,"-19"0"-62,1 0-16,17 0 31,-17 0-15,35 18-1,35-18 1,0 18 0,-70-18-16,70 0 15,-70 0 1,17 0 15,-18 0-15,1 0-16,0 0 15,-1 0 1,1 0 0,35 0-1,-18 0 16,-17 0-15,17 0 0,-17 0-1,17 0 1,-17 0 0,-1 0 15</inkml:trace>
  <inkml:trace contextRef="#ctx0" brushRef="#br0">13053 14023 0,'0'-18'47,"17"1"-31,-17-1-16,18 0 15,0 1 1,17-36 0,-35 18-1,35 17 1,1 0-1,-36 1 1,35-19 0,-18 36-1,19-17 1,52 17 0,-35 0-1,0 0 1,-36 17-1,19 1 1,-1 17 0,-17 1-1,-18 16 1,17 1 0,1 18-1,-1-1 16,1 1-15,-18-53 0,0-1-1,0 1 63,0 0-78,0-1 16</inkml:trace>
  <inkml:trace contextRef="#ctx0" brushRef="#br0">13529 14129 0,'18'17'125,"-1"19"-125,-17-19 16,18 19 0,0-19-16,-1 1 15,-17-1 17,18-17 139,-1 0-155,-17-17-16,71-18 16,-53-1-1,-1 36 1,1 0 0,-18-17-1,18-19 1,17 1 15,0-18-15,0 0-1,-17 0 1,0 36 0,-1-1-1,-17 0 1,0 1-1,18-1 1</inkml:trace>
  <inkml:trace contextRef="#ctx0" brushRef="#br0">2999 15557 0,'0'0'0,"17"0"15,1 18-15,-18 0 16,0 17 0,53 18-1,0 0 1,35-18-1,35 0 1,142 54 15,-18-72-15,159-17 0,-54 0-1,-69-35 1,-195 0-16,229-71 15,-140-18 1,17-34 0,-18-89-1,-35-71 1,-70 36 0,-54-18-1,-17 124 1,0 35-1,-53 35 1,-17 18 15,-89 17-15,-105 18 0,-460 0-1,195 36 1,53 17-1,-18 0 1,106 0 0,-18 0-1,248 0 1,16 35 0,19 0-1,35 18 1,-106 123-1,141-105 1,-53 52 15,35-17-15,-17 71 0,71-89-1,17 0 1,0 71-1,17 35 1,36-88 0,53 70-1,0 18 1,53-35 0,52 17-1,-52-70 1,-71-71-1,18-35 1,18 18 15,-36-18-15,-18 0 0,18 0-1,-35 0 1,53-18-1,-53 1 1,18-19 0,-18 19-1,0-1 1,17-17 0,-52 17-1,35 1 1,-53-1 15,17 18-31,19-35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5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6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83.xml"/><Relationship Id="rId7" Type="http://schemas.openxmlformats.org/officeDocument/2006/relationships/image" Target="../media/image19.png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image" Target="../media/image18.png"/><Relationship Id="rId11" Type="http://schemas.openxmlformats.org/officeDocument/2006/relationships/image" Target="../media/image1.png"/><Relationship Id="rId5" Type="http://schemas.openxmlformats.org/officeDocument/2006/relationships/audio" Target="../media/audio2.wav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86.xml"/><Relationship Id="rId7" Type="http://schemas.openxmlformats.org/officeDocument/2006/relationships/image" Target="../media/image19.png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18.png"/><Relationship Id="rId11" Type="http://schemas.openxmlformats.org/officeDocument/2006/relationships/image" Target="../media/image1.png"/><Relationship Id="rId5" Type="http://schemas.openxmlformats.org/officeDocument/2006/relationships/audio" Target="../media/audio2.wav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7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8.xml"/><Relationship Id="rId6" Type="http://schemas.microsoft.com/office/2007/relationships/hdphoto" Target="../media/hdphoto2.wdp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audio" Target="../media/audio1.wav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9.xml"/><Relationship Id="rId6" Type="http://schemas.microsoft.com/office/2007/relationships/hdphoto" Target="../media/hdphoto3.wdp"/><Relationship Id="rId5" Type="http://schemas.openxmlformats.org/officeDocument/2006/relationships/image" Target="../media/image40.png"/><Relationship Id="rId10" Type="http://schemas.microsoft.com/office/2007/relationships/hdphoto" Target="../media/hdphoto5.wdp"/><Relationship Id="rId4" Type="http://schemas.openxmlformats.org/officeDocument/2006/relationships/image" Target="../media/image27.png"/><Relationship Id="rId9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tags" Target="../tags/tag215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10.xml"/><Relationship Id="rId42" Type="http://schemas.openxmlformats.org/officeDocument/2006/relationships/tags" Target="../tags/tag231.xml"/><Relationship Id="rId47" Type="http://schemas.openxmlformats.org/officeDocument/2006/relationships/tags" Target="../tags/tag236.xml"/><Relationship Id="rId63" Type="http://schemas.openxmlformats.org/officeDocument/2006/relationships/tags" Target="../tags/tag252.xml"/><Relationship Id="rId68" Type="http://schemas.openxmlformats.org/officeDocument/2006/relationships/tags" Target="../tags/tag257.xml"/><Relationship Id="rId84" Type="http://schemas.openxmlformats.org/officeDocument/2006/relationships/tags" Target="../tags/tag273.xml"/><Relationship Id="rId89" Type="http://schemas.openxmlformats.org/officeDocument/2006/relationships/tags" Target="../tags/tag278.xml"/><Relationship Id="rId112" Type="http://schemas.openxmlformats.org/officeDocument/2006/relationships/tags" Target="../tags/tag301.xml"/><Relationship Id="rId16" Type="http://schemas.openxmlformats.org/officeDocument/2006/relationships/tags" Target="../tags/tag205.xml"/><Relationship Id="rId107" Type="http://schemas.openxmlformats.org/officeDocument/2006/relationships/tags" Target="../tags/tag296.xml"/><Relationship Id="rId11" Type="http://schemas.openxmlformats.org/officeDocument/2006/relationships/tags" Target="../tags/tag200.xml"/><Relationship Id="rId32" Type="http://schemas.openxmlformats.org/officeDocument/2006/relationships/tags" Target="../tags/tag221.xml"/><Relationship Id="rId37" Type="http://schemas.openxmlformats.org/officeDocument/2006/relationships/tags" Target="../tags/tag226.xml"/><Relationship Id="rId53" Type="http://schemas.openxmlformats.org/officeDocument/2006/relationships/tags" Target="../tags/tag242.xml"/><Relationship Id="rId58" Type="http://schemas.openxmlformats.org/officeDocument/2006/relationships/tags" Target="../tags/tag247.xml"/><Relationship Id="rId74" Type="http://schemas.openxmlformats.org/officeDocument/2006/relationships/tags" Target="../tags/tag263.xml"/><Relationship Id="rId79" Type="http://schemas.openxmlformats.org/officeDocument/2006/relationships/tags" Target="../tags/tag268.xml"/><Relationship Id="rId102" Type="http://schemas.openxmlformats.org/officeDocument/2006/relationships/tags" Target="../tags/tag291.xml"/><Relationship Id="rId5" Type="http://schemas.openxmlformats.org/officeDocument/2006/relationships/tags" Target="../tags/tag194.xml"/><Relationship Id="rId90" Type="http://schemas.openxmlformats.org/officeDocument/2006/relationships/tags" Target="../tags/tag279.xml"/><Relationship Id="rId95" Type="http://schemas.openxmlformats.org/officeDocument/2006/relationships/tags" Target="../tags/tag284.xml"/><Relationship Id="rId22" Type="http://schemas.openxmlformats.org/officeDocument/2006/relationships/tags" Target="../tags/tag211.xml"/><Relationship Id="rId27" Type="http://schemas.openxmlformats.org/officeDocument/2006/relationships/tags" Target="../tags/tag216.xml"/><Relationship Id="rId43" Type="http://schemas.openxmlformats.org/officeDocument/2006/relationships/tags" Target="../tags/tag232.xml"/><Relationship Id="rId48" Type="http://schemas.openxmlformats.org/officeDocument/2006/relationships/tags" Target="../tags/tag237.xml"/><Relationship Id="rId64" Type="http://schemas.openxmlformats.org/officeDocument/2006/relationships/tags" Target="../tags/tag253.xml"/><Relationship Id="rId69" Type="http://schemas.openxmlformats.org/officeDocument/2006/relationships/tags" Target="../tags/tag258.xml"/><Relationship Id="rId113" Type="http://schemas.openxmlformats.org/officeDocument/2006/relationships/tags" Target="../tags/tag302.xml"/><Relationship Id="rId118" Type="http://schemas.openxmlformats.org/officeDocument/2006/relationships/image" Target="../media/image5.jpeg"/><Relationship Id="rId80" Type="http://schemas.openxmlformats.org/officeDocument/2006/relationships/tags" Target="../tags/tag269.xml"/><Relationship Id="rId85" Type="http://schemas.openxmlformats.org/officeDocument/2006/relationships/tags" Target="../tags/tag274.xml"/><Relationship Id="rId12" Type="http://schemas.openxmlformats.org/officeDocument/2006/relationships/tags" Target="../tags/tag201.xml"/><Relationship Id="rId17" Type="http://schemas.openxmlformats.org/officeDocument/2006/relationships/tags" Target="../tags/tag206.xml"/><Relationship Id="rId33" Type="http://schemas.openxmlformats.org/officeDocument/2006/relationships/tags" Target="../tags/tag222.xml"/><Relationship Id="rId38" Type="http://schemas.openxmlformats.org/officeDocument/2006/relationships/tags" Target="../tags/tag227.xml"/><Relationship Id="rId59" Type="http://schemas.openxmlformats.org/officeDocument/2006/relationships/tags" Target="../tags/tag248.xml"/><Relationship Id="rId103" Type="http://schemas.openxmlformats.org/officeDocument/2006/relationships/tags" Target="../tags/tag292.xml"/><Relationship Id="rId108" Type="http://schemas.openxmlformats.org/officeDocument/2006/relationships/tags" Target="../tags/tag297.xml"/><Relationship Id="rId54" Type="http://schemas.openxmlformats.org/officeDocument/2006/relationships/tags" Target="../tags/tag243.xml"/><Relationship Id="rId70" Type="http://schemas.openxmlformats.org/officeDocument/2006/relationships/tags" Target="../tags/tag259.xml"/><Relationship Id="rId75" Type="http://schemas.openxmlformats.org/officeDocument/2006/relationships/tags" Target="../tags/tag264.xml"/><Relationship Id="rId91" Type="http://schemas.openxmlformats.org/officeDocument/2006/relationships/tags" Target="../tags/tag280.xml"/><Relationship Id="rId96" Type="http://schemas.openxmlformats.org/officeDocument/2006/relationships/tags" Target="../tags/tag285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23" Type="http://schemas.openxmlformats.org/officeDocument/2006/relationships/tags" Target="../tags/tag212.xml"/><Relationship Id="rId28" Type="http://schemas.openxmlformats.org/officeDocument/2006/relationships/tags" Target="../tags/tag217.xml"/><Relationship Id="rId49" Type="http://schemas.openxmlformats.org/officeDocument/2006/relationships/tags" Target="../tags/tag238.xml"/><Relationship Id="rId114" Type="http://schemas.openxmlformats.org/officeDocument/2006/relationships/tags" Target="../tags/tag303.xml"/><Relationship Id="rId119" Type="http://schemas.openxmlformats.org/officeDocument/2006/relationships/image" Target="../media/image6.png"/><Relationship Id="rId10" Type="http://schemas.openxmlformats.org/officeDocument/2006/relationships/tags" Target="../tags/tag199.xml"/><Relationship Id="rId31" Type="http://schemas.openxmlformats.org/officeDocument/2006/relationships/tags" Target="../tags/tag220.xml"/><Relationship Id="rId44" Type="http://schemas.openxmlformats.org/officeDocument/2006/relationships/tags" Target="../tags/tag233.xml"/><Relationship Id="rId52" Type="http://schemas.openxmlformats.org/officeDocument/2006/relationships/tags" Target="../tags/tag241.xml"/><Relationship Id="rId60" Type="http://schemas.openxmlformats.org/officeDocument/2006/relationships/tags" Target="../tags/tag249.xml"/><Relationship Id="rId65" Type="http://schemas.openxmlformats.org/officeDocument/2006/relationships/tags" Target="../tags/tag254.xml"/><Relationship Id="rId73" Type="http://schemas.openxmlformats.org/officeDocument/2006/relationships/tags" Target="../tags/tag262.xml"/><Relationship Id="rId78" Type="http://schemas.openxmlformats.org/officeDocument/2006/relationships/tags" Target="../tags/tag267.xml"/><Relationship Id="rId81" Type="http://schemas.openxmlformats.org/officeDocument/2006/relationships/tags" Target="../tags/tag270.xml"/><Relationship Id="rId86" Type="http://schemas.openxmlformats.org/officeDocument/2006/relationships/tags" Target="../tags/tag275.xml"/><Relationship Id="rId94" Type="http://schemas.openxmlformats.org/officeDocument/2006/relationships/tags" Target="../tags/tag283.xml"/><Relationship Id="rId99" Type="http://schemas.openxmlformats.org/officeDocument/2006/relationships/tags" Target="../tags/tag288.xml"/><Relationship Id="rId101" Type="http://schemas.openxmlformats.org/officeDocument/2006/relationships/tags" Target="../tags/tag290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3" Type="http://schemas.openxmlformats.org/officeDocument/2006/relationships/tags" Target="../tags/tag202.xml"/><Relationship Id="rId18" Type="http://schemas.openxmlformats.org/officeDocument/2006/relationships/tags" Target="../tags/tag207.xml"/><Relationship Id="rId39" Type="http://schemas.openxmlformats.org/officeDocument/2006/relationships/tags" Target="../tags/tag228.xml"/><Relationship Id="rId109" Type="http://schemas.openxmlformats.org/officeDocument/2006/relationships/tags" Target="../tags/tag298.xml"/><Relationship Id="rId34" Type="http://schemas.openxmlformats.org/officeDocument/2006/relationships/tags" Target="../tags/tag223.xml"/><Relationship Id="rId50" Type="http://schemas.openxmlformats.org/officeDocument/2006/relationships/tags" Target="../tags/tag239.xml"/><Relationship Id="rId55" Type="http://schemas.openxmlformats.org/officeDocument/2006/relationships/tags" Target="../tags/tag244.xml"/><Relationship Id="rId76" Type="http://schemas.openxmlformats.org/officeDocument/2006/relationships/tags" Target="../tags/tag265.xml"/><Relationship Id="rId97" Type="http://schemas.openxmlformats.org/officeDocument/2006/relationships/tags" Target="../tags/tag286.xml"/><Relationship Id="rId104" Type="http://schemas.openxmlformats.org/officeDocument/2006/relationships/tags" Target="../tags/tag293.xml"/><Relationship Id="rId7" Type="http://schemas.openxmlformats.org/officeDocument/2006/relationships/tags" Target="../tags/tag196.xml"/><Relationship Id="rId71" Type="http://schemas.openxmlformats.org/officeDocument/2006/relationships/tags" Target="../tags/tag260.xml"/><Relationship Id="rId92" Type="http://schemas.openxmlformats.org/officeDocument/2006/relationships/tags" Target="../tags/tag281.xml"/><Relationship Id="rId2" Type="http://schemas.openxmlformats.org/officeDocument/2006/relationships/tags" Target="../tags/tag191.xml"/><Relationship Id="rId29" Type="http://schemas.openxmlformats.org/officeDocument/2006/relationships/tags" Target="../tags/tag218.xml"/><Relationship Id="rId24" Type="http://schemas.openxmlformats.org/officeDocument/2006/relationships/tags" Target="../tags/tag213.xml"/><Relationship Id="rId40" Type="http://schemas.openxmlformats.org/officeDocument/2006/relationships/tags" Target="../tags/tag229.xml"/><Relationship Id="rId45" Type="http://schemas.openxmlformats.org/officeDocument/2006/relationships/tags" Target="../tags/tag234.xml"/><Relationship Id="rId66" Type="http://schemas.openxmlformats.org/officeDocument/2006/relationships/tags" Target="../tags/tag255.xml"/><Relationship Id="rId87" Type="http://schemas.openxmlformats.org/officeDocument/2006/relationships/tags" Target="../tags/tag276.xml"/><Relationship Id="rId110" Type="http://schemas.openxmlformats.org/officeDocument/2006/relationships/tags" Target="../tags/tag299.xml"/><Relationship Id="rId115" Type="http://schemas.openxmlformats.org/officeDocument/2006/relationships/tags" Target="../tags/tag304.xml"/><Relationship Id="rId61" Type="http://schemas.openxmlformats.org/officeDocument/2006/relationships/tags" Target="../tags/tag250.xml"/><Relationship Id="rId82" Type="http://schemas.openxmlformats.org/officeDocument/2006/relationships/tags" Target="../tags/tag271.xml"/><Relationship Id="rId19" Type="http://schemas.openxmlformats.org/officeDocument/2006/relationships/tags" Target="../tags/tag208.xml"/><Relationship Id="rId14" Type="http://schemas.openxmlformats.org/officeDocument/2006/relationships/tags" Target="../tags/tag203.xml"/><Relationship Id="rId30" Type="http://schemas.openxmlformats.org/officeDocument/2006/relationships/tags" Target="../tags/tag219.xml"/><Relationship Id="rId35" Type="http://schemas.openxmlformats.org/officeDocument/2006/relationships/tags" Target="../tags/tag224.xml"/><Relationship Id="rId56" Type="http://schemas.openxmlformats.org/officeDocument/2006/relationships/tags" Target="../tags/tag245.xml"/><Relationship Id="rId77" Type="http://schemas.openxmlformats.org/officeDocument/2006/relationships/tags" Target="../tags/tag266.xml"/><Relationship Id="rId100" Type="http://schemas.openxmlformats.org/officeDocument/2006/relationships/tags" Target="../tags/tag289.xml"/><Relationship Id="rId105" Type="http://schemas.openxmlformats.org/officeDocument/2006/relationships/tags" Target="../tags/tag294.xml"/><Relationship Id="rId8" Type="http://schemas.openxmlformats.org/officeDocument/2006/relationships/tags" Target="../tags/tag197.xml"/><Relationship Id="rId51" Type="http://schemas.openxmlformats.org/officeDocument/2006/relationships/tags" Target="../tags/tag240.xml"/><Relationship Id="rId72" Type="http://schemas.openxmlformats.org/officeDocument/2006/relationships/tags" Target="../tags/tag261.xml"/><Relationship Id="rId93" Type="http://schemas.openxmlformats.org/officeDocument/2006/relationships/tags" Target="../tags/tag282.xml"/><Relationship Id="rId98" Type="http://schemas.openxmlformats.org/officeDocument/2006/relationships/tags" Target="../tags/tag287.xml"/><Relationship Id="rId3" Type="http://schemas.openxmlformats.org/officeDocument/2006/relationships/tags" Target="../tags/tag192.xml"/><Relationship Id="rId25" Type="http://schemas.openxmlformats.org/officeDocument/2006/relationships/tags" Target="../tags/tag214.xml"/><Relationship Id="rId46" Type="http://schemas.openxmlformats.org/officeDocument/2006/relationships/tags" Target="../tags/tag235.xml"/><Relationship Id="rId67" Type="http://schemas.openxmlformats.org/officeDocument/2006/relationships/tags" Target="../tags/tag256.xml"/><Relationship Id="rId116" Type="http://schemas.openxmlformats.org/officeDocument/2006/relationships/tags" Target="../tags/tag305.xml"/><Relationship Id="rId20" Type="http://schemas.openxmlformats.org/officeDocument/2006/relationships/tags" Target="../tags/tag209.xml"/><Relationship Id="rId41" Type="http://schemas.openxmlformats.org/officeDocument/2006/relationships/tags" Target="../tags/tag230.xml"/><Relationship Id="rId62" Type="http://schemas.openxmlformats.org/officeDocument/2006/relationships/tags" Target="../tags/tag251.xml"/><Relationship Id="rId83" Type="http://schemas.openxmlformats.org/officeDocument/2006/relationships/tags" Target="../tags/tag272.xml"/><Relationship Id="rId88" Type="http://schemas.openxmlformats.org/officeDocument/2006/relationships/tags" Target="../tags/tag277.xml"/><Relationship Id="rId111" Type="http://schemas.openxmlformats.org/officeDocument/2006/relationships/tags" Target="../tags/tag300.xml"/><Relationship Id="rId15" Type="http://schemas.openxmlformats.org/officeDocument/2006/relationships/tags" Target="../tags/tag204.xml"/><Relationship Id="rId36" Type="http://schemas.openxmlformats.org/officeDocument/2006/relationships/tags" Target="../tags/tag225.xml"/><Relationship Id="rId57" Type="http://schemas.openxmlformats.org/officeDocument/2006/relationships/tags" Target="../tags/tag246.xml"/><Relationship Id="rId106" Type="http://schemas.openxmlformats.org/officeDocument/2006/relationships/tags" Target="../tags/tag29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audio" Target="../media/audio1.wav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6.xml"/><Relationship Id="rId6" Type="http://schemas.microsoft.com/office/2007/relationships/hdphoto" Target="../media/hdphoto6.wdp"/><Relationship Id="rId5" Type="http://schemas.openxmlformats.org/officeDocument/2006/relationships/image" Target="../media/image47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7.xml"/><Relationship Id="rId6" Type="http://schemas.microsoft.com/office/2007/relationships/hdphoto" Target="../media/hdphoto8.wdp"/><Relationship Id="rId5" Type="http://schemas.openxmlformats.org/officeDocument/2006/relationships/image" Target="../media/image49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8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audio" Target="../media/audio1.wav"/><Relationship Id="rId7" Type="http://schemas.openxmlformats.org/officeDocument/2006/relationships/image" Target="../media/image50.png"/><Relationship Id="rId12" Type="http://schemas.openxmlformats.org/officeDocument/2006/relationships/image" Target="../media/image6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9.xml"/><Relationship Id="rId6" Type="http://schemas.microsoft.com/office/2007/relationships/hdphoto" Target="../media/hdphoto2.wdp"/><Relationship Id="rId11" Type="http://schemas.openxmlformats.org/officeDocument/2006/relationships/customXml" Target="../ink/ink2.xml"/><Relationship Id="rId5" Type="http://schemas.openxmlformats.org/officeDocument/2006/relationships/image" Target="../media/image28.png"/><Relationship Id="rId10" Type="http://schemas.microsoft.com/office/2007/relationships/hdphoto" Target="../media/hdphoto10.wdp"/><Relationship Id="rId4" Type="http://schemas.openxmlformats.org/officeDocument/2006/relationships/image" Target="../media/image27.png"/><Relationship Id="rId9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image" Target="../media/image53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29.xml"/><Relationship Id="rId1" Type="http://schemas.openxmlformats.org/officeDocument/2006/relationships/tags" Target="../tags/tag328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6.png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6" Type="http://schemas.openxmlformats.org/officeDocument/2006/relationships/image" Target="../media/image5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26" Type="http://schemas.openxmlformats.org/officeDocument/2006/relationships/tags" Target="../tags/tag363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58.xml"/><Relationship Id="rId42" Type="http://schemas.openxmlformats.org/officeDocument/2006/relationships/tags" Target="../tags/tag379.xml"/><Relationship Id="rId47" Type="http://schemas.openxmlformats.org/officeDocument/2006/relationships/tags" Target="../tags/tag384.xml"/><Relationship Id="rId63" Type="http://schemas.openxmlformats.org/officeDocument/2006/relationships/tags" Target="../tags/tag400.xml"/><Relationship Id="rId68" Type="http://schemas.openxmlformats.org/officeDocument/2006/relationships/tags" Target="../tags/tag405.xml"/><Relationship Id="rId84" Type="http://schemas.openxmlformats.org/officeDocument/2006/relationships/tags" Target="../tags/tag421.xml"/><Relationship Id="rId89" Type="http://schemas.openxmlformats.org/officeDocument/2006/relationships/tags" Target="../tags/tag426.xml"/><Relationship Id="rId112" Type="http://schemas.openxmlformats.org/officeDocument/2006/relationships/tags" Target="../tags/tag449.xml"/><Relationship Id="rId16" Type="http://schemas.openxmlformats.org/officeDocument/2006/relationships/tags" Target="../tags/tag353.xml"/><Relationship Id="rId107" Type="http://schemas.openxmlformats.org/officeDocument/2006/relationships/tags" Target="../tags/tag444.xml"/><Relationship Id="rId11" Type="http://schemas.openxmlformats.org/officeDocument/2006/relationships/tags" Target="../tags/tag348.xml"/><Relationship Id="rId32" Type="http://schemas.openxmlformats.org/officeDocument/2006/relationships/tags" Target="../tags/tag369.xml"/><Relationship Id="rId37" Type="http://schemas.openxmlformats.org/officeDocument/2006/relationships/tags" Target="../tags/tag374.xml"/><Relationship Id="rId53" Type="http://schemas.openxmlformats.org/officeDocument/2006/relationships/tags" Target="../tags/tag390.xml"/><Relationship Id="rId58" Type="http://schemas.openxmlformats.org/officeDocument/2006/relationships/tags" Target="../tags/tag395.xml"/><Relationship Id="rId74" Type="http://schemas.openxmlformats.org/officeDocument/2006/relationships/tags" Target="../tags/tag411.xml"/><Relationship Id="rId79" Type="http://schemas.openxmlformats.org/officeDocument/2006/relationships/tags" Target="../tags/tag416.xml"/><Relationship Id="rId102" Type="http://schemas.openxmlformats.org/officeDocument/2006/relationships/tags" Target="../tags/tag439.xml"/><Relationship Id="rId5" Type="http://schemas.openxmlformats.org/officeDocument/2006/relationships/tags" Target="../tags/tag342.xml"/><Relationship Id="rId90" Type="http://schemas.openxmlformats.org/officeDocument/2006/relationships/tags" Target="../tags/tag427.xml"/><Relationship Id="rId95" Type="http://schemas.openxmlformats.org/officeDocument/2006/relationships/tags" Target="../tags/tag432.xml"/><Relationship Id="rId22" Type="http://schemas.openxmlformats.org/officeDocument/2006/relationships/tags" Target="../tags/tag359.xml"/><Relationship Id="rId27" Type="http://schemas.openxmlformats.org/officeDocument/2006/relationships/tags" Target="../tags/tag364.xml"/><Relationship Id="rId43" Type="http://schemas.openxmlformats.org/officeDocument/2006/relationships/tags" Target="../tags/tag380.xml"/><Relationship Id="rId48" Type="http://schemas.openxmlformats.org/officeDocument/2006/relationships/tags" Target="../tags/tag385.xml"/><Relationship Id="rId64" Type="http://schemas.openxmlformats.org/officeDocument/2006/relationships/tags" Target="../tags/tag401.xml"/><Relationship Id="rId69" Type="http://schemas.openxmlformats.org/officeDocument/2006/relationships/tags" Target="../tags/tag406.xml"/><Relationship Id="rId113" Type="http://schemas.openxmlformats.org/officeDocument/2006/relationships/tags" Target="../tags/tag450.xml"/><Relationship Id="rId118" Type="http://schemas.openxmlformats.org/officeDocument/2006/relationships/image" Target="../media/image5.jpeg"/><Relationship Id="rId80" Type="http://schemas.openxmlformats.org/officeDocument/2006/relationships/tags" Target="../tags/tag417.xml"/><Relationship Id="rId85" Type="http://schemas.openxmlformats.org/officeDocument/2006/relationships/tags" Target="../tags/tag422.xml"/><Relationship Id="rId12" Type="http://schemas.openxmlformats.org/officeDocument/2006/relationships/tags" Target="../tags/tag349.xml"/><Relationship Id="rId17" Type="http://schemas.openxmlformats.org/officeDocument/2006/relationships/tags" Target="../tags/tag354.xml"/><Relationship Id="rId33" Type="http://schemas.openxmlformats.org/officeDocument/2006/relationships/tags" Target="../tags/tag370.xml"/><Relationship Id="rId38" Type="http://schemas.openxmlformats.org/officeDocument/2006/relationships/tags" Target="../tags/tag375.xml"/><Relationship Id="rId59" Type="http://schemas.openxmlformats.org/officeDocument/2006/relationships/tags" Target="../tags/tag396.xml"/><Relationship Id="rId103" Type="http://schemas.openxmlformats.org/officeDocument/2006/relationships/tags" Target="../tags/tag440.xml"/><Relationship Id="rId108" Type="http://schemas.openxmlformats.org/officeDocument/2006/relationships/tags" Target="../tags/tag445.xml"/><Relationship Id="rId54" Type="http://schemas.openxmlformats.org/officeDocument/2006/relationships/tags" Target="../tags/tag391.xml"/><Relationship Id="rId70" Type="http://schemas.openxmlformats.org/officeDocument/2006/relationships/tags" Target="../tags/tag407.xml"/><Relationship Id="rId75" Type="http://schemas.openxmlformats.org/officeDocument/2006/relationships/tags" Target="../tags/tag412.xml"/><Relationship Id="rId91" Type="http://schemas.openxmlformats.org/officeDocument/2006/relationships/tags" Target="../tags/tag428.xml"/><Relationship Id="rId96" Type="http://schemas.openxmlformats.org/officeDocument/2006/relationships/tags" Target="../tags/tag433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23" Type="http://schemas.openxmlformats.org/officeDocument/2006/relationships/tags" Target="../tags/tag360.xml"/><Relationship Id="rId28" Type="http://schemas.openxmlformats.org/officeDocument/2006/relationships/tags" Target="../tags/tag365.xml"/><Relationship Id="rId49" Type="http://schemas.openxmlformats.org/officeDocument/2006/relationships/tags" Target="../tags/tag386.xml"/><Relationship Id="rId114" Type="http://schemas.openxmlformats.org/officeDocument/2006/relationships/tags" Target="../tags/tag451.xml"/><Relationship Id="rId119" Type="http://schemas.openxmlformats.org/officeDocument/2006/relationships/image" Target="../media/image6.png"/><Relationship Id="rId10" Type="http://schemas.openxmlformats.org/officeDocument/2006/relationships/tags" Target="../tags/tag347.xml"/><Relationship Id="rId31" Type="http://schemas.openxmlformats.org/officeDocument/2006/relationships/tags" Target="../tags/tag368.xml"/><Relationship Id="rId44" Type="http://schemas.openxmlformats.org/officeDocument/2006/relationships/tags" Target="../tags/tag381.xml"/><Relationship Id="rId52" Type="http://schemas.openxmlformats.org/officeDocument/2006/relationships/tags" Target="../tags/tag389.xml"/><Relationship Id="rId60" Type="http://schemas.openxmlformats.org/officeDocument/2006/relationships/tags" Target="../tags/tag397.xml"/><Relationship Id="rId65" Type="http://schemas.openxmlformats.org/officeDocument/2006/relationships/tags" Target="../tags/tag402.xml"/><Relationship Id="rId73" Type="http://schemas.openxmlformats.org/officeDocument/2006/relationships/tags" Target="../tags/tag410.xml"/><Relationship Id="rId78" Type="http://schemas.openxmlformats.org/officeDocument/2006/relationships/tags" Target="../tags/tag415.xml"/><Relationship Id="rId81" Type="http://schemas.openxmlformats.org/officeDocument/2006/relationships/tags" Target="../tags/tag418.xml"/><Relationship Id="rId86" Type="http://schemas.openxmlformats.org/officeDocument/2006/relationships/tags" Target="../tags/tag423.xml"/><Relationship Id="rId94" Type="http://schemas.openxmlformats.org/officeDocument/2006/relationships/tags" Target="../tags/tag431.xml"/><Relationship Id="rId99" Type="http://schemas.openxmlformats.org/officeDocument/2006/relationships/tags" Target="../tags/tag436.xml"/><Relationship Id="rId101" Type="http://schemas.openxmlformats.org/officeDocument/2006/relationships/tags" Target="../tags/tag438.xml"/><Relationship Id="rId4" Type="http://schemas.openxmlformats.org/officeDocument/2006/relationships/tags" Target="../tags/tag341.xml"/><Relationship Id="rId9" Type="http://schemas.openxmlformats.org/officeDocument/2006/relationships/tags" Target="../tags/tag346.xml"/><Relationship Id="rId13" Type="http://schemas.openxmlformats.org/officeDocument/2006/relationships/tags" Target="../tags/tag350.xml"/><Relationship Id="rId18" Type="http://schemas.openxmlformats.org/officeDocument/2006/relationships/tags" Target="../tags/tag355.xml"/><Relationship Id="rId39" Type="http://schemas.openxmlformats.org/officeDocument/2006/relationships/tags" Target="../tags/tag376.xml"/><Relationship Id="rId109" Type="http://schemas.openxmlformats.org/officeDocument/2006/relationships/tags" Target="../tags/tag446.xml"/><Relationship Id="rId34" Type="http://schemas.openxmlformats.org/officeDocument/2006/relationships/tags" Target="../tags/tag371.xml"/><Relationship Id="rId50" Type="http://schemas.openxmlformats.org/officeDocument/2006/relationships/tags" Target="../tags/tag387.xml"/><Relationship Id="rId55" Type="http://schemas.openxmlformats.org/officeDocument/2006/relationships/tags" Target="../tags/tag392.xml"/><Relationship Id="rId76" Type="http://schemas.openxmlformats.org/officeDocument/2006/relationships/tags" Target="../tags/tag413.xml"/><Relationship Id="rId97" Type="http://schemas.openxmlformats.org/officeDocument/2006/relationships/tags" Target="../tags/tag434.xml"/><Relationship Id="rId104" Type="http://schemas.openxmlformats.org/officeDocument/2006/relationships/tags" Target="../tags/tag441.xml"/><Relationship Id="rId7" Type="http://schemas.openxmlformats.org/officeDocument/2006/relationships/tags" Target="../tags/tag344.xml"/><Relationship Id="rId71" Type="http://schemas.openxmlformats.org/officeDocument/2006/relationships/tags" Target="../tags/tag408.xml"/><Relationship Id="rId92" Type="http://schemas.openxmlformats.org/officeDocument/2006/relationships/tags" Target="../tags/tag429.xml"/><Relationship Id="rId2" Type="http://schemas.openxmlformats.org/officeDocument/2006/relationships/tags" Target="../tags/tag339.xml"/><Relationship Id="rId29" Type="http://schemas.openxmlformats.org/officeDocument/2006/relationships/tags" Target="../tags/tag366.xml"/><Relationship Id="rId24" Type="http://schemas.openxmlformats.org/officeDocument/2006/relationships/tags" Target="../tags/tag361.xml"/><Relationship Id="rId40" Type="http://schemas.openxmlformats.org/officeDocument/2006/relationships/tags" Target="../tags/tag377.xml"/><Relationship Id="rId45" Type="http://schemas.openxmlformats.org/officeDocument/2006/relationships/tags" Target="../tags/tag382.xml"/><Relationship Id="rId66" Type="http://schemas.openxmlformats.org/officeDocument/2006/relationships/tags" Target="../tags/tag403.xml"/><Relationship Id="rId87" Type="http://schemas.openxmlformats.org/officeDocument/2006/relationships/tags" Target="../tags/tag424.xml"/><Relationship Id="rId110" Type="http://schemas.openxmlformats.org/officeDocument/2006/relationships/tags" Target="../tags/tag447.xml"/><Relationship Id="rId115" Type="http://schemas.openxmlformats.org/officeDocument/2006/relationships/tags" Target="../tags/tag452.xml"/><Relationship Id="rId61" Type="http://schemas.openxmlformats.org/officeDocument/2006/relationships/tags" Target="../tags/tag398.xml"/><Relationship Id="rId82" Type="http://schemas.openxmlformats.org/officeDocument/2006/relationships/tags" Target="../tags/tag419.xml"/><Relationship Id="rId19" Type="http://schemas.openxmlformats.org/officeDocument/2006/relationships/tags" Target="../tags/tag356.xml"/><Relationship Id="rId14" Type="http://schemas.openxmlformats.org/officeDocument/2006/relationships/tags" Target="../tags/tag351.xml"/><Relationship Id="rId30" Type="http://schemas.openxmlformats.org/officeDocument/2006/relationships/tags" Target="../tags/tag367.xml"/><Relationship Id="rId35" Type="http://schemas.openxmlformats.org/officeDocument/2006/relationships/tags" Target="../tags/tag372.xml"/><Relationship Id="rId56" Type="http://schemas.openxmlformats.org/officeDocument/2006/relationships/tags" Target="../tags/tag393.xml"/><Relationship Id="rId77" Type="http://schemas.openxmlformats.org/officeDocument/2006/relationships/tags" Target="../tags/tag414.xml"/><Relationship Id="rId100" Type="http://schemas.openxmlformats.org/officeDocument/2006/relationships/tags" Target="../tags/tag437.xml"/><Relationship Id="rId105" Type="http://schemas.openxmlformats.org/officeDocument/2006/relationships/tags" Target="../tags/tag442.xml"/><Relationship Id="rId8" Type="http://schemas.openxmlformats.org/officeDocument/2006/relationships/tags" Target="../tags/tag345.xml"/><Relationship Id="rId51" Type="http://schemas.openxmlformats.org/officeDocument/2006/relationships/tags" Target="../tags/tag388.xml"/><Relationship Id="rId72" Type="http://schemas.openxmlformats.org/officeDocument/2006/relationships/tags" Target="../tags/tag409.xml"/><Relationship Id="rId93" Type="http://schemas.openxmlformats.org/officeDocument/2006/relationships/tags" Target="../tags/tag430.xml"/><Relationship Id="rId98" Type="http://schemas.openxmlformats.org/officeDocument/2006/relationships/tags" Target="../tags/tag435.xml"/><Relationship Id="rId3" Type="http://schemas.openxmlformats.org/officeDocument/2006/relationships/tags" Target="../tags/tag340.xml"/><Relationship Id="rId25" Type="http://schemas.openxmlformats.org/officeDocument/2006/relationships/tags" Target="../tags/tag362.xml"/><Relationship Id="rId46" Type="http://schemas.openxmlformats.org/officeDocument/2006/relationships/tags" Target="../tags/tag383.xml"/><Relationship Id="rId67" Type="http://schemas.openxmlformats.org/officeDocument/2006/relationships/tags" Target="../tags/tag404.xml"/><Relationship Id="rId116" Type="http://schemas.openxmlformats.org/officeDocument/2006/relationships/tags" Target="../tags/tag453.xml"/><Relationship Id="rId20" Type="http://schemas.openxmlformats.org/officeDocument/2006/relationships/tags" Target="../tags/tag357.xml"/><Relationship Id="rId41" Type="http://schemas.openxmlformats.org/officeDocument/2006/relationships/tags" Target="../tags/tag378.xml"/><Relationship Id="rId62" Type="http://schemas.openxmlformats.org/officeDocument/2006/relationships/tags" Target="../tags/tag399.xml"/><Relationship Id="rId83" Type="http://schemas.openxmlformats.org/officeDocument/2006/relationships/tags" Target="../tags/tag420.xml"/><Relationship Id="rId88" Type="http://schemas.openxmlformats.org/officeDocument/2006/relationships/tags" Target="../tags/tag425.xml"/><Relationship Id="rId111" Type="http://schemas.openxmlformats.org/officeDocument/2006/relationships/tags" Target="../tags/tag448.xml"/><Relationship Id="rId15" Type="http://schemas.openxmlformats.org/officeDocument/2006/relationships/tags" Target="../tags/tag352.xml"/><Relationship Id="rId36" Type="http://schemas.openxmlformats.org/officeDocument/2006/relationships/tags" Target="../tags/tag373.xml"/><Relationship Id="rId57" Type="http://schemas.openxmlformats.org/officeDocument/2006/relationships/tags" Target="../tags/tag394.xml"/><Relationship Id="rId106" Type="http://schemas.openxmlformats.org/officeDocument/2006/relationships/tags" Target="../tags/tag44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64.png"/><Relationship Id="rId5" Type="http://schemas.openxmlformats.org/officeDocument/2006/relationships/image" Target="../media/image3.png"/><Relationship Id="rId4" Type="http://schemas.openxmlformats.org/officeDocument/2006/relationships/image" Target="../media/image6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.png"/><Relationship Id="rId4" Type="http://schemas.openxmlformats.org/officeDocument/2006/relationships/image" Target="../media/image4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4336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9834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77355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主题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149600" y="1773555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父母与子女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关系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76317" y="2483486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712710" y="2235835"/>
            <a:ext cx="40126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）辨析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悄悄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偷偷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的异同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167380" y="2235835"/>
            <a:ext cx="42434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以来、临、立刻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的意义和用法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167380" y="2665095"/>
            <a:ext cx="68723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断 晒 强烈 长途 一辈子 坚决 不得了 套 阵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等词语的搭配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167380" y="3251200"/>
            <a:ext cx="90909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农村、屋子、姥姥、舅舅、姑姑、打工、挣、装修、醉、锁、想象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等本课其他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167201" y="4059246"/>
            <a:ext cx="39164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）理解本课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6125" y="499046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167380" y="5040630"/>
            <a:ext cx="81676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）本文讲述了作者与父母的情感故事。要求学生阅读、理解课文，掌握文章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大意，并能运用所学词语、语言点叙述他们的故事。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167201" y="5686442"/>
            <a:ext cx="79367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）对论父母对子女的爱或子女对父母的爱是什么样的，并完成命题写作。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9834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7380" y="3660140"/>
            <a:ext cx="90125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重点五级大纲词语的意义和用法。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58946" y="4460566"/>
            <a:ext cx="88985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）了解并掌握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扩展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板块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7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亲属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类词语和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个“交往”类词语的意义和用法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5747" y="3516540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3975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2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第二课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2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3072"/>
                <a:chOff x="3051" y="4499"/>
                <a:chExt cx="18916" cy="3072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5371" y="6613"/>
                  <a:ext cx="15688" cy="958"/>
                  <a:chOff x="7505" y="6613"/>
                  <a:chExt cx="15688" cy="958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7505" y="6613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2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1202" y="6667"/>
                    <a:ext cx="11991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Leaving a Bunch of Keys to Our Parents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2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留串钥匙给父母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说出第一课中有关人体的词语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82613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眉毛、脸、肩膀、腰、腿、脑袋、头发、脖子、胳膊、脚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</a:p>
        </p:txBody>
      </p:sp>
      <p:pic>
        <p:nvPicPr>
          <p:cNvPr id="7" name="图片 6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940" y="1798955"/>
            <a:ext cx="2015490" cy="30238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953453" y="416935"/>
            <a:ext cx="10285095" cy="3127375"/>
            <a:chOff x="-3513638" y="334832"/>
            <a:chExt cx="10285095" cy="3127375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239966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电台正在举行活动，要选出一对最恩爱的夫妻。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丈夫没有跟她离婚，而是一直鼓励她，爱护她，照顾她，从不抱怨。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婚姻生活中，他们从来没为任何事红过脸、吵过架。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轮到第三对夫妻叙述时，评委们发现：男人的头靠在女人的肩膀上，睡着了。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妻子为了不影响丈夫睡觉，居然放弃了参加评选的机会！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4" name="图片 3" descr="电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8515" y="3618865"/>
            <a:ext cx="4288790" cy="32169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50667" y="2221903"/>
            <a:ext cx="3090666" cy="2374771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你了解汉语中表示亲戚关系的词语吗？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08928" y="5643593"/>
            <a:ext cx="11615895" cy="1022447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08928" y="5671939"/>
            <a:ext cx="11657646" cy="1002364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237490" y="5635330"/>
            <a:ext cx="1054281" cy="1038973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1654011" y="5739317"/>
            <a:ext cx="9766570" cy="830997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外公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姥爷、外婆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姥姥、叔叔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伯伯、婶婶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伯母、姑姑、姑父、</a:t>
            </a:r>
            <a:endParaRPr lang="en-US" alt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舅舅、舅妈、姨妈、姨夫、表妹、姐姐、表姐、表弟</a:t>
            </a:r>
            <a:endParaRPr 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86081 -0.000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34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3250" y="3423285"/>
            <a:ext cx="2311400" cy="187896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7985" y="3423285"/>
            <a:ext cx="2311400" cy="187896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7790" y="3061335"/>
            <a:ext cx="3208020" cy="260286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6190" y="3061335"/>
            <a:ext cx="3208020" cy="260286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9755" y="2280920"/>
            <a:ext cx="5952490" cy="4163695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chuàn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串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1980" y="3472815"/>
            <a:ext cx="2313940" cy="188150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6715" y="3472815"/>
            <a:ext cx="2313940" cy="188150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4615" y="3108960"/>
            <a:ext cx="3214370" cy="260794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3015" y="3108960"/>
            <a:ext cx="3214370" cy="260794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4040" y="2327910"/>
            <a:ext cx="5963920" cy="417195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lǎolao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姥姥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55785" y="3411855"/>
            <a:ext cx="2386330" cy="193992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50520" y="3411855"/>
            <a:ext cx="2386330" cy="193992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15085" y="3037205"/>
            <a:ext cx="3313430" cy="2688590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3485" y="3037205"/>
            <a:ext cx="3313430" cy="2688590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22600" y="2231390"/>
            <a:ext cx="6146800" cy="430022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jiùjiu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舅舅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74835" y="3320415"/>
            <a:ext cx="2348230" cy="1908810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69570" y="3320415"/>
            <a:ext cx="2348230" cy="190881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3025" y="2952750"/>
            <a:ext cx="3257550" cy="264350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91425" y="2952750"/>
            <a:ext cx="3257550" cy="264350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72765" y="2159635"/>
            <a:ext cx="6046470" cy="4229735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gūgu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姑姑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38640" y="3233420"/>
            <a:ext cx="2420620" cy="1967230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33375" y="3233420"/>
            <a:ext cx="2420620" cy="196723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90955" y="2853055"/>
            <a:ext cx="3361690" cy="272732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39355" y="2853055"/>
            <a:ext cx="3361690" cy="272732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2977515" y="2035175"/>
            <a:ext cx="6236970" cy="436372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nóngcūn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农村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/>
              <p14:cNvContentPartPr/>
              <p14:nvPr/>
            </p14:nvContentPartPr>
            <p14:xfrm>
              <a:off x="9476280" y="6026040"/>
              <a:ext cx="22320" cy="70200"/>
            </p14:xfrm>
          </p:contentPart>
        </mc:Choice>
        <mc:Fallback xmlns="">
          <p:pic>
            <p:nvPicPr>
              <p:cNvPr id="9" name="Ink 8"/>
            </p:nvPicPr>
            <p:blipFill>
              <a:blip r:embed="rId9"/>
            </p:blipFill>
            <p:spPr>
              <a:xfrm>
                <a:off x="9476280" y="6026040"/>
                <a:ext cx="22320" cy="7020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60094">
        <p159:morph option="byObject"/>
      </p:transition>
    </mc:Choice>
    <mc:Fallback xmlns="">
      <p:transition spd="med" advTm="36009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0360" y="2036716"/>
            <a:ext cx="3020060" cy="222386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3" y="4542155"/>
            <a:ext cx="415539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wū</a:t>
            </a:r>
            <a:r>
              <a:rPr lang="en-US" sz="6600" b="1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(zi)</a:t>
            </a: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屋（子）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0325" y="1233714"/>
            <a:ext cx="3414417" cy="269739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61944" y="4231640"/>
            <a:ext cx="3743302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yíbèizi</a:t>
            </a:r>
            <a:endParaRPr lang="en-US" sz="6600" b="1" dirty="0"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一辈子</a:t>
            </a:r>
            <a:endParaRPr lang="zh-CN" sz="6600" b="1" noProof="0" dirty="0">
              <a:ln>
                <a:noFill/>
              </a:ln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串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m.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bunch,string</a:t>
              </a:r>
              <a:endParaRPr lang="en-US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chuàn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舅舅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uncle, mother’s brother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latin typeface="华文细黑" panose="02010600040101010101" pitchFamily="2" charset="-122"/>
                <a:ea typeface="华文细黑" panose="02010600040101010101" pitchFamily="2" charset="-122"/>
                <a:sym typeface="宋体" pitchFamily="2" charset="-122"/>
              </a:rPr>
              <a:t>jiùjiu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  <a:p>
            <a:pPr algn="ctr" eaLnBrk="1"/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257550"/>
            <a:chOff x="9330" y="2028"/>
            <a:chExt cx="3479" cy="51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姥姥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maternal grandma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0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lǎolao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姑姑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aunt, father’s sister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gūgu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782060"/>
            <a:chOff x="4717" y="1909"/>
            <a:chExt cx="3511" cy="5956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37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农村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countryside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nóngcūn</a:t>
            </a:r>
          </a:p>
          <a:p>
            <a:pPr algn="ctr" eaLnBrk="1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屋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(</a:t>
              </a: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子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house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wū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(zi)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997325"/>
            <a:chOff x="4717" y="1909"/>
            <a:chExt cx="3511" cy="6295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4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一辈子</a:t>
              </a: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all one’s life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yíbèizi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3335" y="0"/>
            <a:ext cx="122053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恩爱0马赛克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3335" y="0"/>
            <a:ext cx="32772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-13648" y="1555845"/>
            <a:ext cx="3248166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请用前面学过的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个词编一个故事</a:t>
            </a: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（开头已给出）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恩爱0马赛克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8590" y="0"/>
            <a:ext cx="329400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13335" y="1555750"/>
            <a:ext cx="77825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虽然离开老家很多年了，但我还留着一</a:t>
            </a:r>
            <a:r>
              <a:rPr lang="zh-CN" altLang="en-US" sz="40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串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老家的钥匙，那里有我的亲人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……</a:t>
            </a:r>
          </a:p>
          <a:p>
            <a:pPr algn="l" eaLnBrk="1">
              <a:lnSpc>
                <a:spcPct val="100000"/>
              </a:lnSpc>
              <a:buClrTx/>
              <a:buSzTx/>
              <a:buNone/>
            </a:pPr>
            <a:endParaRPr lang="zh-CN" altLang="en-US" sz="4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791450" y="1207770"/>
            <a:ext cx="3248025" cy="4763770"/>
            <a:chOff x="12270" y="1902"/>
            <a:chExt cx="5115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串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姥姥</a:t>
              </a:r>
              <a:endParaRPr lang="en-US" altLang="zh-CN" sz="40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舅舅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姑姑</a:t>
              </a:r>
              <a:endParaRPr lang="en-US" altLang="zh-CN" sz="40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农村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屋</a:t>
              </a:r>
              <a:r>
                <a:rPr lang="en-US" altLang="zh-CN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(</a:t>
              </a:r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子</a:t>
              </a:r>
              <a:r>
                <a:rPr lang="en-US" altLang="zh-CN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)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一辈子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57912" y="3171026"/>
            <a:ext cx="1801543" cy="2308443"/>
            <a:chOff x="8738" y="3122"/>
            <a:chExt cx="3652" cy="221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8" y="3122"/>
              <a:ext cx="3652" cy="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以来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名词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从过去某时到现在的一段时间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Danh từ: ... Trở lại đây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改革开放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以来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，中国发生了巨大的变化。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3565207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因此长年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以来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，父母很少离开老屋，</a:t>
              </a: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……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8930" y="5018405"/>
            <a:ext cx="8958999" cy="1005024"/>
            <a:chOff x="518" y="3426"/>
            <a:chExt cx="13447" cy="1305"/>
          </a:xfrm>
        </p:grpSpPr>
        <p:sp>
          <p:nvSpPr>
            <p:cNvPr id="6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7"/>
            <p:cNvSpPr txBox="1"/>
            <p:nvPr/>
          </p:nvSpPr>
          <p:spPr>
            <a:xfrm>
              <a:off x="518" y="3690"/>
              <a:ext cx="13446" cy="7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一直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以来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，“</a:t>
              </a:r>
              <a:r>
                <a:rPr lang="en-US" altLang="zh-CN" sz="32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80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后”这个词儿都含有年轻的味道。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04" b="97748" l="4375" r="96250">
                        <a14:foregroundMark x1="36250" y1="9910" x2="33750" y2="26126"/>
                        <a14:foregroundMark x1="33750" y1="26126" x2="35625" y2="8108"/>
                        <a14:foregroundMark x1="35625" y1="8108" x2="28750" y2="11712"/>
                        <a14:foregroundMark x1="49375" y1="6757" x2="30000" y2="4955"/>
                        <a14:foregroundMark x1="30000" y1="4955" x2="18125" y2="15766"/>
                        <a14:foregroundMark x1="18125" y1="15766" x2="34375" y2="30631"/>
                        <a14:foregroundMark x1="50625" y1="11261" x2="67500" y2="3604"/>
                        <a14:foregroundMark x1="67500" y1="3604" x2="85000" y2="13514"/>
                        <a14:foregroundMark x1="85000" y1="13514" x2="78125" y2="28829"/>
                        <a14:foregroundMark x1="78125" y1="28829" x2="58125" y2="28829"/>
                        <a14:foregroundMark x1="58125" y1="28829" x2="42500" y2="15766"/>
                        <a14:foregroundMark x1="42500" y1="15766" x2="50625" y2="12162"/>
                        <a14:foregroundMark x1="83125" y1="31982" x2="83125" y2="41892"/>
                        <a14:foregroundMark x1="13750" y1="36486" x2="4375" y2="49099"/>
                        <a14:foregroundMark x1="4375" y1="49099" x2="6875" y2="62613"/>
                        <a14:foregroundMark x1="6875" y1="62613" x2="4375" y2="90541"/>
                        <a14:foregroundMark x1="4375" y1="90541" x2="16875" y2="77027"/>
                        <a14:foregroundMark x1="16875" y1="77027" x2="15625" y2="36486"/>
                        <a14:foregroundMark x1="15625" y1="36486" x2="15000" y2="36036"/>
                        <a14:foregroundMark x1="16875" y1="81982" x2="14375" y2="95045"/>
                        <a14:foregroundMark x1="14375" y1="95045" x2="35625" y2="99550"/>
                        <a14:foregroundMark x1="35625" y1="99550" x2="54375" y2="97297"/>
                        <a14:foregroundMark x1="54375" y1="97297" x2="51875" y2="81532"/>
                        <a14:foregroundMark x1="51875" y1="81532" x2="25000" y2="75225"/>
                        <a14:foregroundMark x1="25000" y1="75225" x2="16875" y2="81982"/>
                        <a14:foregroundMark x1="67500" y1="83784" x2="58750" y2="95946"/>
                        <a14:foregroundMark x1="58750" y1="95946" x2="91875" y2="98198"/>
                        <a14:foregroundMark x1="91875" y1="98198" x2="80000" y2="82883"/>
                        <a14:foregroundMark x1="80000" y1="82883" x2="67500" y2="85135"/>
                        <a14:foregroundMark x1="62500" y1="32432" x2="61875" y2="35135"/>
                        <a14:foregroundMark x1="75625" y1="36036" x2="53125" y2="34685"/>
                        <a14:foregroundMark x1="53125" y1="34685" x2="72500" y2="43694"/>
                        <a14:foregroundMark x1="72500" y1="43694" x2="74375" y2="36486"/>
                        <a14:foregroundMark x1="88750" y1="31982" x2="96875" y2="45495"/>
                        <a14:foregroundMark x1="96875" y1="45495" x2="96250" y2="58108"/>
                        <a14:foregroundMark x1="96250" y1="58108" x2="86250" y2="47748"/>
                        <a14:foregroundMark x1="86250" y1="47748" x2="87500" y2="35135"/>
                        <a14:foregroundMark x1="87500" y1="35135" x2="88125" y2="34685"/>
                        <a14:foregroundMark x1="10625" y1="95946" x2="10000" y2="968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217" y="3322278"/>
            <a:ext cx="1053046" cy="146110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9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25" y="2316985"/>
            <a:ext cx="2810510" cy="22062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919" y="438502"/>
            <a:ext cx="1166161" cy="11029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6524" y="5148665"/>
            <a:ext cx="1286952" cy="104267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2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6" name="Picture 8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78" y="7450249"/>
            <a:ext cx="817245" cy="5795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20" name="椭圆形标注 19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4" y="3113"/>
              <a:ext cx="8640" cy="48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dǎ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gōng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打工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work for others, </a:t>
              </a: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    to do a temporary job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-1237526" y="5471245"/>
            <a:ext cx="10910087" cy="720090"/>
            <a:chOff x="-1464" y="9126"/>
            <a:chExt cx="12166" cy="1134"/>
          </a:xfrm>
        </p:grpSpPr>
        <p:sp>
          <p:nvSpPr>
            <p:cNvPr id="3" name="圆角矩形 2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-1464" y="9282"/>
              <a:ext cx="12166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现在有很多人离开农村或小城市去大城市打工。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238" y="2377440"/>
            <a:ext cx="2573904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8" y="5339724"/>
            <a:ext cx="931545" cy="6605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068" y="516697"/>
            <a:ext cx="1205865" cy="946604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75" y="-1440000"/>
            <a:ext cx="1141850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421" y="7312645"/>
            <a:ext cx="1279157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zhèng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挣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earn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857875" cy="720090"/>
            <a:chOff x="197" y="9126"/>
            <a:chExt cx="8809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33" y="9282"/>
              <a:ext cx="8773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夫妻俩在上海打工，挣了一些钱。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975" y="2565400"/>
            <a:ext cx="2409825" cy="1708784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592" y="5189305"/>
            <a:ext cx="1438815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6524" y="468665"/>
            <a:ext cx="1286952" cy="104267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060" y="-1321028"/>
            <a:ext cx="1071880" cy="84142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725" y="7365230"/>
            <a:ext cx="844550" cy="74953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78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xiàn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县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n. county</a:t>
              </a:r>
            </a:p>
            <a:p>
              <a:pPr algn="ctr" eaLnBrk="1">
                <a:lnSpc>
                  <a:spcPct val="80000"/>
                </a:lnSpc>
              </a:pP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1" y="5401945"/>
            <a:ext cx="5250180" cy="720090"/>
            <a:chOff x="196" y="9126"/>
            <a:chExt cx="1003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97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0037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这是我们县最古老的房子。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710" y="2458292"/>
            <a:ext cx="2878580" cy="19234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1" y="5248455"/>
            <a:ext cx="949960" cy="843089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968" y="625504"/>
            <a:ext cx="1028065" cy="72899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239" y="-1360693"/>
            <a:ext cx="1143522" cy="92646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53" y="7368526"/>
            <a:ext cx="785495" cy="74294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tào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套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m. set, suite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1" y="5401945"/>
            <a:ext cx="5147310" cy="720090"/>
            <a:chOff x="196" y="9126"/>
            <a:chExt cx="1209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878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2097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他们在县里买了一套房子。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454" y="2428875"/>
            <a:ext cx="2233052" cy="198183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040" y="5261504"/>
            <a:ext cx="883920" cy="83604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592" y="509305"/>
            <a:ext cx="1438815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165" y="-1224694"/>
            <a:ext cx="914400" cy="648392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408" y="7308570"/>
            <a:ext cx="1099185" cy="86286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98265"/>
            <a:chOff x="264" y="2298"/>
            <a:chExt cx="8640" cy="6139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53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zhuāngxiū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装修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decorate (a house, </a:t>
              </a: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room, etc.)</a:t>
              </a:r>
            </a:p>
            <a:p>
              <a:pPr algn="ctr" eaLnBrk="1">
                <a:lnSpc>
                  <a:spcPct val="80000"/>
                </a:lnSpc>
              </a:pP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7237095" cy="720090"/>
            <a:chOff x="196" y="9126"/>
            <a:chExt cx="1139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396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1192" cy="8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房子装修好了，过两个月就可以搬进去住了。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16" y="2317115"/>
            <a:ext cx="2332323" cy="22059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650" y="5166540"/>
            <a:ext cx="1282700" cy="1006919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0" y="568455"/>
            <a:ext cx="949960" cy="843089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421" y="-1327355"/>
            <a:ext cx="1279157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254" y="7213585"/>
            <a:ext cx="1299492" cy="105283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bùdéliǎo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不得了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adj. extremely, exceedingly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6934835" cy="720090"/>
            <a:chOff x="196" y="9126"/>
            <a:chExt cx="10921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0919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0921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哥哥买了一套新房子，父母高兴得不得了。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2"/>
            <a:ext cx="2837180" cy="1206387"/>
            <a:chOff x="7787" y="3144"/>
            <a:chExt cx="5660" cy="134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悄悄</a:t>
              </a:r>
              <a:r>
                <a:rPr lang="vi-VN" altLang="zh-CN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vi-VN" altLang="zh-CN" sz="2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âm thầm, lặng lẽ</a:t>
              </a:r>
              <a:endParaRPr lang="zh-CN" altLang="zh-CN" sz="24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696085"/>
            <a:ext cx="8561705" cy="828675"/>
            <a:chOff x="518" y="3426"/>
            <a:chExt cx="13483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55" y="3634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悄悄</a:t>
              </a:r>
              <a:r>
                <a:rPr lang="en-US" altLang="zh-CN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3600" b="1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偷偷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地走了出去。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92315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他谁也没告诉，</a:t>
              </a:r>
              <a:r>
                <a:rPr lang="zh-CN" altLang="en-US" sz="3600" b="1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偷偷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去旅行了。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1206388"/>
            <a:chOff x="7787" y="3144"/>
            <a:chExt cx="5660" cy="1342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chemeClr val="accent1">
                      <a:lumMod val="7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偷偷</a:t>
              </a:r>
              <a:r>
                <a:rPr lang="vi-VN" altLang="zh-CN" sz="4400" b="1" kern="100" dirty="0">
                  <a:solidFill>
                    <a:schemeClr val="accent1">
                      <a:lumMod val="7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vi-VN" altLang="zh-CN" sz="2400" b="1" kern="100" dirty="0">
                  <a:solidFill>
                    <a:schemeClr val="accent1">
                      <a:lumMod val="7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lén lút, vụng trộm</a:t>
              </a:r>
              <a:endParaRPr lang="zh-CN" altLang="en-US" sz="2400" b="1" kern="100" dirty="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8295" y="3309620"/>
            <a:ext cx="8538845" cy="828675"/>
            <a:chOff x="518" y="3426"/>
            <a:chExt cx="13447" cy="1305"/>
          </a:xfrm>
        </p:grpSpPr>
        <p:sp>
          <p:nvSpPr>
            <p:cNvPr id="6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父亲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悄悄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把我拉到一边说话。</a:t>
              </a: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95" b="91758" l="7955" r="89773">
                        <a14:foregroundMark x1="40341" y1="19780" x2="25000" y2="5495"/>
                        <a14:foregroundMark x1="25000" y1="5495" x2="36932" y2="21978"/>
                        <a14:foregroundMark x1="36932" y1="21978" x2="39773" y2="21978"/>
                        <a14:foregroundMark x1="12500" y1="28571" x2="11364" y2="29670"/>
                        <a14:foregroundMark x1="7955" y1="31868" x2="14773" y2="33516"/>
                        <a14:foregroundMark x1="10227" y1="30220" x2="12500" y2="33516"/>
                        <a14:foregroundMark x1="35795" y1="84066" x2="35795" y2="84066"/>
                        <a14:foregroundMark x1="39205" y1="81868" x2="22727" y2="90110"/>
                        <a14:foregroundMark x1="22727" y1="90110" x2="41477" y2="85714"/>
                        <a14:foregroundMark x1="41477" y1="85714" x2="36932" y2="84066"/>
                        <a14:foregroundMark x1="82955" y1="62637" x2="84091" y2="65934"/>
                        <a14:foregroundMark x1="61364" y1="39011" x2="71023" y2="65385"/>
                        <a14:foregroundMark x1="71023" y1="65385" x2="89773" y2="56593"/>
                        <a14:foregroundMark x1="89773" y1="56593" x2="71023" y2="40110"/>
                        <a14:foregroundMark x1="71023" y1="40110" x2="63068" y2="39560"/>
                        <a14:foregroundMark x1="10227" y1="32418" x2="11364" y2="32418"/>
                        <a14:foregroundMark x1="14773" y1="32967" x2="11932" y2="34615"/>
                        <a14:foregroundMark x1="24432" y1="91758" x2="37500" y2="85165"/>
                        <a14:foregroundMark x1="87500" y1="62088" x2="86932" y2="62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81" y="1566445"/>
            <a:ext cx="977507" cy="101083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283" y="2631206"/>
            <a:ext cx="1416873" cy="165490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732" b="96392" l="9804" r="88889">
                        <a14:foregroundMark x1="52288" y1="12887" x2="76471" y2="13402"/>
                        <a14:foregroundMark x1="76471" y1="13402" x2="53595" y2="7732"/>
                        <a14:foregroundMark x1="53595" y1="7732" x2="53595" y2="18041"/>
                        <a14:foregroundMark x1="57516" y1="11340" x2="60131" y2="13918"/>
                        <a14:foregroundMark x1="29412" y1="74227" x2="29412" y2="75609"/>
                        <a14:foregroundMark x1="27423" y1="76717" x2="15686" y2="83505"/>
                        <a14:foregroundMark x1="35294" y1="72165" x2="29352" y2="75602"/>
                        <a14:foregroundMark x1="28309" y1="75465" x2="32680" y2="72680"/>
                        <a14:foregroundMark x1="15686" y1="83505" x2="27080" y2="76247"/>
                        <a14:foregroundMark x1="42484" y1="85567" x2="40523" y2="86598"/>
                        <a14:foregroundMark x1="37982" y1="84345" x2="37255" y2="84536"/>
                        <a14:foregroundMark x1="42600" y1="82656" x2="42484" y2="82474"/>
                        <a14:foregroundMark x1="43791" y1="84536" x2="43253" y2="83687"/>
                        <a14:foregroundMark x1="43791" y1="88144" x2="40727" y2="90077"/>
                        <a14:foregroundMark x1="59623" y1="92851" x2="59477" y2="93299"/>
                        <a14:foregroundMark x1="61947" y1="85724" x2="61662" y2="86598"/>
                        <a14:foregroundMark x1="63505" y1="80946" x2="62691" y2="83444"/>
                        <a14:foregroundMark x1="73832" y1="95135" x2="83660" y2="96392"/>
                        <a14:foregroundMark x1="59477" y1="93299" x2="61012" y2="93495"/>
                        <a14:foregroundMark x1="83660" y1="96392" x2="81699" y2="73196"/>
                        <a14:foregroundMark x1="81699" y1="73196" x2="77046" y2="73720"/>
                        <a14:backgroundMark x1="56863" y1="93299" x2="56863" y2="93299"/>
                        <a14:backgroundMark x1="59477" y1="88144" x2="59477" y2="88144"/>
                        <a14:backgroundMark x1="61438" y1="77835" x2="61438" y2="77835"/>
                        <a14:backgroundMark x1="61438" y1="77835" x2="60131" y2="79381"/>
                        <a14:backgroundMark x1="62092" y1="86082" x2="62092" y2="81959"/>
                        <a14:backgroundMark x1="62092" y1="89691" x2="59477" y2="92784"/>
                        <a14:backgroundMark x1="60784" y1="86598" x2="60784" y2="89691"/>
                        <a14:backgroundMark x1="60131" y1="75773" x2="62745" y2="80928"/>
                        <a14:backgroundMark x1="38562" y1="87113" x2="34641" y2="86598"/>
                        <a14:backgroundMark x1="34641" y1="85567" x2="35294" y2="865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5062539"/>
            <a:ext cx="867633" cy="110013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1698"/>
            <a:ext cx="9717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71950" y="702038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悄悄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76720" y="702038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偷偷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713681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晚饭前姑姑就一个人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___________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地走了。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5893155" y="2477338"/>
            <a:ext cx="359156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悄悄</a:t>
            </a:r>
            <a:r>
              <a:rPr lang="en-US" altLang="zh-CN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/</a:t>
            </a:r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偷偷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49885" y="3886109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考试已经开始了，他才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走进来。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314076" y="4649766"/>
            <a:ext cx="339244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悄悄</a:t>
            </a:r>
            <a:r>
              <a:rPr lang="en-US" altLang="zh-CN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/</a:t>
            </a:r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偷偷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1698"/>
            <a:ext cx="9717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71950" y="702038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悄悄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76720" y="702038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偷偷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713681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孩子睡着了，爸爸在妈妈耳边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说了几句话。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6370138" y="2477338"/>
            <a:ext cx="359156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悄悄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349885" y="3886109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别人都不知道，她只是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地把这件事告诉了我。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773476" y="4649766"/>
            <a:ext cx="339244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偷偷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用下列词语造句。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725192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打工：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7683514" cy="63318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挣：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064363"/>
            <a:ext cx="7766870" cy="181504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套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装修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不得了：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用“以来”完成下列句子或对话。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11444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1.到中国以来，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6199133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他们夫妻俩的关系怎么样？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7019870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最近这几年空气污染比较严重。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第二课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2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3072"/>
                <a:chOff x="3051" y="4499"/>
                <a:chExt cx="18916" cy="3072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5371" y="6613"/>
                  <a:ext cx="15688" cy="958"/>
                  <a:chOff x="7505" y="6613"/>
                  <a:chExt cx="15688" cy="958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7505" y="6613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2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1202" y="6667"/>
                    <a:ext cx="11991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Leaving a Bunch of Keys to Our Parents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2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留串钥匙给父母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6831" y="2142490"/>
            <a:ext cx="4500880" cy="250063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699350" y="628085"/>
            <a:ext cx="10065023" cy="921859"/>
            <a:chOff x="3302" y="3426"/>
            <a:chExt cx="10274" cy="896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在你们国家，一般怎么称呼家人和亲戚？跟中国人的称呼有什么不同？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82613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祖父、祖母、叔叔、阿姨、哥哥、姐姐、弟弟、妹妹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  <a:endParaRPr 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6114732" y="77025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pū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扑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pounce on, to dash at</a:t>
              </a:r>
            </a:p>
          </p:txBody>
        </p:sp>
      </p:grpSp>
      <p:grpSp>
        <p:nvGrpSpPr>
          <p:cNvPr id="16" name="叮"/>
          <p:cNvGrpSpPr/>
          <p:nvPr/>
        </p:nvGrpSpPr>
        <p:grpSpPr>
          <a:xfrm>
            <a:off x="6093142" y="753110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4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dòng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冻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 to freeze, to feel very cold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52197" y="770254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6177098" y="770254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zuì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醉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be drunk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递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suǒ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锁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n./v. lock; to lock up</a:t>
              </a:r>
            </a:p>
          </p:txBody>
        </p:sp>
      </p:grpSp>
      <p:grpSp>
        <p:nvGrpSpPr>
          <p:cNvPr id="6" name="伸"/>
          <p:cNvGrpSpPr/>
          <p:nvPr/>
        </p:nvGrpSpPr>
        <p:grpSpPr>
          <a:xfrm>
            <a:off x="1334951" y="80567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shài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晒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dry in the sun</a:t>
              </a:r>
            </a:p>
          </p:txBody>
        </p:sp>
      </p:grpSp>
      <p:grpSp>
        <p:nvGrpSpPr>
          <p:cNvPr id="21" name="喊"/>
          <p:cNvGrpSpPr/>
          <p:nvPr/>
        </p:nvGrpSpPr>
        <p:grpSpPr>
          <a:xfrm>
            <a:off x="1338262" y="773111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20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liàng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亮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adj./v. bright; to shine</a:t>
              </a:r>
            </a:p>
          </p:txBody>
        </p:sp>
      </p:grpSp>
      <p:grpSp>
        <p:nvGrpSpPr>
          <p:cNvPr id="37" name="靠"/>
          <p:cNvGrpSpPr/>
          <p:nvPr/>
        </p:nvGrpSpPr>
        <p:grpSpPr>
          <a:xfrm>
            <a:off x="1354091" y="777284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5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lín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临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prep. about to, just before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4951" y="766941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108273"/>
            <a:ext cx="1251585" cy="5219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595681"/>
            <a:ext cx="9717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-40640"/>
            <a:ext cx="7334250" cy="1322070"/>
            <a:chOff x="4428" y="-36"/>
            <a:chExt cx="3124" cy="2082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-36"/>
              <a:ext cx="3123" cy="20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醉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锁  晒  冻  亮  扑  临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172238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父亲喝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了，等他醒时，天色已晚。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851178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孩子一看到我就高兴地向我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了过来，要我抱他。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530118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天气好的时候，要把被子拿出来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一下。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097028" y="3565258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扑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91969" y="5263543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晒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62655" y="1846866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75450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我们又准备去外地打工，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走那天，父亲从老家赶来送我们。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4684395" y="2461786"/>
            <a:ext cx="199517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临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06400" y="3664585"/>
            <a:ext cx="12430760" cy="1458958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加班到半夜，回家时看到家里的灯还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着，心里暖暖的。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7104215" y="4281154"/>
            <a:ext cx="199517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亮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10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醉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锁  晒  冻  亮  扑  临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1698"/>
            <a:ext cx="9717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75450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天太冷了，孩子被 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得大哭起来。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5930067" y="2518162"/>
            <a:ext cx="19951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冻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06400" y="366458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老家的房子没人住，只好上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空着。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7522762" y="4310767"/>
            <a:ext cx="19951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锁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7159922" cy="706755"/>
            <a:chOff x="4428" y="448"/>
            <a:chExt cx="3480" cy="1113"/>
          </a:xfrm>
        </p:grpSpPr>
        <p:sp>
          <p:nvSpPr>
            <p:cNvPr id="10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429" y="448"/>
              <a:ext cx="3479" cy="11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醉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锁  晒  冻  亮  扑  临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067581"/>
            <a:chOff x="7787" y="3144"/>
            <a:chExt cx="5660" cy="230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临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动词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——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靠近、</a:t>
              </a:r>
              <a:endParaRPr lang="en-US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对着</a:t>
              </a:r>
              <a:endParaRPr lang="vi-VN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Động từ: gần, cạnh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491466"/>
            <a:ext cx="9148219" cy="837565"/>
            <a:chOff x="518" y="3412"/>
            <a:chExt cx="13447" cy="1319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412"/>
              <a:ext cx="134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我想买一套不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临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街的房子，这样不会太吵。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120"/>
            <a:ext cx="9148899" cy="829310"/>
            <a:chOff x="518" y="3425"/>
            <a:chExt cx="13447" cy="1306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5"/>
              <a:ext cx="134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临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江新修了一条路，晚饭后很多人都去那儿散步。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449" b="89764" l="3955" r="97740">
                        <a14:foregroundMark x1="16667" y1="38583" x2="3955" y2="58268"/>
                        <a14:foregroundMark x1="3955" y1="58268" x2="20056" y2="64567"/>
                        <a14:foregroundMark x1="20056" y1="64567" x2="15819" y2="41732"/>
                        <a14:foregroundMark x1="86723" y1="55118" x2="86441" y2="53543"/>
                        <a14:foregroundMark x1="84463" y1="48819" x2="97740" y2="80315"/>
                        <a14:foregroundMark x1="97740" y1="80315" x2="80226" y2="51181"/>
                        <a14:foregroundMark x1="80226" y1="51181" x2="84746" y2="496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58" y="1928620"/>
            <a:ext cx="2132393" cy="76501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965" b="97357" l="9000" r="98000">
                        <a14:foregroundMark x1="23000" y1="14978" x2="25500" y2="11013"/>
                        <a14:foregroundMark x1="12000" y1="44053" x2="12000" y2="44053"/>
                        <a14:foregroundMark x1="16000" y1="42291" x2="13500" y2="43172"/>
                        <a14:foregroundMark x1="24500" y1="66079" x2="16816" y2="75032"/>
                        <a14:foregroundMark x1="28600" y1="75771" x2="26500" y2="66520"/>
                        <a14:foregroundMark x1="38000" y1="71806" x2="38000" y2="71806"/>
                        <a14:foregroundMark x1="38716" y1="87783" x2="38500" y2="96916"/>
                        <a14:foregroundMark x1="38948" y1="77974" x2="38801" y2="84201"/>
                        <a14:foregroundMark x1="38500" y1="96916" x2="45000" y2="74449"/>
                        <a14:foregroundMark x1="45000" y1="74449" x2="36000" y2="66520"/>
                        <a14:foregroundMark x1="22000" y1="11454" x2="41500" y2="8811"/>
                        <a14:foregroundMark x1="41500" y1="8811" x2="26500" y2="13656"/>
                        <a14:foregroundMark x1="54000" y1="6608" x2="75000" y2="13656"/>
                        <a14:foregroundMark x1="75000" y1="13656" x2="58500" y2="4405"/>
                        <a14:foregroundMark x1="58500" y1="4405" x2="54000" y2="10132"/>
                        <a14:foregroundMark x1="82500" y1="45815" x2="98000" y2="61233"/>
                        <a14:foregroundMark x1="98000" y1="61233" x2="89000" y2="44934"/>
                        <a14:foregroundMark x1="89000" y1="44934" x2="83500" y2="41850"/>
                        <a14:foregroundMark x1="54168" y1="86016" x2="46500" y2="86784"/>
                        <a14:foregroundMark x1="46500" y1="86784" x2="53541" y2="89886"/>
                        <a14:foregroundMark x1="53423" y1="90609" x2="38394" y2="88170"/>
                        <a14:foregroundMark x1="38325" y1="88253" x2="58500" y2="97357"/>
                        <a14:foregroundMark x1="58500" y1="97357" x2="56406" y2="94458"/>
                        <a14:foregroundMark x1="15000" y1="84141" x2="13500" y2="82819"/>
                        <a14:foregroundMark x1="15000" y1="87225" x2="13500" y2="85022"/>
                        <a14:foregroundMark x1="11500" y1="85022" x2="9500" y2="88546"/>
                        <a14:foregroundMark x1="85000" y1="85903" x2="84000" y2="87225"/>
                        <a14:backgroundMark x1="14000" y1="79736" x2="14000" y2="79736"/>
                        <a14:backgroundMark x1="29000" y1="75771" x2="29000" y2="77974"/>
                        <a14:backgroundMark x1="27500" y1="77974" x2="29000" y2="80617"/>
                        <a14:backgroundMark x1="30000" y1="79295" x2="24500" y2="85903"/>
                        <a14:backgroundMark x1="12100" y1="81813" x2="10357" y2="84555"/>
                        <a14:backgroundMark x1="12620" y1="80994" x2="12419" y2="81310"/>
                        <a14:backgroundMark x1="16500" y1="74890" x2="13112" y2="80221"/>
                        <a14:backgroundMark x1="67500" y1="83260" x2="65500" y2="95595"/>
                        <a14:backgroundMark x1="77500" y1="86344" x2="77500" y2="86344"/>
                        <a14:backgroundMark x1="78500" y1="86784" x2="75500" y2="93833"/>
                        <a14:backgroundMark x1="79500" y1="85903" x2="81000" y2="91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091" y="3815042"/>
            <a:ext cx="870238" cy="98772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43666" y="3193415"/>
            <a:ext cx="2837180" cy="1691821"/>
            <a:chOff x="7697" y="3144"/>
            <a:chExt cx="5660" cy="188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97" y="3234"/>
              <a:ext cx="5660" cy="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20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临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介词，快到某一行为</a:t>
              </a:r>
              <a:endParaRPr lang="en-US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发生的时间</a:t>
              </a:r>
              <a:endParaRPr lang="vi-VN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Giới từ: gần, sắp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445567"/>
            <a:ext cx="8561705" cy="828675"/>
            <a:chOff x="518" y="2814"/>
            <a:chExt cx="13483" cy="1917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91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55" y="3157"/>
              <a:ext cx="13446" cy="1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这是我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临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离开北京的时候买的。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75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635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 hangingPunct="0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临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走那天，父亲从老家赶来送我们。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790" b="89820" l="9694" r="89796">
                        <a14:foregroundMark x1="40816" y1="10778" x2="59694" y2="14371"/>
                        <a14:foregroundMark x1="59694" y1="14371" x2="48469" y2="4790"/>
                        <a14:foregroundMark x1="48469" y1="4790" x2="39796" y2="137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699" y="4117139"/>
            <a:ext cx="1283824" cy="109387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2585"/>
              <a:ext cx="7429" cy="4992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duàn</a:t>
              </a:r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断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sz="2400" dirty="0">
                  <a:solidFill>
                    <a:schemeClr val="lt1"/>
                  </a:solidFill>
                  <a:sym typeface="Times New Roman" panose="02020603050405020304" pitchFamily="18" charset="0"/>
                </a:rPr>
                <a:t>v. to cut off, to stop</a:t>
              </a: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歪歪扭扭"/>
          <p:cNvGrpSpPr/>
          <p:nvPr/>
        </p:nvGrpSpPr>
        <p:grpSpPr>
          <a:xfrm>
            <a:off x="6103938" y="812304"/>
            <a:ext cx="4717415" cy="5817235"/>
            <a:chOff x="9662" y="1159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2" y="3695"/>
              <a:ext cx="7362" cy="397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lìkè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立刻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adv. at once, immediately</a:t>
              </a:r>
            </a:p>
          </p:txBody>
        </p:sp>
      </p:grpSp>
      <p:grpSp>
        <p:nvGrpSpPr>
          <p:cNvPr id="16" name="女士"/>
          <p:cNvGrpSpPr/>
          <p:nvPr/>
        </p:nvGrpSpPr>
        <p:grpSpPr>
          <a:xfrm>
            <a:off x="6093778" y="83883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55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wēixiào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微笑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 v./n. to smile; smile</a:t>
              </a:r>
            </a:p>
            <a:p>
              <a:pPr algn="ctr"/>
              <a:endParaRPr lang="en-US" sz="2400" dirty="0"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097949" y="844278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评委"/>
          <p:cNvGrpSpPr/>
          <p:nvPr/>
        </p:nvGrpSpPr>
        <p:grpSpPr>
          <a:xfrm>
            <a:off x="6175058" y="889499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qiángliè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强烈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strong and vehement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入围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zhǎngtú</a:t>
              </a:r>
              <a:endParaRPr lang="en-US" altLang="zh-CN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长途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long-distance</a:t>
              </a:r>
            </a:p>
          </p:txBody>
        </p:sp>
      </p:grpSp>
      <p:grpSp>
        <p:nvGrpSpPr>
          <p:cNvPr id="6" name="对比"/>
          <p:cNvGrpSpPr/>
          <p:nvPr/>
        </p:nvGrpSpPr>
        <p:grpSpPr>
          <a:xfrm>
            <a:off x="1325563" y="804587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xiǎngxiàng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想象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imagine</a:t>
              </a:r>
            </a:p>
          </p:txBody>
        </p:sp>
      </p:grpSp>
      <p:grpSp>
        <p:nvGrpSpPr>
          <p:cNvPr id="21" name="电台"/>
          <p:cNvGrpSpPr/>
          <p:nvPr/>
        </p:nvGrpSpPr>
        <p:grpSpPr>
          <a:xfrm>
            <a:off x="1329580" y="791886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701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wēnnuǎn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温暖</a:t>
              </a:r>
            </a:p>
            <a:p>
              <a:pPr algn="ctr" eaLnBrk="1"/>
              <a:r>
                <a:rPr lang="en-US" sz="2400" dirty="0">
                  <a:sym typeface="Times New Roman" panose="02020603050405020304" pitchFamily="18" charset="0"/>
                </a:rPr>
                <a:t>adj./v. warm; to make sb./</a:t>
              </a:r>
              <a:r>
                <a:rPr lang="en-US" sz="2400" dirty="0" err="1">
                  <a:sym typeface="Times New Roman" panose="02020603050405020304" pitchFamily="18" charset="0"/>
                </a:rPr>
                <a:t>sth</a:t>
              </a:r>
              <a:r>
                <a:rPr lang="en-US" sz="2400" dirty="0">
                  <a:sym typeface="Times New Roman" panose="02020603050405020304" pitchFamily="18" charset="0"/>
                </a:rPr>
                <a:t>. warm</a:t>
              </a:r>
            </a:p>
          </p:txBody>
        </p:sp>
      </p:grpSp>
      <p:grpSp>
        <p:nvGrpSpPr>
          <p:cNvPr id="37" name="细节"/>
          <p:cNvGrpSpPr/>
          <p:nvPr/>
        </p:nvGrpSpPr>
        <p:grpSpPr>
          <a:xfrm>
            <a:off x="1344613" y="770254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5768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zhèn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阵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m. used for a short period or </a:t>
              </a: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     spell of an occurrence or action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6993" y="788034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257550"/>
            <a:chOff x="304" y="2028"/>
            <a:chExt cx="3491" cy="51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强烈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strong and vehement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qiángliè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想象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imagine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xiǎngxiàng</a:t>
            </a:r>
            <a:endParaRPr lang="en-US" altLang="zh-CN" sz="32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长途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long-distance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zhǎngtú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微笑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v./n. to smile; smile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wēixiào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4090035"/>
            <a:chOff x="4717" y="1909"/>
            <a:chExt cx="3511" cy="6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温暖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adj./v. warm; to make sb./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sth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. warm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42938" y="4364355"/>
            <a:ext cx="2315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wēnnuǎn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立刻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at once, immediately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lìkè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742170" y="3646170"/>
            <a:ext cx="2299970" cy="3813175"/>
            <a:chOff x="4561" y="1909"/>
            <a:chExt cx="3622" cy="6005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561" y="4133"/>
              <a:ext cx="3622" cy="3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阵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m. used for a short period or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    spell of an occurrence or action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zhèn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375921"/>
            <a:chOff x="7787" y="3144"/>
            <a:chExt cx="5660" cy="264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立刻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——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立刻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+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动词，马上，一个动作紧接着前一个动作发生</a:t>
              </a:r>
              <a:endParaRPr lang="vi-VN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Phó từ: lập tức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endParaRPr lang="zh-CN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70070"/>
            <a:ext cx="8538845" cy="1262705"/>
            <a:chOff x="518" y="2814"/>
            <a:chExt cx="13447" cy="1312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909"/>
              <a:ext cx="13446" cy="11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上了楼，开门的竟是微笑着的父母，温暖的气息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立刻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扑面而来</a:t>
              </a: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……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295" y="3542163"/>
            <a:ext cx="8538845" cy="1194435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365"/>
              <a:ext cx="13446" cy="16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原来父母要我留下串钥匙，只是为了让我们回来时，能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立刻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感受到家的温暖！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8294" y="5170865"/>
            <a:ext cx="8538845" cy="1194435"/>
            <a:chOff x="508" y="3220"/>
            <a:chExt cx="13447" cy="1881"/>
          </a:xfrm>
        </p:grpSpPr>
        <p:sp>
          <p:nvSpPr>
            <p:cNvPr id="4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7"/>
            <p:cNvSpPr txBox="1"/>
            <p:nvPr/>
          </p:nvSpPr>
          <p:spPr>
            <a:xfrm>
              <a:off x="509" y="3365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那两只羊一见到青草，就立刻去吃草了，哪还有心思打架呢？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04" b="97748" l="4375" r="96250">
                        <a14:foregroundMark x1="36250" y1="9910" x2="33750" y2="26126"/>
                        <a14:foregroundMark x1="33750" y1="26126" x2="35625" y2="8108"/>
                        <a14:foregroundMark x1="35625" y1="8108" x2="28750" y2="11712"/>
                        <a14:foregroundMark x1="49375" y1="6757" x2="30000" y2="4955"/>
                        <a14:foregroundMark x1="30000" y1="4955" x2="18125" y2="15766"/>
                        <a14:foregroundMark x1="18125" y1="15766" x2="34375" y2="30631"/>
                        <a14:foregroundMark x1="50625" y1="11261" x2="67500" y2="3604"/>
                        <a14:foregroundMark x1="67500" y1="3604" x2="85000" y2="13514"/>
                        <a14:foregroundMark x1="85000" y1="13514" x2="78125" y2="28829"/>
                        <a14:foregroundMark x1="78125" y1="28829" x2="58125" y2="28829"/>
                        <a14:foregroundMark x1="58125" y1="28829" x2="42500" y2="15766"/>
                        <a14:foregroundMark x1="42500" y1="15766" x2="50625" y2="12162"/>
                        <a14:foregroundMark x1="83125" y1="31982" x2="83125" y2="41892"/>
                        <a14:foregroundMark x1="13750" y1="36486" x2="4375" y2="49099"/>
                        <a14:foregroundMark x1="4375" y1="49099" x2="6875" y2="62613"/>
                        <a14:foregroundMark x1="6875" y1="62613" x2="4375" y2="90541"/>
                        <a14:foregroundMark x1="4375" y1="90541" x2="16875" y2="77027"/>
                        <a14:foregroundMark x1="16875" y1="77027" x2="15625" y2="36486"/>
                        <a14:foregroundMark x1="15625" y1="36486" x2="15000" y2="36036"/>
                        <a14:foregroundMark x1="16875" y1="81982" x2="14375" y2="95045"/>
                        <a14:foregroundMark x1="14375" y1="95045" x2="35625" y2="99550"/>
                        <a14:foregroundMark x1="35625" y1="99550" x2="54375" y2="97297"/>
                        <a14:foregroundMark x1="54375" y1="97297" x2="51875" y2="81532"/>
                        <a14:foregroundMark x1="51875" y1="81532" x2="25000" y2="75225"/>
                        <a14:foregroundMark x1="25000" y1="75225" x2="16875" y2="81982"/>
                        <a14:foregroundMark x1="67500" y1="83784" x2="58750" y2="95946"/>
                        <a14:foregroundMark x1="58750" y1="95946" x2="91875" y2="98198"/>
                        <a14:foregroundMark x1="91875" y1="98198" x2="80000" y2="82883"/>
                        <a14:foregroundMark x1="80000" y1="82883" x2="67500" y2="85135"/>
                        <a14:foregroundMark x1="62500" y1="32432" x2="61875" y2="35135"/>
                        <a14:foregroundMark x1="75625" y1="36036" x2="53125" y2="34685"/>
                        <a14:foregroundMark x1="53125" y1="34685" x2="72500" y2="43694"/>
                        <a14:foregroundMark x1="72500" y1="43694" x2="74375" y2="36486"/>
                        <a14:foregroundMark x1="88750" y1="31982" x2="96875" y2="45495"/>
                        <a14:foregroundMark x1="96875" y1="45495" x2="96250" y2="58108"/>
                        <a14:foregroundMark x1="96250" y1="58108" x2="86250" y2="47748"/>
                        <a14:foregroundMark x1="86250" y1="47748" x2="87500" y2="35135"/>
                        <a14:foregroundMark x1="87500" y1="35135" x2="88125" y2="34685"/>
                        <a14:foregroundMark x1="10625" y1="95946" x2="10000" y2="968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749" y="1883905"/>
            <a:ext cx="898006" cy="12459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929" b="93724" l="8293" r="88780">
                        <a14:foregroundMark x1="16585" y1="6695" x2="16585" y2="6695"/>
                        <a14:foregroundMark x1="26341" y1="3347" x2="26341" y2="3347"/>
                        <a14:foregroundMark x1="44878" y1="93724" x2="44878" y2="93724"/>
                        <a14:foregroundMark x1="88780" y1="83682" x2="88780" y2="836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79447">
            <a:off x="6273805" y="4077518"/>
            <a:ext cx="845912" cy="9862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20" b="99291" l="7347" r="93878">
                        <a14:foregroundMark x1="24490" y1="26950" x2="8571" y2="65957"/>
                        <a14:foregroundMark x1="8571" y1="65957" x2="35102" y2="63830"/>
                        <a14:foregroundMark x1="35102" y1="63830" x2="17143" y2="24113"/>
                        <a14:foregroundMark x1="17143" y1="24113" x2="14286" y2="28369"/>
                        <a14:foregroundMark x1="15918" y1="36170" x2="2041" y2="76596"/>
                        <a14:foregroundMark x1="2041" y1="76596" x2="26531" y2="93617"/>
                        <a14:foregroundMark x1="26531" y1="93617" x2="39592" y2="69504"/>
                        <a14:foregroundMark x1="39592" y1="69504" x2="26939" y2="38298"/>
                        <a14:foregroundMark x1="26939" y1="38298" x2="12245" y2="36879"/>
                        <a14:foregroundMark x1="18776" y1="32624" x2="38776" y2="21986"/>
                        <a14:foregroundMark x1="38776" y1="21986" x2="20408" y2="12766"/>
                        <a14:foregroundMark x1="20408" y1="12766" x2="22449" y2="40426"/>
                        <a14:foregroundMark x1="24082" y1="16312" x2="31020" y2="26950"/>
                        <a14:foregroundMark x1="84082" y1="39007" x2="93878" y2="76596"/>
                        <a14:foregroundMark x1="93878" y1="76596" x2="84490" y2="51064"/>
                        <a14:foregroundMark x1="67347" y1="83688" x2="83265" y2="99291"/>
                        <a14:foregroundMark x1="83265" y1="99291" x2="79592" y2="69504"/>
                        <a14:foregroundMark x1="67347" y1="82979" x2="75102" y2="843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474" y="5768082"/>
            <a:ext cx="1308808" cy="7532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/>
              <p14:cNvContentPartPr/>
              <p14:nvPr/>
            </p14:nvContentPartPr>
            <p14:xfrm>
              <a:off x="552600" y="2489040"/>
              <a:ext cx="8058240" cy="3835800"/>
            </p14:xfrm>
          </p:contentPart>
        </mc:Choice>
        <mc:Fallback xmlns="">
          <p:pic>
            <p:nvPicPr>
              <p:cNvPr id="2" name="Ink 1"/>
            </p:nvPicPr>
            <p:blipFill>
              <a:blip r:embed="rId12"/>
            </p:blipFill>
            <p:spPr>
              <a:xfrm>
                <a:off x="552600" y="2489040"/>
                <a:ext cx="8058240" cy="3835800"/>
              </a:xfrm>
              <a:prstGeom prst="rect"/>
            </p:spPr>
          </p:pic>
        </mc:Fallback>
      </mc:AlternateContent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4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693160" y="4685030"/>
            <a:ext cx="6188710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A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54508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虽然她全身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瘫痪了，但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我会照顾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她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。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175250"/>
            <a:ext cx="45408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了，他们俩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大吵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了一架</a:t>
            </a:r>
            <a:r>
              <a:rPr lang="en-US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！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一辈子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不得了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0.25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0.25 7.40741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898232" y="2047240"/>
            <a:ext cx="5939187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693160" y="4685030"/>
            <a:ext cx="6188710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54508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他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病了，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老师和同学们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把他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送进了医院。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175250"/>
            <a:ext cx="45408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花园里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飘来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花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香。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立刻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一阵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533520" y="4813200"/>
              <a:ext cx="4496040" cy="1308600"/>
            </p14:xfrm>
          </p:contentPart>
        </mc:Choice>
        <mc:Fallback xmlns="">
          <p:pic>
            <p:nvPicPr>
              <p:cNvPr id="7" name="Ink 6"/>
            </p:nvPicPr>
            <p:blipFill>
              <a:blip r:embed="rId7"/>
            </p:blipFill>
            <p:spPr>
              <a:xfrm>
                <a:off x="533520" y="4813200"/>
                <a:ext cx="4496040" cy="13086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48148E-6 L 0.25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0.25 7.40741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01038"/>
            <a:ext cx="1251585" cy="5219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688446"/>
            <a:ext cx="9717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68383"/>
            <a:ext cx="10093810" cy="1040334"/>
            <a:chOff x="4428" y="462"/>
            <a:chExt cx="3619" cy="1067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8" y="690"/>
              <a:ext cx="3619" cy="72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断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套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锁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挣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长途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打工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强烈  想象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65003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你觉得我穿这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西服去电视台参加节目怎么样？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43943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我不能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她喝醉了会是什么样子。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22883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国际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电话很贵，现在我们一般上网聊天儿。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3686810" y="3688255"/>
            <a:ext cx="19951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想象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937134" y="5386540"/>
            <a:ext cx="19951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长途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686810" y="1965547"/>
            <a:ext cx="19951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1698"/>
            <a:ext cx="9717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81635"/>
            <a:ext cx="8710409" cy="1116477"/>
            <a:chOff x="4428" y="462"/>
            <a:chExt cx="3123" cy="120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8" y="550"/>
              <a:ext cx="3123" cy="11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断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套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锁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挣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长途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打工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强烈  想象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因为同学们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要求，我们决定这个周末出去活动。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房门被反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上了，他从窗户里跳出来，把腿摔了。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暑假的时候我想去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两个月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，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点儿钱。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2486660" y="3564255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锁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229326" y="5369560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打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009067" y="1995805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强烈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70055" y="5359869"/>
            <a:ext cx="1995170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工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97193" y="5336926"/>
            <a:ext cx="1176437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挣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45260" y="1273175"/>
            <a:ext cx="178943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截屏2025-02-25 下午9.23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" y="488950"/>
            <a:ext cx="11610975" cy="58807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截屏2025-02-25 下午9.23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" y="488950"/>
            <a:ext cx="11610975" cy="5880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57980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叔叔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49905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婶婶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78635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伯伯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47090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伯母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90205" y="176657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外公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999855" y="176657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55365" y="572262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表姐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197090" y="572262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嫂子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331835" y="572262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表妹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198100" y="572262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表弟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519035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舅舅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439150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舅妈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700260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阿姨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696575" y="3869690"/>
            <a:ext cx="79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姨父</a:t>
            </a: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494" y="1774984"/>
            <a:ext cx="204216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串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姥姥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494" y="1774984"/>
            <a:ext cx="204216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舅舅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姑姑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494" y="1774984"/>
            <a:ext cx="204216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农村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屋子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一辈子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打工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挣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县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套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装修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不得了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醉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锁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冻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晒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亮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扑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临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强烈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长途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想象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微笑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.png图片1"/>
          <p:cNvPicPr preferRelativeResize="0"/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521460" y="-635"/>
            <a:ext cx="9149080" cy="6858000"/>
          </a:xfrm>
          <a:prstGeom prst="rect">
            <a:avLst/>
          </a:prstGeom>
        </p:spPr>
      </p:pic>
      <p:pic>
        <p:nvPicPr>
          <p:cNvPr id="11" name="图片 10" descr="C:\Users\Administrator\Desktop\aa76ad3d8.pngaa76ad3d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8607266" y="3033713"/>
            <a:ext cx="1789748" cy="2964180"/>
          </a:xfrm>
          <a:prstGeom prst="rect">
            <a:avLst/>
          </a:prstGeom>
        </p:spPr>
      </p:pic>
      <p:pic>
        <p:nvPicPr>
          <p:cNvPr id="13" name="图片 1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43" y="2375535"/>
            <a:ext cx="829151" cy="82915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855335" y="1774825"/>
            <a:ext cx="274447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温暖</a:t>
            </a:r>
          </a:p>
        </p:txBody>
      </p:sp>
      <p:pic>
        <p:nvPicPr>
          <p:cNvPr id="12" name="图片 1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38" y="3165158"/>
            <a:ext cx="802005" cy="802005"/>
          </a:xfrm>
          <a:prstGeom prst="rect">
            <a:avLst/>
          </a:prstGeom>
        </p:spPr>
      </p:pic>
      <p:pic>
        <p:nvPicPr>
          <p:cNvPr id="26" name="图片 25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245" y="3259455"/>
            <a:ext cx="802005" cy="8020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367896" y="3165560"/>
            <a:ext cx="2252663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eaLnBrk="1"/>
            <a:r>
              <a:rPr lang="zh-CN" altLang="en-US" sz="6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立刻</a:t>
            </a:r>
          </a:p>
        </p:txBody>
      </p:sp>
      <p:pic>
        <p:nvPicPr>
          <p:cNvPr id="2" name="图片 1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675" y="1852851"/>
            <a:ext cx="1155383" cy="1155383"/>
          </a:xfrm>
          <a:prstGeom prst="rect">
            <a:avLst/>
          </a:prstGeom>
        </p:spPr>
      </p:pic>
      <p:pic>
        <p:nvPicPr>
          <p:cNvPr id="3" name="图片 2" descr="967f88c29559d1b827b82bee1323fff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879" y="4624864"/>
            <a:ext cx="1155383" cy="1155383"/>
          </a:xfrm>
          <a:prstGeom prst="rect">
            <a:avLst/>
          </a:prstGeom>
        </p:spPr>
      </p:pic>
      <p:pic>
        <p:nvPicPr>
          <p:cNvPr id="6" name="图片 5" descr="714d97bd2496d7721c24d1a1bf4bc3e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054" y="2148364"/>
            <a:ext cx="3850005" cy="3850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21 C -0.032006 -0.035316 -0.124679 -0.132672 -0.163331 -0.183876 C -0.201983 -0.235077 -0.187259 -0.241568 -0.193240 -0.255991 C -0.199221 -0.270414 -0.193885 -0.257433 -0.193240 -0.255991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10S888piCX6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-0.00729 -0.00116 L -0.01588 -0.00162 L -0.02435 -0.00185 L -0.03164 -0.00232 L -0.0401 -0.00278 L -0.04739 -0.00301 L -0.05599 -0.00324 L -0.06562 -0.00347 L -0.07656 -0.00347 L -0.08385 -0.00347 L -0.09114 -0.00347 L -0.10091 -0.00347 L -0.11067 -0.00347 L -0.11666 -0.00347 L -0.12526 -0.00347 L -0.14101 -0.00347 L -0.14831 -0.00347 L -0.16289 -0.00347 L -0.16901 -0.00347 L -0.17617 -0.00347 L -0.18711 -0.00324 L -0.1957 -0.00255 L -0.20534 -0.00209 L -0.2151 -0.00093 L -0.22357 -0.00047 L -0.22851 0.00046 L -0.23086 0.00116 L -0.23216 0.00185 L -0.23216 0.00324 L -0.22969 0.00393 L -0.22357 0.00486 L -0.21758 0.00509 L -0.21146 0.00509 L -0.20664 0.0044 L -0.20664 0.00347 L -0.20664 0.00278 L -0.21263 0.00231 L -0.21992 0.00231 L -0.22969 0.00231 L -0.24674 0.00231 L -0.25521 0.00231 L -0.26732 0.00231 L -0.27956 0.00254 L -0.29284 0.00324 L -0.30143 0.00347 L -0.30742 0.00416 L -0.31354 0.00463 L -0.32083 0.00532 L -0.32695 0.00648 L -0.3306 0.00741 L -0.33789 0.00833 L -0.34153 0.00903 L -0.34505 0.00995 " pathEditMode="relative" rAng="0" ptsTypes="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7" grpId="0"/>
      <p:bldP spid="27" grpId="2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用“临”完成下列句子或对话。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26345" y="2567795"/>
            <a:ext cx="8287949" cy="1618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 A：你觉得这套房子怎么样？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  <a:p>
            <a:pPr algn="l"/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6345" y="3728883"/>
            <a:ext cx="8138614" cy="1126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 A：你一个人来中国，你的爸爸妈妈放心吗？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842189"/>
            <a:ext cx="8201284" cy="112646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 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你卧室里的新被子真漂亮，哪儿买的？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49695" y="4412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临近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用“立刻”完成下列句子或对话。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97243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1.一下课，我们立刻去吃午饭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550345"/>
            <a:ext cx="822960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.我快被气死了！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_你还没立刻做作业___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6199133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你能帮我通知他这件事吗？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第二课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2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3072"/>
                <a:chOff x="3051" y="4499"/>
                <a:chExt cx="18916" cy="3072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5371" y="6613"/>
                  <a:ext cx="15688" cy="958"/>
                  <a:chOff x="7505" y="6613"/>
                  <a:chExt cx="15688" cy="958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7505" y="6613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2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1202" y="6667"/>
                    <a:ext cx="11991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Leaving a Bunch of Keys to Our Parents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2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留串钥匙给父母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</a:t>
              </a:r>
              <a:r>
                <a:rPr lang="en-US" altLang="zh-CN" sz="4000" b="1" dirty="0">
                  <a:solidFill>
                    <a:srgbClr val="9F313C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30718" y="-493395"/>
            <a:ext cx="4806699" cy="2945130"/>
            <a:chOff x="9056" y="6028"/>
            <a:chExt cx="6741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056" y="8213"/>
              <a:ext cx="6716" cy="1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说一说：</a:t>
              </a:r>
            </a:p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你认为父母的爱都体现在哪些方面？</a:t>
              </a: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30725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0266" y="2016338"/>
            <a:ext cx="5508534" cy="3052999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01825" y="1631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父母的电话</a:t>
            </a:r>
            <a:r>
              <a:rPr lang="en-US" altLang="zh-CN"/>
              <a:t>  </a:t>
            </a:r>
            <a:r>
              <a:rPr lang="zh-CN" altLang="en-US"/>
              <a:t>父母无时无刻的关心</a:t>
            </a:r>
          </a:p>
          <a:p>
            <a:r>
              <a:rPr lang="zh-CN" altLang="en-US"/>
              <a:t>父母的照顾</a:t>
            </a:r>
          </a:p>
          <a:p>
            <a:r>
              <a:rPr lang="zh-CN" altLang="en-US"/>
              <a:t>父母的问候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2585"/>
              <a:ext cx="7429" cy="4992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liú</a:t>
              </a:r>
              <a:r>
                <a:rPr lang="en-US" sz="3600" dirty="0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sz="3600" dirty="0" err="1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lèi</a:t>
              </a:r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流泪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sz="2400" dirty="0">
                  <a:solidFill>
                    <a:schemeClr val="lt1"/>
                  </a:solidFill>
                  <a:sym typeface="Times New Roman" panose="02020603050405020304" pitchFamily="18" charset="0"/>
                </a:rPr>
                <a:t>v. to shed tears</a:t>
              </a: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歪歪扭扭"/>
          <p:cNvGrpSpPr/>
          <p:nvPr/>
        </p:nvGrpSpPr>
        <p:grpSpPr>
          <a:xfrm>
            <a:off x="6145005" y="811711"/>
            <a:ext cx="4717415" cy="5817235"/>
            <a:chOff x="9662" y="1159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2" y="3695"/>
              <a:ext cx="7362" cy="397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piāo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飘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float (in the air), to waft</a:t>
              </a:r>
            </a:p>
          </p:txBody>
        </p:sp>
      </p:grpSp>
      <p:grpSp>
        <p:nvGrpSpPr>
          <p:cNvPr id="16" name="女士"/>
          <p:cNvGrpSpPr/>
          <p:nvPr/>
        </p:nvGrpSpPr>
        <p:grpSpPr>
          <a:xfrm>
            <a:off x="6090119" y="826498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55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wòshì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卧室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 n. bedroom</a:t>
              </a:r>
            </a:p>
            <a:p>
              <a:pPr algn="ctr"/>
              <a:endParaRPr lang="en-US" sz="2400" dirty="0"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3614" y="80567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评委"/>
          <p:cNvGrpSpPr/>
          <p:nvPr/>
        </p:nvGrpSpPr>
        <p:grpSpPr>
          <a:xfrm>
            <a:off x="6112937" y="861918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jiānjué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坚决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resolute, determined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入围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bèizi</a:t>
              </a:r>
              <a:endParaRPr lang="en-US" altLang="zh-CN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被子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quilt</a:t>
              </a:r>
            </a:p>
          </p:txBody>
        </p:sp>
      </p:grpSp>
      <p:grpSp>
        <p:nvGrpSpPr>
          <p:cNvPr id="6" name="对比"/>
          <p:cNvGrpSpPr/>
          <p:nvPr/>
        </p:nvGrpSpPr>
        <p:grpSpPr>
          <a:xfrm>
            <a:off x="1412769" y="75367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huīchén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灰尘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dust, dirt</a:t>
              </a:r>
            </a:p>
          </p:txBody>
        </p:sp>
      </p:grpSp>
      <p:grpSp>
        <p:nvGrpSpPr>
          <p:cNvPr id="21" name="电台"/>
          <p:cNvGrpSpPr/>
          <p:nvPr/>
        </p:nvGrpSpPr>
        <p:grpSpPr>
          <a:xfrm>
            <a:off x="1351114" y="778579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20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pū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铺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 to spread, to unfold</a:t>
              </a:r>
            </a:p>
          </p:txBody>
        </p:sp>
      </p:grpSp>
      <p:grpSp>
        <p:nvGrpSpPr>
          <p:cNvPr id="37" name="细节"/>
          <p:cNvGrpSpPr/>
          <p:nvPr/>
        </p:nvGrpSpPr>
        <p:grpSpPr>
          <a:xfrm>
            <a:off x="1341332" y="743724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5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gǎnshòu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感受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v./n. to feel; feeling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65628" y="772459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坚持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坚决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他的态度很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，恐怕不会改变主意了。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712549" y="1347334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坚决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37560" y="4743450"/>
            <a:ext cx="8213738" cy="2114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/>
              <a:t>	</a:t>
            </a:r>
            <a:r>
              <a:rPr lang="zh-CN" altLang="en-US" sz="2400" dirty="0"/>
              <a:t>坚持</a:t>
            </a:r>
            <a:r>
              <a:rPr lang="vi-VN" altLang="zh-CN" sz="2400" dirty="0"/>
              <a:t> kiên trì</a:t>
            </a:r>
            <a:r>
              <a:rPr lang="en-US" altLang="zh-CN" sz="2400" dirty="0"/>
              <a:t>	                                 </a:t>
            </a:r>
            <a:r>
              <a:rPr lang="zh-CN" altLang="en-US" sz="2400" dirty="0"/>
              <a:t>坚决</a:t>
            </a:r>
            <a:r>
              <a:rPr lang="vi-VN" altLang="zh-CN" sz="2400" dirty="0"/>
              <a:t> kiên quyết</a:t>
            </a:r>
            <a:endParaRPr lang="zh-CN" altLang="en-US" sz="2400" dirty="0"/>
          </a:p>
          <a:p>
            <a:r>
              <a:rPr lang="zh-CN" altLang="en-US" sz="2400" dirty="0"/>
              <a:t>核心</a:t>
            </a:r>
            <a:r>
              <a:rPr lang="en-US" altLang="zh-CN" sz="2400" dirty="0"/>
              <a:t>	</a:t>
            </a:r>
            <a:r>
              <a:rPr lang="zh-CN" altLang="en-US" sz="2400" dirty="0"/>
              <a:t>持续性行为（动词）</a:t>
            </a:r>
            <a:r>
              <a:rPr lang="en-US" altLang="zh-CN" sz="2400" dirty="0"/>
              <a:t>	</a:t>
            </a:r>
            <a:r>
              <a:rPr lang="zh-CN" altLang="en-US" sz="2400" dirty="0"/>
              <a:t>果断态度（形容词）</a:t>
            </a:r>
          </a:p>
          <a:p>
            <a:r>
              <a:rPr lang="zh-CN" altLang="en-US" sz="2400" dirty="0"/>
              <a:t>语境</a:t>
            </a:r>
            <a:r>
              <a:rPr lang="en-US" altLang="zh-CN" sz="2400" dirty="0"/>
              <a:t>	</a:t>
            </a:r>
            <a:r>
              <a:rPr lang="zh-CN" altLang="en-US" sz="2400" dirty="0"/>
              <a:t>长期、重复、克服困难</a:t>
            </a:r>
            <a:r>
              <a:rPr lang="en-US" altLang="zh-CN" sz="2400" dirty="0"/>
              <a:t>	</a:t>
            </a:r>
            <a:r>
              <a:rPr lang="zh-CN" altLang="en-US" sz="2400" dirty="0"/>
              <a:t>当下、明确表态</a:t>
            </a:r>
          </a:p>
          <a:p>
            <a:r>
              <a:rPr lang="zh-CN" altLang="en-US" sz="2400" dirty="0"/>
              <a:t>例句</a:t>
            </a:r>
            <a:r>
              <a:rPr lang="en-US" altLang="zh-CN" sz="2400" dirty="0"/>
              <a:t>	</a:t>
            </a:r>
            <a:r>
              <a:rPr lang="zh-CN" altLang="en-US" sz="2400" dirty="0"/>
              <a:t>坚持锻炼才能健康。</a:t>
            </a:r>
            <a:r>
              <a:rPr lang="en-US" altLang="zh-CN" sz="2400" dirty="0"/>
              <a:t>	</a:t>
            </a:r>
            <a:r>
              <a:rPr lang="zh-CN" altLang="en-US" sz="2400" dirty="0"/>
              <a:t>他坚决不妥协。</a:t>
            </a:r>
          </a:p>
          <a:p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马上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立刻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只有一个星期了，春节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就要到了。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919272" y="1303927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马上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14389" y="4215245"/>
            <a:ext cx="70097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相同</a:t>
            </a:r>
            <a:r>
              <a:rPr lang="en-US" altLang="zh-CN" sz="2800" dirty="0"/>
              <a:t>：</a:t>
            </a:r>
            <a:r>
              <a:rPr lang="zh-CN" altLang="en-US" sz="2800" dirty="0"/>
              <a:t>都表示时间紧迫</a:t>
            </a:r>
            <a:r>
              <a:rPr lang="en-US" altLang="zh-CN" sz="2800" dirty="0"/>
              <a:t>、</a:t>
            </a:r>
            <a:r>
              <a:rPr lang="zh-CN" altLang="en-US" sz="2800" dirty="0"/>
              <a:t>行动迅速</a:t>
            </a:r>
            <a:r>
              <a:rPr lang="en-US" altLang="zh-CN" sz="2800" dirty="0"/>
              <a:t>。</a:t>
            </a:r>
            <a:r>
              <a:rPr lang="vi-VN" altLang="zh-CN" sz="2800" dirty="0"/>
              <a:t>Cùng đều biểu thị gấp rút, nhanh chóng</a:t>
            </a:r>
            <a:endParaRPr lang="zh-CN" altLang="en-US" sz="2800" dirty="0"/>
          </a:p>
          <a:p>
            <a:r>
              <a:rPr lang="zh-CN" altLang="en-US" sz="2800" dirty="0"/>
              <a:t>立刻</a:t>
            </a:r>
            <a:r>
              <a:rPr lang="en-US" altLang="zh-CN" sz="2800" dirty="0"/>
              <a:t>：</a:t>
            </a:r>
            <a:r>
              <a:rPr lang="zh-CN" altLang="en-US" sz="2800" dirty="0"/>
              <a:t>强调行动间隔短暂</a:t>
            </a:r>
            <a:r>
              <a:rPr lang="en-US" altLang="zh-CN" sz="2800" dirty="0"/>
              <a:t>，</a:t>
            </a:r>
            <a:r>
              <a:rPr lang="zh-CN" altLang="en-US" sz="2800" dirty="0"/>
              <a:t>时间紧迫</a:t>
            </a:r>
            <a:r>
              <a:rPr lang="en-US" altLang="zh-CN" sz="2800" dirty="0"/>
              <a:t>。</a:t>
            </a:r>
            <a:r>
              <a:rPr lang="vi-VN" altLang="zh-CN" sz="2800" dirty="0"/>
              <a:t>Nhấn mạnh time ngắn,gấp, thực hiện ngay </a:t>
            </a:r>
            <a:endParaRPr lang="en-US" altLang="zh-CN" sz="2800" dirty="0"/>
          </a:p>
          <a:p>
            <a:r>
              <a:rPr lang="zh-CN" altLang="en-US" sz="2800" dirty="0"/>
              <a:t>马上</a:t>
            </a:r>
            <a:r>
              <a:rPr lang="en-US" altLang="zh-CN" sz="2800" dirty="0"/>
              <a:t>：</a:t>
            </a:r>
            <a:r>
              <a:rPr lang="zh-CN" altLang="en-US" sz="2800" dirty="0"/>
              <a:t>动作发生的时间稍微有所延迟</a:t>
            </a:r>
            <a:r>
              <a:rPr lang="vi-VN" altLang="zh-CN" sz="2800" dirty="0"/>
              <a:t> hành động có thể 1 time mới thực hiện</a:t>
            </a:r>
            <a:r>
              <a:rPr lang="zh-CN" altLang="en-US" sz="2800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冷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冻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最近气温太低，河里的水都被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住了。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7935178" y="126809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冻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温暖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缓和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女服务员给了我一个 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的微笑。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919272" y="1376362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温暖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876300" y="2948305"/>
            <a:ext cx="11164570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1、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父母以前住在哪儿？他们有什么样的习惯？</a:t>
            </a:r>
          </a:p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2、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“我”和妻子什么时候在县里买了新房？这时候父母的心情如何</a:t>
            </a: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？</a:t>
            </a:r>
          </a:p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3、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我们去外地打工的时候，父母提出了</a:t>
            </a:r>
            <a:r>
              <a:rPr lang="zh-CN" altLang="en-US" sz="28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什么要求？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4、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回来的时候，“我”想象的情况是什么样的？</a:t>
            </a:r>
          </a:p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5、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实际的情况是什么样的？</a:t>
            </a:r>
          </a:p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6、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父母为什么要我们留下一串钥匙？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pic>
        <p:nvPicPr>
          <p:cNvPr id="3" name="02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1730" y="2021372"/>
            <a:ext cx="821824" cy="821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7377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2382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1476" y="2021201"/>
            <a:ext cx="10711542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父母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一辈子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住在农村老家，对老屋的感情，就像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没断奶的孩子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对母亲一样。因此长年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以来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，父母很少离开老屋，尽管姥姥、舅舅和姑姑都在城里，父母也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坚决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不在城里住。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1051242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没断奶的孩子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”是什么意思？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父母不愿意离开老屋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</a:t>
            </a:r>
            <a:r>
              <a:rPr lang="zh-CN" altLang="en-US" sz="28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一辈子、以来、坚决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4050" y="530225"/>
            <a:ext cx="629920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父母以前住在哪儿？他们有什么样的习惯？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0914" y="1208405"/>
            <a:ext cx="11422743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去年，在我和妻子的努力下，我们终于用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打工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挣的钱，在县里买了一套新房。新房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装修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完，父母第一次走进新房时，高兴得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不得了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。妻子提出留一串钥匙给父母，可他们拒绝了。那天，父亲喝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醉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了，等他醒时，天色已晚。我和妻子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强烈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留父母在新房住一夜，第二天再回，但他们仍坚持坐上了最后一趟回老家的车。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344930" y="5603184"/>
            <a:ext cx="10335895" cy="6625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 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</a:t>
            </a:r>
            <a:r>
              <a:rPr lang="zh-CN" altLang="en-US" sz="28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打工、装修、不得了、醉、强烈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8660" y="511175"/>
            <a:ext cx="918527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“我”和妻子什么时候在县里买了新房？这时候父母的心情如何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 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1155" y="1208405"/>
            <a:ext cx="11507016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一段时间后，我和妻子又准备去外地打工，新房只能上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锁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空着。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临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走那天，父亲从老家赶来送我们。父亲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悄悄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把我拉到一边说：“你妈说了，你还是留一串新房的钥匙给我们，要是我和你妈什么时候想来了，就来住上几天，顺便给你们晒晒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被子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，打扫打扫卫生。”父亲说这话时，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轻声细语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，还红着脸，像个害羞的孩子。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轻声细语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”是什么意思？</a:t>
            </a: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      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小声说话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：锁、临、悄悄、被子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0010" y="410210"/>
            <a:ext cx="686816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我们去外地打工的时候，父母提出了</a:t>
            </a:r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什么要求？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8663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1155" y="1208405"/>
            <a:ext cx="11507016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转眼又是半年，我们回家时是一个深冬的夜里。下了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长途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车，儿子被冻得大哭。我和妻子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想象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着打开家门满是灰尘、冷冷清清的景象，觉得心里发寒。来到楼下，抬头一看，却发现自家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亮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着灯光。上了楼，开门的竟是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微笑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着的父母，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温暖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的气息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立刻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扑面而来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：室内打扫得干干净净，暖气开着，水已温热，卧室床上的被子已铺好，厨房里飘来阵阵饭菜香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......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410016"/>
            <a:ext cx="11169650" cy="11350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扑面而来</a:t>
            </a:r>
            <a:r>
              <a:rPr 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”是什么意思？</a:t>
            </a:r>
            <a:endParaRPr lang="es-ES_tradnl" sz="24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：长途、想象、亮、微笑、温暖、立刻、流泪</a:t>
            </a:r>
            <a:endParaRPr lang="zh-CN" altLang="en-US" sz="24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6375" y="284480"/>
            <a:ext cx="74339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回来的时候，“我”想象的情况是什么样的？</a:t>
            </a:r>
          </a:p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实际的情况是什么样的？</a:t>
            </a:r>
          </a:p>
          <a:p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237369" y="-22225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1714" y="1473785"/>
            <a:ext cx="11248571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父亲说：“你妈昨天接到电话，知道你们今晚回来，今天来新房忙了一天了。”原来父母要我留下串钥匙，只是为了让我们回来时，能立刻感受到家的温暖！我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鼻子一酸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流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下了热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泪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……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10473780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1.在这里，“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鼻子一酸</a:t>
            </a: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”是什么意思？  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要流眼泪前的征兆</a:t>
            </a:r>
            <a:endParaRPr lang="en-US" altLang="zh-CN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在你的文化里，父母会不会这样做呢？如果做了，你怎么想？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24200" y="450850"/>
            <a:ext cx="521716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父母为什么要我们留下一串钥匙？</a:t>
            </a:r>
          </a:p>
          <a:p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104265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复述</a:t>
            </a: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" name="图片 2" descr="截屏2025-02-25 下午9.01.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875" y="1759585"/>
            <a:ext cx="8456295" cy="48279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拓展</a:t>
            </a: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" name="图片 2" descr="截屏2025-02-25 下午9.03.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870" y="1973580"/>
            <a:ext cx="9218930" cy="45446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716010" y="4921885"/>
            <a:ext cx="642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舅舅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36290" y="5290185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坦率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71365" y="5658485"/>
            <a:ext cx="69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小气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393940" y="6026785"/>
            <a:ext cx="89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周到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7" grpId="0"/>
      <p:bldP spid="7" grpId="1"/>
      <p:bldP spid="13" grpId="0"/>
      <p:bldP spid="13" grpId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20140" y="90805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sz="4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67865" y="4391025"/>
            <a:ext cx="8741496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4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请以“最深的爱”为题写一段话。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4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尽量用上本课所学的生词，字数不少于100字。</a:t>
            </a:r>
            <a:endParaRPr lang="zh-CN" altLang="en-US" sz="3200" b="1" dirty="0">
              <a:blipFill dpi="0" rotWithShape="1">
                <a:blip r:embed="rId4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 3" descr="截屏2025-02-25 下午9.08.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415" y="1154430"/>
            <a:ext cx="9246235" cy="540829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第二课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1587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  <p:tag name="KSO_WPP_MARK_KEY" val="eda61805-710b-4b60-85bc-f409893eca0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0799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0799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4655</Words>
  <Application>Microsoft Office PowerPoint</Application>
  <PresentationFormat>Widescreen</PresentationFormat>
  <Paragraphs>617</Paragraphs>
  <Slides>77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3" baseType="lpstr">
      <vt:lpstr>GB Pinyinok-D</vt:lpstr>
      <vt:lpstr>HelveticaExt-Normal</vt:lpstr>
      <vt:lpstr>微软雅黑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Hằng Cò</cp:lastModifiedBy>
  <cp:revision>194</cp:revision>
  <dcterms:created xsi:type="dcterms:W3CDTF">2025-02-25T15:22:12Z</dcterms:created>
  <dcterms:modified xsi:type="dcterms:W3CDTF">2025-06-21T04:15:46Z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19B9A8391478437DAB39BCBB8332D23A</vt:lpwstr>
  </property>
</Properties>
</file>