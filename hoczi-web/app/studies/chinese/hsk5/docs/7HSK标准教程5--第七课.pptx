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3.xml" ContentType="application/vnd.openxmlformats-officedocument.presentationml.notesSlide+xml"/>
  <Override PartName="/ppt/tags/tag184.xml" ContentType="application/vnd.openxmlformats-officedocument.presentationml.tags+xml"/>
  <Override PartName="/ppt/notesSlides/notesSlide4.xml" ContentType="application/vnd.openxmlformats-officedocument.presentationml.notesSlide+xml"/>
  <Override PartName="/ppt/tags/tag185.xml" ContentType="application/vnd.openxmlformats-officedocument.presentationml.tags+xml"/>
  <Override PartName="/ppt/notesSlides/notesSlide5.xml" ContentType="application/vnd.openxmlformats-officedocument.presentationml.notesSlide+xml"/>
  <Override PartName="/ppt/tags/tag186.xml" ContentType="application/vnd.openxmlformats-officedocument.presentationml.tags+xml"/>
  <Override PartName="/ppt/notesSlides/notesSlide6.xml" ContentType="application/vnd.openxmlformats-officedocument.presentationml.notesSlide+xml"/>
  <Override PartName="/ppt/tags/tag187.xml" ContentType="application/vnd.openxmlformats-officedocument.presentationml.tags+xml"/>
  <Override PartName="/ppt/notesSlides/notesSlide7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8.xml" ContentType="application/vnd.openxmlformats-officedocument.presentationml.notesSlide+xml"/>
  <Override PartName="/ppt/tags/tag195.xml" ContentType="application/vnd.openxmlformats-officedocument.presentationml.tags+xml"/>
  <Override PartName="/ppt/notesSlides/notesSlide9.xml" ContentType="application/vnd.openxmlformats-officedocument.presentationml.notesSlide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notesSlides/notesSlide10.xml" ContentType="application/vnd.openxmlformats-officedocument.presentationml.notesSlide+xml"/>
  <Override PartName="/ppt/tags/tag313.xml" ContentType="application/vnd.openxmlformats-officedocument.presentationml.tags+xml"/>
  <Override PartName="/ppt/notesSlides/notesSlide11.xml" ContentType="application/vnd.openxmlformats-officedocument.presentationml.notesSlide+xml"/>
  <Override PartName="/ppt/tags/tag314.xml" ContentType="application/vnd.openxmlformats-officedocument.presentationml.tags+xml"/>
  <Override PartName="/ppt/notesSlides/notesSlide12.xml" ContentType="application/vnd.openxmlformats-officedocument.presentationml.notesSlide+xml"/>
  <Override PartName="/ppt/tags/tag315.xml" ContentType="application/vnd.openxmlformats-officedocument.presentationml.tags+xml"/>
  <Override PartName="/ppt/notesSlides/notesSlide13.xml" ContentType="application/vnd.openxmlformats-officedocument.presentationml.notesSlide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notesSlides/notesSlide14.xml" ContentType="application/vnd.openxmlformats-officedocument.presentationml.notesSlide+xml"/>
  <Override PartName="/ppt/tags/tag345.xml" ContentType="application/vnd.openxmlformats-officedocument.presentationml.tags+xml"/>
  <Override PartName="/ppt/notesSlides/notesSlide15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notesSlides/notesSlide20.xml" ContentType="application/vnd.openxmlformats-officedocument.presentationml.notesSlide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notesSlides/notesSlide21.xml" ContentType="application/vnd.openxmlformats-officedocument.presentationml.notesSlide+xml"/>
  <Override PartName="/ppt/tags/tag482.xml" ContentType="application/vnd.openxmlformats-officedocument.presentationml.tags+xml"/>
  <Override PartName="/ppt/notesSlides/notesSlide22.xml" ContentType="application/vnd.openxmlformats-officedocument.presentationml.notesSlide+xml"/>
  <Override PartName="/ppt/tags/tag483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484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225" r:id="rId2"/>
    <p:sldId id="2226" r:id="rId3"/>
    <p:sldId id="2227" r:id="rId4"/>
    <p:sldId id="2228" r:id="rId5"/>
    <p:sldId id="2229" r:id="rId6"/>
    <p:sldId id="2230" r:id="rId7"/>
    <p:sldId id="2231" r:id="rId8"/>
    <p:sldId id="2232" r:id="rId9"/>
    <p:sldId id="2289" r:id="rId10"/>
    <p:sldId id="2290" r:id="rId11"/>
    <p:sldId id="2291" r:id="rId12"/>
    <p:sldId id="2292" r:id="rId13"/>
    <p:sldId id="2233" r:id="rId14"/>
    <p:sldId id="2234" r:id="rId15"/>
    <p:sldId id="2235" r:id="rId16"/>
    <p:sldId id="2236" r:id="rId17"/>
    <p:sldId id="2237" r:id="rId18"/>
    <p:sldId id="2238" r:id="rId19"/>
    <p:sldId id="2239" r:id="rId20"/>
    <p:sldId id="2240" r:id="rId21"/>
    <p:sldId id="2241" r:id="rId22"/>
    <p:sldId id="2242" r:id="rId23"/>
    <p:sldId id="2243" r:id="rId24"/>
    <p:sldId id="2244" r:id="rId25"/>
    <p:sldId id="2245" r:id="rId26"/>
    <p:sldId id="2293" r:id="rId27"/>
    <p:sldId id="2294" r:id="rId28"/>
    <p:sldId id="2295" r:id="rId29"/>
    <p:sldId id="2246" r:id="rId30"/>
    <p:sldId id="2247" r:id="rId31"/>
    <p:sldId id="2248" r:id="rId32"/>
    <p:sldId id="2249" r:id="rId33"/>
    <p:sldId id="2250" r:id="rId34"/>
    <p:sldId id="2251" r:id="rId35"/>
    <p:sldId id="2252" r:id="rId36"/>
    <p:sldId id="2253" r:id="rId37"/>
    <p:sldId id="2254" r:id="rId38"/>
    <p:sldId id="2255" r:id="rId39"/>
    <p:sldId id="2256" r:id="rId40"/>
    <p:sldId id="2257" r:id="rId41"/>
    <p:sldId id="2258" r:id="rId42"/>
    <p:sldId id="2259" r:id="rId43"/>
    <p:sldId id="2260" r:id="rId44"/>
    <p:sldId id="2261" r:id="rId45"/>
    <p:sldId id="2262" r:id="rId46"/>
    <p:sldId id="2263" r:id="rId47"/>
    <p:sldId id="2264" r:id="rId48"/>
    <p:sldId id="2265" r:id="rId49"/>
    <p:sldId id="2266" r:id="rId50"/>
    <p:sldId id="2267" r:id="rId51"/>
    <p:sldId id="2268" r:id="rId52"/>
    <p:sldId id="2269" r:id="rId53"/>
    <p:sldId id="2270" r:id="rId54"/>
    <p:sldId id="2271" r:id="rId55"/>
    <p:sldId id="2272" r:id="rId56"/>
    <p:sldId id="2273" r:id="rId57"/>
    <p:sldId id="2274" r:id="rId58"/>
    <p:sldId id="2275" r:id="rId59"/>
    <p:sldId id="2276" r:id="rId60"/>
    <p:sldId id="2277" r:id="rId61"/>
    <p:sldId id="2278" r:id="rId62"/>
    <p:sldId id="2296" r:id="rId63"/>
    <p:sldId id="2279" r:id="rId64"/>
    <p:sldId id="2280" r:id="rId65"/>
    <p:sldId id="2281" r:id="rId66"/>
    <p:sldId id="2282" r:id="rId67"/>
    <p:sldId id="2283" r:id="rId68"/>
    <p:sldId id="2284" r:id="rId69"/>
    <p:sldId id="2285" r:id="rId70"/>
    <p:sldId id="2286" r:id="rId71"/>
    <p:sldId id="2287" r:id="rId72"/>
    <p:sldId id="2288" r:id="rId73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8" name="Administrator" initials="A" lastIdx="1" clrIdx="8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72"/>
      </p:cViewPr>
      <p:guideLst>
        <p:guide orient="horz" pos="2160"/>
        <p:guide pos="39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2025/7/17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5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6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6" Type="http://schemas.openxmlformats.org/officeDocument/2006/relationships/image" Target="../media/image15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4.xml"/><Relationship Id="rId6" Type="http://schemas.openxmlformats.org/officeDocument/2006/relationships/image" Target="../media/image18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5.xml"/><Relationship Id="rId6" Type="http://schemas.openxmlformats.org/officeDocument/2006/relationships/image" Target="../media/image20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6.xml"/><Relationship Id="rId6" Type="http://schemas.openxmlformats.org/officeDocument/2006/relationships/image" Target="../media/image22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7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9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0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1.xml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2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3.xml"/><Relationship Id="rId5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audio" Target="../media/media1.wav"/><Relationship Id="rId7" Type="http://schemas.openxmlformats.org/officeDocument/2006/relationships/image" Target="../media/image34.png"/><Relationship Id="rId2" Type="http://schemas.microsoft.com/office/2007/relationships/media" Target="../media/media1.wav"/><Relationship Id="rId1" Type="http://schemas.openxmlformats.org/officeDocument/2006/relationships/tags" Target="../tags/tag194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5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tags" Target="../tags/tag221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16.xml"/><Relationship Id="rId42" Type="http://schemas.openxmlformats.org/officeDocument/2006/relationships/tags" Target="../tags/tag237.xml"/><Relationship Id="rId47" Type="http://schemas.openxmlformats.org/officeDocument/2006/relationships/tags" Target="../tags/tag242.xml"/><Relationship Id="rId63" Type="http://schemas.openxmlformats.org/officeDocument/2006/relationships/tags" Target="../tags/tag258.xml"/><Relationship Id="rId68" Type="http://schemas.openxmlformats.org/officeDocument/2006/relationships/tags" Target="../tags/tag263.xml"/><Relationship Id="rId84" Type="http://schemas.openxmlformats.org/officeDocument/2006/relationships/tags" Target="../tags/tag279.xml"/><Relationship Id="rId89" Type="http://schemas.openxmlformats.org/officeDocument/2006/relationships/tags" Target="../tags/tag284.xml"/><Relationship Id="rId112" Type="http://schemas.openxmlformats.org/officeDocument/2006/relationships/tags" Target="../tags/tag307.xml"/><Relationship Id="rId16" Type="http://schemas.openxmlformats.org/officeDocument/2006/relationships/tags" Target="../tags/tag211.xml"/><Relationship Id="rId107" Type="http://schemas.openxmlformats.org/officeDocument/2006/relationships/tags" Target="../tags/tag302.xml"/><Relationship Id="rId11" Type="http://schemas.openxmlformats.org/officeDocument/2006/relationships/tags" Target="../tags/tag206.xml"/><Relationship Id="rId32" Type="http://schemas.openxmlformats.org/officeDocument/2006/relationships/tags" Target="../tags/tag227.xml"/><Relationship Id="rId37" Type="http://schemas.openxmlformats.org/officeDocument/2006/relationships/tags" Target="../tags/tag232.xml"/><Relationship Id="rId53" Type="http://schemas.openxmlformats.org/officeDocument/2006/relationships/tags" Target="../tags/tag248.xml"/><Relationship Id="rId58" Type="http://schemas.openxmlformats.org/officeDocument/2006/relationships/tags" Target="../tags/tag253.xml"/><Relationship Id="rId74" Type="http://schemas.openxmlformats.org/officeDocument/2006/relationships/tags" Target="../tags/tag269.xml"/><Relationship Id="rId79" Type="http://schemas.openxmlformats.org/officeDocument/2006/relationships/tags" Target="../tags/tag274.xml"/><Relationship Id="rId102" Type="http://schemas.openxmlformats.org/officeDocument/2006/relationships/tags" Target="../tags/tag297.xml"/><Relationship Id="rId5" Type="http://schemas.openxmlformats.org/officeDocument/2006/relationships/tags" Target="../tags/tag200.xml"/><Relationship Id="rId90" Type="http://schemas.openxmlformats.org/officeDocument/2006/relationships/tags" Target="../tags/tag285.xml"/><Relationship Id="rId95" Type="http://schemas.openxmlformats.org/officeDocument/2006/relationships/tags" Target="../tags/tag290.xml"/><Relationship Id="rId22" Type="http://schemas.openxmlformats.org/officeDocument/2006/relationships/tags" Target="../tags/tag217.xml"/><Relationship Id="rId27" Type="http://schemas.openxmlformats.org/officeDocument/2006/relationships/tags" Target="../tags/tag222.xml"/><Relationship Id="rId43" Type="http://schemas.openxmlformats.org/officeDocument/2006/relationships/tags" Target="../tags/tag238.xml"/><Relationship Id="rId48" Type="http://schemas.openxmlformats.org/officeDocument/2006/relationships/tags" Target="../tags/tag243.xml"/><Relationship Id="rId64" Type="http://schemas.openxmlformats.org/officeDocument/2006/relationships/tags" Target="../tags/tag259.xml"/><Relationship Id="rId69" Type="http://schemas.openxmlformats.org/officeDocument/2006/relationships/tags" Target="../tags/tag264.xml"/><Relationship Id="rId113" Type="http://schemas.openxmlformats.org/officeDocument/2006/relationships/tags" Target="../tags/tag308.xml"/><Relationship Id="rId118" Type="http://schemas.openxmlformats.org/officeDocument/2006/relationships/image" Target="../media/image5.jpeg"/><Relationship Id="rId80" Type="http://schemas.openxmlformats.org/officeDocument/2006/relationships/tags" Target="../tags/tag275.xml"/><Relationship Id="rId85" Type="http://schemas.openxmlformats.org/officeDocument/2006/relationships/tags" Target="../tags/tag280.xml"/><Relationship Id="rId12" Type="http://schemas.openxmlformats.org/officeDocument/2006/relationships/tags" Target="../tags/tag207.xml"/><Relationship Id="rId17" Type="http://schemas.openxmlformats.org/officeDocument/2006/relationships/tags" Target="../tags/tag212.xml"/><Relationship Id="rId33" Type="http://schemas.openxmlformats.org/officeDocument/2006/relationships/tags" Target="../tags/tag228.xml"/><Relationship Id="rId38" Type="http://schemas.openxmlformats.org/officeDocument/2006/relationships/tags" Target="../tags/tag233.xml"/><Relationship Id="rId59" Type="http://schemas.openxmlformats.org/officeDocument/2006/relationships/tags" Target="../tags/tag254.xml"/><Relationship Id="rId103" Type="http://schemas.openxmlformats.org/officeDocument/2006/relationships/tags" Target="../tags/tag298.xml"/><Relationship Id="rId108" Type="http://schemas.openxmlformats.org/officeDocument/2006/relationships/tags" Target="../tags/tag303.xml"/><Relationship Id="rId54" Type="http://schemas.openxmlformats.org/officeDocument/2006/relationships/tags" Target="../tags/tag249.xml"/><Relationship Id="rId70" Type="http://schemas.openxmlformats.org/officeDocument/2006/relationships/tags" Target="../tags/tag265.xml"/><Relationship Id="rId75" Type="http://schemas.openxmlformats.org/officeDocument/2006/relationships/tags" Target="../tags/tag270.xml"/><Relationship Id="rId91" Type="http://schemas.openxmlformats.org/officeDocument/2006/relationships/tags" Target="../tags/tag286.xml"/><Relationship Id="rId96" Type="http://schemas.openxmlformats.org/officeDocument/2006/relationships/tags" Target="../tags/tag291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23" Type="http://schemas.openxmlformats.org/officeDocument/2006/relationships/tags" Target="../tags/tag218.xml"/><Relationship Id="rId28" Type="http://schemas.openxmlformats.org/officeDocument/2006/relationships/tags" Target="../tags/tag223.xml"/><Relationship Id="rId49" Type="http://schemas.openxmlformats.org/officeDocument/2006/relationships/tags" Target="../tags/tag244.xml"/><Relationship Id="rId114" Type="http://schemas.openxmlformats.org/officeDocument/2006/relationships/tags" Target="../tags/tag309.xml"/><Relationship Id="rId119" Type="http://schemas.openxmlformats.org/officeDocument/2006/relationships/image" Target="../media/image6.png"/><Relationship Id="rId10" Type="http://schemas.openxmlformats.org/officeDocument/2006/relationships/tags" Target="../tags/tag205.xml"/><Relationship Id="rId31" Type="http://schemas.openxmlformats.org/officeDocument/2006/relationships/tags" Target="../tags/tag226.xml"/><Relationship Id="rId44" Type="http://schemas.openxmlformats.org/officeDocument/2006/relationships/tags" Target="../tags/tag239.xml"/><Relationship Id="rId52" Type="http://schemas.openxmlformats.org/officeDocument/2006/relationships/tags" Target="../tags/tag247.xml"/><Relationship Id="rId60" Type="http://schemas.openxmlformats.org/officeDocument/2006/relationships/tags" Target="../tags/tag255.xml"/><Relationship Id="rId65" Type="http://schemas.openxmlformats.org/officeDocument/2006/relationships/tags" Target="../tags/tag260.xml"/><Relationship Id="rId73" Type="http://schemas.openxmlformats.org/officeDocument/2006/relationships/tags" Target="../tags/tag268.xml"/><Relationship Id="rId78" Type="http://schemas.openxmlformats.org/officeDocument/2006/relationships/tags" Target="../tags/tag273.xml"/><Relationship Id="rId81" Type="http://schemas.openxmlformats.org/officeDocument/2006/relationships/tags" Target="../tags/tag276.xml"/><Relationship Id="rId86" Type="http://schemas.openxmlformats.org/officeDocument/2006/relationships/tags" Target="../tags/tag281.xml"/><Relationship Id="rId94" Type="http://schemas.openxmlformats.org/officeDocument/2006/relationships/tags" Target="../tags/tag289.xml"/><Relationship Id="rId99" Type="http://schemas.openxmlformats.org/officeDocument/2006/relationships/tags" Target="../tags/tag294.xml"/><Relationship Id="rId101" Type="http://schemas.openxmlformats.org/officeDocument/2006/relationships/tags" Target="../tags/tag296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3" Type="http://schemas.openxmlformats.org/officeDocument/2006/relationships/tags" Target="../tags/tag208.xml"/><Relationship Id="rId18" Type="http://schemas.openxmlformats.org/officeDocument/2006/relationships/tags" Target="../tags/tag213.xml"/><Relationship Id="rId39" Type="http://schemas.openxmlformats.org/officeDocument/2006/relationships/tags" Target="../tags/tag234.xml"/><Relationship Id="rId109" Type="http://schemas.openxmlformats.org/officeDocument/2006/relationships/tags" Target="../tags/tag304.xml"/><Relationship Id="rId34" Type="http://schemas.openxmlformats.org/officeDocument/2006/relationships/tags" Target="../tags/tag229.xml"/><Relationship Id="rId50" Type="http://schemas.openxmlformats.org/officeDocument/2006/relationships/tags" Target="../tags/tag245.xml"/><Relationship Id="rId55" Type="http://schemas.openxmlformats.org/officeDocument/2006/relationships/tags" Target="../tags/tag250.xml"/><Relationship Id="rId76" Type="http://schemas.openxmlformats.org/officeDocument/2006/relationships/tags" Target="../tags/tag271.xml"/><Relationship Id="rId97" Type="http://schemas.openxmlformats.org/officeDocument/2006/relationships/tags" Target="../tags/tag292.xml"/><Relationship Id="rId104" Type="http://schemas.openxmlformats.org/officeDocument/2006/relationships/tags" Target="../tags/tag299.xml"/><Relationship Id="rId7" Type="http://schemas.openxmlformats.org/officeDocument/2006/relationships/tags" Target="../tags/tag202.xml"/><Relationship Id="rId71" Type="http://schemas.openxmlformats.org/officeDocument/2006/relationships/tags" Target="../tags/tag266.xml"/><Relationship Id="rId92" Type="http://schemas.openxmlformats.org/officeDocument/2006/relationships/tags" Target="../tags/tag287.xml"/><Relationship Id="rId2" Type="http://schemas.openxmlformats.org/officeDocument/2006/relationships/tags" Target="../tags/tag197.xml"/><Relationship Id="rId29" Type="http://schemas.openxmlformats.org/officeDocument/2006/relationships/tags" Target="../tags/tag224.xml"/><Relationship Id="rId24" Type="http://schemas.openxmlformats.org/officeDocument/2006/relationships/tags" Target="../tags/tag219.xml"/><Relationship Id="rId40" Type="http://schemas.openxmlformats.org/officeDocument/2006/relationships/tags" Target="../tags/tag235.xml"/><Relationship Id="rId45" Type="http://schemas.openxmlformats.org/officeDocument/2006/relationships/tags" Target="../tags/tag240.xml"/><Relationship Id="rId66" Type="http://schemas.openxmlformats.org/officeDocument/2006/relationships/tags" Target="../tags/tag261.xml"/><Relationship Id="rId87" Type="http://schemas.openxmlformats.org/officeDocument/2006/relationships/tags" Target="../tags/tag282.xml"/><Relationship Id="rId110" Type="http://schemas.openxmlformats.org/officeDocument/2006/relationships/tags" Target="../tags/tag305.xml"/><Relationship Id="rId115" Type="http://schemas.openxmlformats.org/officeDocument/2006/relationships/tags" Target="../tags/tag310.xml"/><Relationship Id="rId61" Type="http://schemas.openxmlformats.org/officeDocument/2006/relationships/tags" Target="../tags/tag256.xml"/><Relationship Id="rId82" Type="http://schemas.openxmlformats.org/officeDocument/2006/relationships/tags" Target="../tags/tag277.xml"/><Relationship Id="rId19" Type="http://schemas.openxmlformats.org/officeDocument/2006/relationships/tags" Target="../tags/tag214.xml"/><Relationship Id="rId14" Type="http://schemas.openxmlformats.org/officeDocument/2006/relationships/tags" Target="../tags/tag209.xml"/><Relationship Id="rId30" Type="http://schemas.openxmlformats.org/officeDocument/2006/relationships/tags" Target="../tags/tag225.xml"/><Relationship Id="rId35" Type="http://schemas.openxmlformats.org/officeDocument/2006/relationships/tags" Target="../tags/tag230.xml"/><Relationship Id="rId56" Type="http://schemas.openxmlformats.org/officeDocument/2006/relationships/tags" Target="../tags/tag251.xml"/><Relationship Id="rId77" Type="http://schemas.openxmlformats.org/officeDocument/2006/relationships/tags" Target="../tags/tag272.xml"/><Relationship Id="rId100" Type="http://schemas.openxmlformats.org/officeDocument/2006/relationships/tags" Target="../tags/tag295.xml"/><Relationship Id="rId105" Type="http://schemas.openxmlformats.org/officeDocument/2006/relationships/tags" Target="../tags/tag300.xml"/><Relationship Id="rId8" Type="http://schemas.openxmlformats.org/officeDocument/2006/relationships/tags" Target="../tags/tag203.xml"/><Relationship Id="rId51" Type="http://schemas.openxmlformats.org/officeDocument/2006/relationships/tags" Target="../tags/tag246.xml"/><Relationship Id="rId72" Type="http://schemas.openxmlformats.org/officeDocument/2006/relationships/tags" Target="../tags/tag267.xml"/><Relationship Id="rId93" Type="http://schemas.openxmlformats.org/officeDocument/2006/relationships/tags" Target="../tags/tag288.xml"/><Relationship Id="rId98" Type="http://schemas.openxmlformats.org/officeDocument/2006/relationships/tags" Target="../tags/tag293.xml"/><Relationship Id="rId3" Type="http://schemas.openxmlformats.org/officeDocument/2006/relationships/tags" Target="../tags/tag198.xml"/><Relationship Id="rId25" Type="http://schemas.openxmlformats.org/officeDocument/2006/relationships/tags" Target="../tags/tag220.xml"/><Relationship Id="rId46" Type="http://schemas.openxmlformats.org/officeDocument/2006/relationships/tags" Target="../tags/tag241.xml"/><Relationship Id="rId67" Type="http://schemas.openxmlformats.org/officeDocument/2006/relationships/tags" Target="../tags/tag262.xml"/><Relationship Id="rId116" Type="http://schemas.openxmlformats.org/officeDocument/2006/relationships/tags" Target="../tags/tag311.xml"/><Relationship Id="rId20" Type="http://schemas.openxmlformats.org/officeDocument/2006/relationships/tags" Target="../tags/tag215.xml"/><Relationship Id="rId41" Type="http://schemas.openxmlformats.org/officeDocument/2006/relationships/tags" Target="../tags/tag236.xml"/><Relationship Id="rId62" Type="http://schemas.openxmlformats.org/officeDocument/2006/relationships/tags" Target="../tags/tag257.xml"/><Relationship Id="rId83" Type="http://schemas.openxmlformats.org/officeDocument/2006/relationships/tags" Target="../tags/tag278.xml"/><Relationship Id="rId88" Type="http://schemas.openxmlformats.org/officeDocument/2006/relationships/tags" Target="../tags/tag283.xml"/><Relationship Id="rId111" Type="http://schemas.openxmlformats.org/officeDocument/2006/relationships/tags" Target="../tags/tag306.xml"/><Relationship Id="rId15" Type="http://schemas.openxmlformats.org/officeDocument/2006/relationships/tags" Target="../tags/tag210.xml"/><Relationship Id="rId36" Type="http://schemas.openxmlformats.org/officeDocument/2006/relationships/tags" Target="../tags/tag231.xml"/><Relationship Id="rId57" Type="http://schemas.openxmlformats.org/officeDocument/2006/relationships/tags" Target="../tags/tag252.xml"/><Relationship Id="rId106" Type="http://schemas.openxmlformats.org/officeDocument/2006/relationships/tags" Target="../tags/tag30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3.xml"/><Relationship Id="rId6" Type="http://schemas.openxmlformats.org/officeDocument/2006/relationships/image" Target="../media/image38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4.xml"/><Relationship Id="rId6" Type="http://schemas.openxmlformats.org/officeDocument/2006/relationships/image" Target="../media/image39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5.xml"/><Relationship Id="rId6" Type="http://schemas.openxmlformats.org/officeDocument/2006/relationships/image" Target="../media/image41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6.xml"/><Relationship Id="rId5" Type="http://schemas.openxmlformats.org/officeDocument/2006/relationships/image" Target="../media/image26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7.xml"/><Relationship Id="rId5" Type="http://schemas.openxmlformats.org/officeDocument/2006/relationships/image" Target="../media/image26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8.xml"/><Relationship Id="rId6" Type="http://schemas.openxmlformats.org/officeDocument/2006/relationships/image" Target="../media/image46.png"/><Relationship Id="rId5" Type="http://schemas.openxmlformats.org/officeDocument/2006/relationships/image" Target="../media/image2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9.xml"/><Relationship Id="rId6" Type="http://schemas.openxmlformats.org/officeDocument/2006/relationships/image" Target="../media/image48.png"/><Relationship Id="rId5" Type="http://schemas.openxmlformats.org/officeDocument/2006/relationships/image" Target="../media/image26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22.xml"/><Relationship Id="rId7" Type="http://schemas.openxmlformats.org/officeDocument/2006/relationships/image" Target="../media/image50.png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1.jpeg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25.xml"/><Relationship Id="rId7" Type="http://schemas.openxmlformats.org/officeDocument/2006/relationships/image" Target="../media/image50.png"/><Relationship Id="rId2" Type="http://schemas.openxmlformats.org/officeDocument/2006/relationships/tags" Target="../tags/tag324.xml"/><Relationship Id="rId1" Type="http://schemas.openxmlformats.org/officeDocument/2006/relationships/tags" Target="../tags/tag323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3.jpeg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28.xml"/><Relationship Id="rId7" Type="http://schemas.openxmlformats.org/officeDocument/2006/relationships/image" Target="../media/image50.png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31.xml"/><Relationship Id="rId7" Type="http://schemas.openxmlformats.org/officeDocument/2006/relationships/image" Target="../media/image50.png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34.xml"/><Relationship Id="rId7" Type="http://schemas.openxmlformats.org/officeDocument/2006/relationships/image" Target="../media/image50.png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37.xml"/><Relationship Id="rId7" Type="http://schemas.openxmlformats.org/officeDocument/2006/relationships/image" Target="../media/image50.png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40.xml"/><Relationship Id="rId7" Type="http://schemas.openxmlformats.org/officeDocument/2006/relationships/image" Target="../media/image50.png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43.xml"/><Relationship Id="rId7" Type="http://schemas.openxmlformats.org/officeDocument/2006/relationships/image" Target="../media/image50.png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4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5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6.xml"/><Relationship Id="rId6" Type="http://schemas.openxmlformats.org/officeDocument/2006/relationships/image" Target="../media/image26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2.png"/><Relationship Id="rId2" Type="http://schemas.openxmlformats.org/officeDocument/2006/relationships/tags" Target="../tags/tag348.xml"/><Relationship Id="rId1" Type="http://schemas.openxmlformats.org/officeDocument/2006/relationships/tags" Target="../tags/tag347.xml"/><Relationship Id="rId6" Type="http://schemas.openxmlformats.org/officeDocument/2006/relationships/image" Target="../media/image6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6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26" Type="http://schemas.openxmlformats.org/officeDocument/2006/relationships/tags" Target="../tags/tag374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69.xml"/><Relationship Id="rId42" Type="http://schemas.openxmlformats.org/officeDocument/2006/relationships/tags" Target="../tags/tag390.xml"/><Relationship Id="rId47" Type="http://schemas.openxmlformats.org/officeDocument/2006/relationships/tags" Target="../tags/tag395.xml"/><Relationship Id="rId63" Type="http://schemas.openxmlformats.org/officeDocument/2006/relationships/tags" Target="../tags/tag411.xml"/><Relationship Id="rId68" Type="http://schemas.openxmlformats.org/officeDocument/2006/relationships/tags" Target="../tags/tag416.xml"/><Relationship Id="rId84" Type="http://schemas.openxmlformats.org/officeDocument/2006/relationships/tags" Target="../tags/tag432.xml"/><Relationship Id="rId89" Type="http://schemas.openxmlformats.org/officeDocument/2006/relationships/tags" Target="../tags/tag437.xml"/><Relationship Id="rId112" Type="http://schemas.openxmlformats.org/officeDocument/2006/relationships/tags" Target="../tags/tag460.xml"/><Relationship Id="rId16" Type="http://schemas.openxmlformats.org/officeDocument/2006/relationships/tags" Target="../tags/tag364.xml"/><Relationship Id="rId107" Type="http://schemas.openxmlformats.org/officeDocument/2006/relationships/tags" Target="../tags/tag455.xml"/><Relationship Id="rId11" Type="http://schemas.openxmlformats.org/officeDocument/2006/relationships/tags" Target="../tags/tag359.xml"/><Relationship Id="rId32" Type="http://schemas.openxmlformats.org/officeDocument/2006/relationships/tags" Target="../tags/tag380.xml"/><Relationship Id="rId37" Type="http://schemas.openxmlformats.org/officeDocument/2006/relationships/tags" Target="../tags/tag385.xml"/><Relationship Id="rId53" Type="http://schemas.openxmlformats.org/officeDocument/2006/relationships/tags" Target="../tags/tag401.xml"/><Relationship Id="rId58" Type="http://schemas.openxmlformats.org/officeDocument/2006/relationships/tags" Target="../tags/tag406.xml"/><Relationship Id="rId74" Type="http://schemas.openxmlformats.org/officeDocument/2006/relationships/tags" Target="../tags/tag422.xml"/><Relationship Id="rId79" Type="http://schemas.openxmlformats.org/officeDocument/2006/relationships/tags" Target="../tags/tag427.xml"/><Relationship Id="rId102" Type="http://schemas.openxmlformats.org/officeDocument/2006/relationships/tags" Target="../tags/tag450.xml"/><Relationship Id="rId5" Type="http://schemas.openxmlformats.org/officeDocument/2006/relationships/tags" Target="../tags/tag353.xml"/><Relationship Id="rId90" Type="http://schemas.openxmlformats.org/officeDocument/2006/relationships/tags" Target="../tags/tag438.xml"/><Relationship Id="rId95" Type="http://schemas.openxmlformats.org/officeDocument/2006/relationships/tags" Target="../tags/tag443.xml"/><Relationship Id="rId22" Type="http://schemas.openxmlformats.org/officeDocument/2006/relationships/tags" Target="../tags/tag370.xml"/><Relationship Id="rId27" Type="http://schemas.openxmlformats.org/officeDocument/2006/relationships/tags" Target="../tags/tag375.xml"/><Relationship Id="rId43" Type="http://schemas.openxmlformats.org/officeDocument/2006/relationships/tags" Target="../tags/tag391.xml"/><Relationship Id="rId48" Type="http://schemas.openxmlformats.org/officeDocument/2006/relationships/tags" Target="../tags/tag396.xml"/><Relationship Id="rId64" Type="http://schemas.openxmlformats.org/officeDocument/2006/relationships/tags" Target="../tags/tag412.xml"/><Relationship Id="rId69" Type="http://schemas.openxmlformats.org/officeDocument/2006/relationships/tags" Target="../tags/tag417.xml"/><Relationship Id="rId113" Type="http://schemas.openxmlformats.org/officeDocument/2006/relationships/tags" Target="../tags/tag461.xml"/><Relationship Id="rId118" Type="http://schemas.openxmlformats.org/officeDocument/2006/relationships/image" Target="../media/image5.jpeg"/><Relationship Id="rId80" Type="http://schemas.openxmlformats.org/officeDocument/2006/relationships/tags" Target="../tags/tag428.xml"/><Relationship Id="rId85" Type="http://schemas.openxmlformats.org/officeDocument/2006/relationships/tags" Target="../tags/tag433.xml"/><Relationship Id="rId12" Type="http://schemas.openxmlformats.org/officeDocument/2006/relationships/tags" Target="../tags/tag360.xml"/><Relationship Id="rId17" Type="http://schemas.openxmlformats.org/officeDocument/2006/relationships/tags" Target="../tags/tag365.xml"/><Relationship Id="rId33" Type="http://schemas.openxmlformats.org/officeDocument/2006/relationships/tags" Target="../tags/tag381.xml"/><Relationship Id="rId38" Type="http://schemas.openxmlformats.org/officeDocument/2006/relationships/tags" Target="../tags/tag386.xml"/><Relationship Id="rId59" Type="http://schemas.openxmlformats.org/officeDocument/2006/relationships/tags" Target="../tags/tag407.xml"/><Relationship Id="rId103" Type="http://schemas.openxmlformats.org/officeDocument/2006/relationships/tags" Target="../tags/tag451.xml"/><Relationship Id="rId108" Type="http://schemas.openxmlformats.org/officeDocument/2006/relationships/tags" Target="../tags/tag456.xml"/><Relationship Id="rId54" Type="http://schemas.openxmlformats.org/officeDocument/2006/relationships/tags" Target="../tags/tag402.xml"/><Relationship Id="rId70" Type="http://schemas.openxmlformats.org/officeDocument/2006/relationships/tags" Target="../tags/tag418.xml"/><Relationship Id="rId75" Type="http://schemas.openxmlformats.org/officeDocument/2006/relationships/tags" Target="../tags/tag423.xml"/><Relationship Id="rId91" Type="http://schemas.openxmlformats.org/officeDocument/2006/relationships/tags" Target="../tags/tag439.xml"/><Relationship Id="rId96" Type="http://schemas.openxmlformats.org/officeDocument/2006/relationships/tags" Target="../tags/tag444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23" Type="http://schemas.openxmlformats.org/officeDocument/2006/relationships/tags" Target="../tags/tag371.xml"/><Relationship Id="rId28" Type="http://schemas.openxmlformats.org/officeDocument/2006/relationships/tags" Target="../tags/tag376.xml"/><Relationship Id="rId49" Type="http://schemas.openxmlformats.org/officeDocument/2006/relationships/tags" Target="../tags/tag397.xml"/><Relationship Id="rId114" Type="http://schemas.openxmlformats.org/officeDocument/2006/relationships/tags" Target="../tags/tag462.xml"/><Relationship Id="rId119" Type="http://schemas.openxmlformats.org/officeDocument/2006/relationships/image" Target="../media/image6.png"/><Relationship Id="rId10" Type="http://schemas.openxmlformats.org/officeDocument/2006/relationships/tags" Target="../tags/tag358.xml"/><Relationship Id="rId31" Type="http://schemas.openxmlformats.org/officeDocument/2006/relationships/tags" Target="../tags/tag379.xml"/><Relationship Id="rId44" Type="http://schemas.openxmlformats.org/officeDocument/2006/relationships/tags" Target="../tags/tag392.xml"/><Relationship Id="rId52" Type="http://schemas.openxmlformats.org/officeDocument/2006/relationships/tags" Target="../tags/tag400.xml"/><Relationship Id="rId60" Type="http://schemas.openxmlformats.org/officeDocument/2006/relationships/tags" Target="../tags/tag408.xml"/><Relationship Id="rId65" Type="http://schemas.openxmlformats.org/officeDocument/2006/relationships/tags" Target="../tags/tag413.xml"/><Relationship Id="rId73" Type="http://schemas.openxmlformats.org/officeDocument/2006/relationships/tags" Target="../tags/tag421.xml"/><Relationship Id="rId78" Type="http://schemas.openxmlformats.org/officeDocument/2006/relationships/tags" Target="../tags/tag426.xml"/><Relationship Id="rId81" Type="http://schemas.openxmlformats.org/officeDocument/2006/relationships/tags" Target="../tags/tag429.xml"/><Relationship Id="rId86" Type="http://schemas.openxmlformats.org/officeDocument/2006/relationships/tags" Target="../tags/tag434.xml"/><Relationship Id="rId94" Type="http://schemas.openxmlformats.org/officeDocument/2006/relationships/tags" Target="../tags/tag442.xml"/><Relationship Id="rId99" Type="http://schemas.openxmlformats.org/officeDocument/2006/relationships/tags" Target="../tags/tag447.xml"/><Relationship Id="rId101" Type="http://schemas.openxmlformats.org/officeDocument/2006/relationships/tags" Target="../tags/tag449.xml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3" Type="http://schemas.openxmlformats.org/officeDocument/2006/relationships/tags" Target="../tags/tag361.xml"/><Relationship Id="rId18" Type="http://schemas.openxmlformats.org/officeDocument/2006/relationships/tags" Target="../tags/tag366.xml"/><Relationship Id="rId39" Type="http://schemas.openxmlformats.org/officeDocument/2006/relationships/tags" Target="../tags/tag387.xml"/><Relationship Id="rId109" Type="http://schemas.openxmlformats.org/officeDocument/2006/relationships/tags" Target="../tags/tag457.xml"/><Relationship Id="rId34" Type="http://schemas.openxmlformats.org/officeDocument/2006/relationships/tags" Target="../tags/tag382.xml"/><Relationship Id="rId50" Type="http://schemas.openxmlformats.org/officeDocument/2006/relationships/tags" Target="../tags/tag398.xml"/><Relationship Id="rId55" Type="http://schemas.openxmlformats.org/officeDocument/2006/relationships/tags" Target="../tags/tag403.xml"/><Relationship Id="rId76" Type="http://schemas.openxmlformats.org/officeDocument/2006/relationships/tags" Target="../tags/tag424.xml"/><Relationship Id="rId97" Type="http://schemas.openxmlformats.org/officeDocument/2006/relationships/tags" Target="../tags/tag445.xml"/><Relationship Id="rId104" Type="http://schemas.openxmlformats.org/officeDocument/2006/relationships/tags" Target="../tags/tag452.xml"/><Relationship Id="rId7" Type="http://schemas.openxmlformats.org/officeDocument/2006/relationships/tags" Target="../tags/tag355.xml"/><Relationship Id="rId71" Type="http://schemas.openxmlformats.org/officeDocument/2006/relationships/tags" Target="../tags/tag419.xml"/><Relationship Id="rId92" Type="http://schemas.openxmlformats.org/officeDocument/2006/relationships/tags" Target="../tags/tag440.xml"/><Relationship Id="rId2" Type="http://schemas.openxmlformats.org/officeDocument/2006/relationships/tags" Target="../tags/tag350.xml"/><Relationship Id="rId29" Type="http://schemas.openxmlformats.org/officeDocument/2006/relationships/tags" Target="../tags/tag377.xml"/><Relationship Id="rId24" Type="http://schemas.openxmlformats.org/officeDocument/2006/relationships/tags" Target="../tags/tag372.xml"/><Relationship Id="rId40" Type="http://schemas.openxmlformats.org/officeDocument/2006/relationships/tags" Target="../tags/tag388.xml"/><Relationship Id="rId45" Type="http://schemas.openxmlformats.org/officeDocument/2006/relationships/tags" Target="../tags/tag393.xml"/><Relationship Id="rId66" Type="http://schemas.openxmlformats.org/officeDocument/2006/relationships/tags" Target="../tags/tag414.xml"/><Relationship Id="rId87" Type="http://schemas.openxmlformats.org/officeDocument/2006/relationships/tags" Target="../tags/tag435.xml"/><Relationship Id="rId110" Type="http://schemas.openxmlformats.org/officeDocument/2006/relationships/tags" Target="../tags/tag458.xml"/><Relationship Id="rId115" Type="http://schemas.openxmlformats.org/officeDocument/2006/relationships/tags" Target="../tags/tag463.xml"/><Relationship Id="rId61" Type="http://schemas.openxmlformats.org/officeDocument/2006/relationships/tags" Target="../tags/tag409.xml"/><Relationship Id="rId82" Type="http://schemas.openxmlformats.org/officeDocument/2006/relationships/tags" Target="../tags/tag430.xml"/><Relationship Id="rId19" Type="http://schemas.openxmlformats.org/officeDocument/2006/relationships/tags" Target="../tags/tag367.xml"/><Relationship Id="rId14" Type="http://schemas.openxmlformats.org/officeDocument/2006/relationships/tags" Target="../tags/tag362.xml"/><Relationship Id="rId30" Type="http://schemas.openxmlformats.org/officeDocument/2006/relationships/tags" Target="../tags/tag378.xml"/><Relationship Id="rId35" Type="http://schemas.openxmlformats.org/officeDocument/2006/relationships/tags" Target="../tags/tag383.xml"/><Relationship Id="rId56" Type="http://schemas.openxmlformats.org/officeDocument/2006/relationships/tags" Target="../tags/tag404.xml"/><Relationship Id="rId77" Type="http://schemas.openxmlformats.org/officeDocument/2006/relationships/tags" Target="../tags/tag425.xml"/><Relationship Id="rId100" Type="http://schemas.openxmlformats.org/officeDocument/2006/relationships/tags" Target="../tags/tag448.xml"/><Relationship Id="rId105" Type="http://schemas.openxmlformats.org/officeDocument/2006/relationships/tags" Target="../tags/tag453.xml"/><Relationship Id="rId8" Type="http://schemas.openxmlformats.org/officeDocument/2006/relationships/tags" Target="../tags/tag356.xml"/><Relationship Id="rId51" Type="http://schemas.openxmlformats.org/officeDocument/2006/relationships/tags" Target="../tags/tag399.xml"/><Relationship Id="rId72" Type="http://schemas.openxmlformats.org/officeDocument/2006/relationships/tags" Target="../tags/tag420.xml"/><Relationship Id="rId93" Type="http://schemas.openxmlformats.org/officeDocument/2006/relationships/tags" Target="../tags/tag441.xml"/><Relationship Id="rId98" Type="http://schemas.openxmlformats.org/officeDocument/2006/relationships/tags" Target="../tags/tag446.xml"/><Relationship Id="rId3" Type="http://schemas.openxmlformats.org/officeDocument/2006/relationships/tags" Target="../tags/tag351.xml"/><Relationship Id="rId25" Type="http://schemas.openxmlformats.org/officeDocument/2006/relationships/tags" Target="../tags/tag373.xml"/><Relationship Id="rId46" Type="http://schemas.openxmlformats.org/officeDocument/2006/relationships/tags" Target="../tags/tag394.xml"/><Relationship Id="rId67" Type="http://schemas.openxmlformats.org/officeDocument/2006/relationships/tags" Target="../tags/tag415.xml"/><Relationship Id="rId116" Type="http://schemas.openxmlformats.org/officeDocument/2006/relationships/tags" Target="../tags/tag464.xml"/><Relationship Id="rId20" Type="http://schemas.openxmlformats.org/officeDocument/2006/relationships/tags" Target="../tags/tag368.xml"/><Relationship Id="rId41" Type="http://schemas.openxmlformats.org/officeDocument/2006/relationships/tags" Target="../tags/tag389.xml"/><Relationship Id="rId62" Type="http://schemas.openxmlformats.org/officeDocument/2006/relationships/tags" Target="../tags/tag410.xml"/><Relationship Id="rId83" Type="http://schemas.openxmlformats.org/officeDocument/2006/relationships/tags" Target="../tags/tag431.xml"/><Relationship Id="rId88" Type="http://schemas.openxmlformats.org/officeDocument/2006/relationships/tags" Target="../tags/tag436.xml"/><Relationship Id="rId111" Type="http://schemas.openxmlformats.org/officeDocument/2006/relationships/tags" Target="../tags/tag459.xml"/><Relationship Id="rId15" Type="http://schemas.openxmlformats.org/officeDocument/2006/relationships/tags" Target="../tags/tag363.xml"/><Relationship Id="rId36" Type="http://schemas.openxmlformats.org/officeDocument/2006/relationships/tags" Target="../tags/tag384.xml"/><Relationship Id="rId57" Type="http://schemas.openxmlformats.org/officeDocument/2006/relationships/tags" Target="../tags/tag405.xml"/><Relationship Id="rId106" Type="http://schemas.openxmlformats.org/officeDocument/2006/relationships/tags" Target="../tags/tag4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5.xml"/><Relationship Id="rId5" Type="http://schemas.openxmlformats.org/officeDocument/2006/relationships/image" Target="../media/image46.png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468.xml"/><Relationship Id="rId7" Type="http://schemas.openxmlformats.org/officeDocument/2006/relationships/image" Target="../media/image50.png"/><Relationship Id="rId2" Type="http://schemas.openxmlformats.org/officeDocument/2006/relationships/tags" Target="../tags/tag467.xml"/><Relationship Id="rId1" Type="http://schemas.openxmlformats.org/officeDocument/2006/relationships/tags" Target="../tags/tag466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471.xml"/><Relationship Id="rId7" Type="http://schemas.openxmlformats.org/officeDocument/2006/relationships/image" Target="../media/image50.png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68.jpeg"/></Relationships>
</file>

<file path=ppt/slides/_rels/slide5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474.xml"/><Relationship Id="rId7" Type="http://schemas.openxmlformats.org/officeDocument/2006/relationships/image" Target="../media/image50.png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69.jpeg"/></Relationships>
</file>

<file path=ppt/slides/_rels/slide5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477.xml"/><Relationship Id="rId7" Type="http://schemas.openxmlformats.org/officeDocument/2006/relationships/image" Target="../media/image50.png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480.xml"/><Relationship Id="rId7" Type="http://schemas.openxmlformats.org/officeDocument/2006/relationships/image" Target="../media/image50.png"/><Relationship Id="rId2" Type="http://schemas.openxmlformats.org/officeDocument/2006/relationships/tags" Target="../tags/tag479.xml"/><Relationship Id="rId1" Type="http://schemas.openxmlformats.org/officeDocument/2006/relationships/tags" Target="../tags/tag478.xml"/><Relationship Id="rId6" Type="http://schemas.openxmlformats.org/officeDocument/2006/relationships/image" Target="../media/image49.png"/><Relationship Id="rId11" Type="http://schemas.openxmlformats.org/officeDocument/2006/relationships/image" Target="../media/image1.png"/><Relationship Id="rId5" Type="http://schemas.openxmlformats.org/officeDocument/2006/relationships/audio" Target="../media/audio3.wav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audio" Target="../media/audio1.wav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7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2.xml"/><Relationship Id="rId6" Type="http://schemas.openxmlformats.org/officeDocument/2006/relationships/image" Target="../media/image72.jpe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3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7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4.xml"/><Relationship Id="rId6" Type="http://schemas.openxmlformats.org/officeDocument/2006/relationships/image" Target="../media/image6.png"/><Relationship Id="rId5" Type="http://schemas.openxmlformats.org/officeDocument/2006/relationships/audio" Target="../media/audio1.wav"/><Relationship Id="rId4" Type="http://schemas.openxmlformats.org/officeDocument/2006/relationships/audio" Target="../media/audio4.wav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6.png"/><Relationship Id="rId4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75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4336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51612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63385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主题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395345" y="1673860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成语故事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6125" y="215201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712710" y="2235835"/>
            <a:ext cx="39547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）辨析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忽然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突然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的异同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167380" y="2235835"/>
            <a:ext cx="46405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瞎子、分别、根、便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的意义和用法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167380" y="2687955"/>
            <a:ext cx="80695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3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）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寻找、确定、片面、连续、摸、碎、支、不要紧、反应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等词语的搭配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167380" y="4365625"/>
            <a:ext cx="3840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）理解本课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6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6125" y="517398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167380" y="6102350"/>
            <a:ext cx="85915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）学习“有的放矢”这个成语，讨论做事时态度和目标的关系，并完成命题写作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51612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67380" y="4737100"/>
            <a:ext cx="71551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3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）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扩展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板块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语言文字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类词语的意义和用法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67380" y="5173980"/>
            <a:ext cx="90125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本课包含两个成语故事《盲人摸象》和《精诚所至，金石为开》。要求学生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     </a:t>
            </a: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70585" y="214566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46125" y="3209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7552055" y="214566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167380" y="3251200"/>
            <a:ext cx="859091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成语、则、（大）象、智慧、士兵、牙齿、胡说、尾巴、绳子、平、墙、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940810" y="3622675"/>
            <a:ext cx="78181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扇子、结论、善于、称、蹲、摇、摆、姿势、尽（力）、石头、哎、唉、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944620" y="3994150"/>
            <a:ext cx="66992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金属、硬”等本课其他重点词汇五级大纲词语的意义和用法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738245" y="5554980"/>
            <a:ext cx="784987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阅读理解课文，掌握文章大意，并能运用所学语言、词语点叙述这两个故事。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71755" y="-168275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7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48260" y="-1157922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第七课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8811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7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99870" y="2572634"/>
            <a:ext cx="9661130" cy="2916646"/>
            <a:chOff x="1890" y="4056"/>
            <a:chExt cx="15214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0" y="4056"/>
              <a:ext cx="15214" cy="4593"/>
              <a:chOff x="-100" y="3667"/>
              <a:chExt cx="18920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100" y="3667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7281" y="6525"/>
                  <a:ext cx="10951" cy="902"/>
                  <a:chOff x="9415" y="6525"/>
                  <a:chExt cx="10951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941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7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468" y="6525"/>
                    <a:ext cx="6898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  <a:sym typeface="Helvetica Light" charset="0"/>
                      </a:rPr>
                      <a:t>Two Idiom Stories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7</a:t>
                  </a:r>
                  <a:r>
                    <a:rPr kumimoji="0" lang="zh-CN" alt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</a:t>
                  </a:r>
                  <a:r>
                    <a:rPr lang="zh-CN" altLang="en-US" sz="6000" b="1" noProof="0" dirty="0">
                      <a:ln>
                        <a:noFill/>
                      </a:ln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  <a:sym typeface="Helvetica" pitchFamily="34" charset="0"/>
                    </a:rPr>
                    <a:t>成语故事两则</a:t>
                  </a:r>
                  <a:endParaRPr kumimoji="0" lang="en-US" altLang="zh-CN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2122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Helvetica" pitchFamily="34" charset="0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285990" y="5885815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说出第六课中有关旅游节日的词语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90614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altLang="en-US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名胜古迹、风景、合影、展览、结账、团、时差、国庆节、元旦、除夕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.......</a:t>
            </a:r>
          </a:p>
        </p:txBody>
      </p:sp>
      <p:pic>
        <p:nvPicPr>
          <p:cNvPr id="7" name="图片 6" descr="D:\Desktop\微信图片_20220924225920.jpg微信图片_202209242259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982845" y="2317115"/>
            <a:ext cx="2266315" cy="21513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/>
          <p:cNvSpPr txBox="1"/>
          <p:nvPr/>
        </p:nvSpPr>
        <p:spPr>
          <a:xfrm>
            <a:off x="981710" y="1000760"/>
            <a:ext cx="9422130" cy="2861310"/>
          </a:xfrm>
          <a:prstGeom prst="rect">
            <a:avLst/>
          </a:prstGeom>
          <a:solidFill>
            <a:schemeClr val="bg1"/>
          </a:solidFill>
          <a:ln w="57150">
            <a:solidFill>
              <a:srgbClr val="A80023"/>
            </a:solidFill>
          </a:ln>
        </p:spPr>
        <p:txBody>
          <a:bodyPr wrap="square" rtlCol="0">
            <a:spAutoFit/>
          </a:bodyPr>
          <a:lstStyle/>
          <a:p>
            <a:pPr marL="457200" indent="-457200" algn="l" fontAlgn="auto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rPr>
              <a:t>传说有个叫作“夕”的怪物，经常伤害百姓，大家虽然恨它，但是又很无奈。</a:t>
            </a:r>
          </a:p>
          <a:p>
            <a:pPr marL="457200" indent="-457200" algn="l" fontAlgn="auto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rPr>
              <a:t>七郎暗暗下定决心一定要杀死“夕”，替百姓除掉这个制造灾害的怪物。</a:t>
            </a:r>
          </a:p>
          <a:p>
            <a:pPr marL="457200" indent="-457200" algn="l" fontAlgn="auto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rPr>
              <a:t>天亮前又会逃得连影子都找不着了。</a:t>
            </a:r>
          </a:p>
          <a:p>
            <a:pPr marL="457200" indent="-457200" algn="l" fontAlgn="auto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rPr>
              <a:t>“夕”说不定晚上要出来伤害大家，让大家今晚熬夜等着。</a:t>
            </a:r>
          </a:p>
          <a:p>
            <a:pPr marL="457200" indent="-457200" algn="l" fontAlgn="auto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rPr>
              <a:t>“夕”吓得什么似的，急忙往外逃。</a:t>
            </a:r>
          </a:p>
          <a:p>
            <a:pPr marL="457200" indent="-457200" algn="l" fontAlgn="auto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楷体" panose="02010600040101010101" charset="-122"/>
              </a:rPr>
              <a:t>除掉“夕”以后，百姓纷纷对七郎表达谢意。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4" name="图片 3" descr="D:\Desktop\微信图片_20220924230808.png微信图片_2022092423080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71670" y="4209415"/>
            <a:ext cx="2442210" cy="2451735"/>
          </a:xfrm>
          <a:prstGeom prst="rect">
            <a:avLst/>
          </a:prstGeom>
        </p:spPr>
      </p:pic>
      <p:pic>
        <p:nvPicPr>
          <p:cNvPr id="34" name="图片 33" descr="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555480" y="0"/>
            <a:ext cx="1727835" cy="17278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微信图片_2022092516120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-68580" y="0"/>
            <a:ext cx="12262485" cy="6867525"/>
          </a:xfrm>
          <a:prstGeom prst="rect">
            <a:avLst/>
          </a:prstGeom>
        </p:spPr>
      </p:pic>
      <p:cxnSp>
        <p:nvCxnSpPr>
          <p:cNvPr id="67" name="直接连接符 66"/>
          <p:cNvCxnSpPr/>
          <p:nvPr/>
        </p:nvCxnSpPr>
        <p:spPr>
          <a:xfrm>
            <a:off x="5198726" y="906917"/>
            <a:ext cx="1902460" cy="1659255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4861781" y="2775987"/>
            <a:ext cx="2401570" cy="190246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836977" y="4494943"/>
            <a:ext cx="2214245" cy="159385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4836977" y="787187"/>
            <a:ext cx="2221230" cy="5301615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213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热身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07010" y="702310"/>
            <a:ext cx="9918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Warm-up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矩形: 圆角 53"/>
          <p:cNvSpPr/>
          <p:nvPr/>
        </p:nvSpPr>
        <p:spPr>
          <a:xfrm>
            <a:off x="3195320" y="209359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" name="矩形: 圆角 53"/>
          <p:cNvSpPr/>
          <p:nvPr/>
        </p:nvSpPr>
        <p:spPr>
          <a:xfrm>
            <a:off x="3173095" y="31559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矩形: 圆角 53"/>
          <p:cNvSpPr/>
          <p:nvPr/>
        </p:nvSpPr>
        <p:spPr>
          <a:xfrm>
            <a:off x="3140710" y="554482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矩形: 圆角 53"/>
          <p:cNvSpPr/>
          <p:nvPr/>
        </p:nvSpPr>
        <p:spPr>
          <a:xfrm>
            <a:off x="3108960" y="387159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矩形: 圆角 53"/>
          <p:cNvSpPr/>
          <p:nvPr/>
        </p:nvSpPr>
        <p:spPr>
          <a:xfrm>
            <a:off x="6972935" y="552259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矩形: 圆角 53"/>
          <p:cNvSpPr/>
          <p:nvPr/>
        </p:nvSpPr>
        <p:spPr>
          <a:xfrm>
            <a:off x="6991350" y="374459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1" name="矩形: 圆角 53"/>
          <p:cNvSpPr/>
          <p:nvPr/>
        </p:nvSpPr>
        <p:spPr>
          <a:xfrm>
            <a:off x="6951345" y="209359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矩形: 圆角 53"/>
          <p:cNvSpPr/>
          <p:nvPr/>
        </p:nvSpPr>
        <p:spPr>
          <a:xfrm>
            <a:off x="6991350" y="30988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59295" y="2357755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chū chāi</a:t>
            </a:r>
            <a:endParaRPr lang="en-US" altLang="zh-CN" sz="32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59930" y="579120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wū rǎn</a:t>
            </a:r>
            <a:endParaRPr lang="en-US" altLang="zh-CN" sz="32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50870" y="5716270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污染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08960" y="4145915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牙膏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40075" y="2270760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毛巾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38550" y="548640"/>
            <a:ext cx="1313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>
              <a:buNone/>
            </a:pP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出差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1" name="矩形: 圆角 53"/>
          <p:cNvSpPr/>
          <p:nvPr/>
        </p:nvSpPr>
        <p:spPr>
          <a:xfrm>
            <a:off x="3195320" y="206311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2" name="矩形: 圆角 53"/>
          <p:cNvSpPr/>
          <p:nvPr/>
        </p:nvSpPr>
        <p:spPr>
          <a:xfrm>
            <a:off x="3173095" y="28511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3" name="矩形: 圆角 53"/>
          <p:cNvSpPr/>
          <p:nvPr/>
        </p:nvSpPr>
        <p:spPr>
          <a:xfrm>
            <a:off x="3108960" y="384111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50870" y="5685790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污染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960" y="4115435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牙膏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40075" y="2240280"/>
            <a:ext cx="202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毛巾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638550" y="518160"/>
            <a:ext cx="1313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>
              <a:buNone/>
            </a:pP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出差</a:t>
            </a:r>
            <a:endParaRPr lang="zh-CN" altLang="en-US" sz="3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38" name="矩形: 圆角 53"/>
          <p:cNvSpPr/>
          <p:nvPr/>
        </p:nvSpPr>
        <p:spPr>
          <a:xfrm>
            <a:off x="3172460" y="553275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9" name="矩形: 圆角 53"/>
          <p:cNvSpPr/>
          <p:nvPr/>
        </p:nvSpPr>
        <p:spPr>
          <a:xfrm>
            <a:off x="6983095" y="208153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0" name="矩形: 圆角 53"/>
          <p:cNvSpPr/>
          <p:nvPr/>
        </p:nvSpPr>
        <p:spPr>
          <a:xfrm>
            <a:off x="7023100" y="29781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4" name="矩形: 圆角 53"/>
          <p:cNvSpPr/>
          <p:nvPr/>
        </p:nvSpPr>
        <p:spPr>
          <a:xfrm>
            <a:off x="3227070" y="205105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5" name="矩形: 圆角 53"/>
          <p:cNvSpPr/>
          <p:nvPr/>
        </p:nvSpPr>
        <p:spPr>
          <a:xfrm>
            <a:off x="3204845" y="27305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6" name="矩形: 圆角 53"/>
          <p:cNvSpPr/>
          <p:nvPr/>
        </p:nvSpPr>
        <p:spPr>
          <a:xfrm>
            <a:off x="3140710" y="382905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109595" y="5595620"/>
            <a:ext cx="20243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尾</a:t>
            </a:r>
            <a:r>
              <a:rPr lang="en-US" altLang="zh-CN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巴</a:t>
            </a:r>
          </a:p>
          <a:p>
            <a:pPr algn="ctr"/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wěi</a:t>
            </a:r>
            <a:r>
              <a:rPr lang="en-US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ba</a:t>
            </a:r>
            <a:endParaRPr lang="zh-CN" altLang="zh-CN" sz="24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140710" y="3905250"/>
            <a:ext cx="20243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牙</a:t>
            </a:r>
            <a:r>
              <a:rPr lang="en-US" altLang="zh-CN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齿</a:t>
            </a:r>
          </a:p>
          <a:p>
            <a:pPr algn="ctr"/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yá</a:t>
            </a:r>
            <a:r>
              <a:rPr lang="en-US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chǐ</a:t>
            </a:r>
            <a:endParaRPr lang="zh-CN" altLang="zh-CN" sz="24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140075" y="2144395"/>
            <a:ext cx="20243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身</a:t>
            </a:r>
            <a:r>
              <a:rPr lang="en-US" altLang="zh-CN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子</a:t>
            </a:r>
          </a:p>
          <a:p>
            <a:pPr algn="ctr"/>
            <a:r>
              <a: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shēn </a:t>
            </a:r>
            <a:r>
              <a:rPr lang="en-US" altLang="zh-CN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zi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529330" y="360680"/>
            <a:ext cx="13131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>
              <a:buNone/>
            </a:pP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耳</a:t>
            </a:r>
            <a:r>
              <a:rPr lang="en-US" altLang="zh-CN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朵</a:t>
            </a:r>
          </a:p>
          <a:p>
            <a:pPr algn="ctr" eaLnBrk="1">
              <a:buNone/>
            </a:pPr>
            <a:r>
              <a:rPr lang="zh-CN" altLang="en-US"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ěr</a:t>
            </a:r>
            <a:r>
              <a:rPr lang="en-US" altLang="zh-CN"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2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duo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152005" y="366395"/>
            <a:ext cx="16471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>
              <a:buNone/>
            </a:pPr>
            <a:r>
              <a:rPr lang="zh-CN" altLang="zh-CN" sz="3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绳</a:t>
            </a:r>
            <a:r>
              <a:rPr lang="en-US" altLang="zh-CN" sz="3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子</a:t>
            </a:r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shéng</a:t>
            </a:r>
            <a:r>
              <a:rPr lang="en-US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zi</a:t>
            </a:r>
            <a:endParaRPr lang="zh-CN" altLang="zh-CN" sz="24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023100" y="2228215"/>
            <a:ext cx="190563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>
              <a:buNone/>
            </a:pP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扇</a:t>
            </a:r>
            <a:r>
              <a:rPr lang="en-US" altLang="zh-CN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子</a:t>
            </a:r>
          </a:p>
          <a:p>
            <a:pPr algn="ctr" eaLnBrk="1">
              <a:buNone/>
            </a:pPr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shàn</a:t>
            </a:r>
            <a:r>
              <a:rPr lang="en-US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zi</a:t>
            </a:r>
            <a:endParaRPr lang="zh-CN" altLang="zh-CN" sz="3200" dirty="0"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  <a:p>
            <a:pPr algn="ctr" eaLnBrk="1">
              <a:buNone/>
            </a:pPr>
            <a:endParaRPr lang="zh-CN" altLang="en-US" sz="3200" b="1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346950" y="3841115"/>
            <a:ext cx="131318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>
              <a:buNone/>
            </a:pP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墙</a:t>
            </a:r>
          </a:p>
          <a:p>
            <a:pPr algn="ctr" eaLnBrk="1">
              <a:buNone/>
            </a:pPr>
            <a:r>
              <a: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qiáng</a:t>
            </a:r>
            <a:endParaRPr lang="zh-CN" altLang="zh-CN" sz="3200" dirty="0"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  <a:p>
            <a:pPr algn="ctr" eaLnBrk="1">
              <a:buNone/>
            </a:pPr>
            <a:endParaRPr lang="zh-CN" altLang="en-US" sz="3200" b="1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378700" y="5484495"/>
            <a:ext cx="1313180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00480" eaLnBrk="1">
              <a:lnSpc>
                <a:spcPct val="120000"/>
              </a:lnSpc>
            </a:pPr>
            <a:r>
              <a:rPr lang="zh-CN" altLang="en-US" sz="3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角</a:t>
            </a:r>
          </a:p>
          <a:p>
            <a:pPr algn="ctr" defTabSz="1300480" eaLnBrk="1">
              <a:lnSpc>
                <a:spcPct val="120000"/>
              </a:lnSpc>
            </a:pPr>
            <a:r>
              <a:rPr lang="zh-CN" altLang="en-US" sz="24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jiǎo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13840" y="735965"/>
            <a:ext cx="798195" cy="5330190"/>
          </a:xfrm>
          <a:prstGeom prst="rect">
            <a:avLst/>
          </a:prstGeom>
          <a:noFill/>
        </p:spPr>
        <p:txBody>
          <a:bodyPr vert="eaVert"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大象的各部位像什么</a:t>
            </a:r>
            <a:r>
              <a:rPr lang="en-US" altLang="zh-CN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doors dir="ver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姐姐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55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shì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bīng</a:t>
              </a:r>
              <a:endParaRPr lang="zh-CN" altLang="zh-CN" sz="80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士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兵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soldier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公斤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70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6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zhì</a:t>
              </a:r>
              <a:r>
                <a:rPr lang="en-US" altLang="zh-CN" sz="6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huì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智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慧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wisdom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经常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5281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6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mō</a:t>
              </a:r>
              <a:r>
                <a:rPr lang="zh-CN" altLang="zh-CN" sz="6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zh-CN" sz="600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摸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touch, to feel, 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to stroke</a:t>
              </a:r>
              <a:r>
                <a:rPr lang="zh-CN" altLang="zh-CN" sz="2400" b="1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zh-CN" sz="2400" b="1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algn="ctr"/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游泳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807"/>
              <a:ext cx="7429" cy="455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máng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rén</a:t>
              </a:r>
              <a:endParaRPr lang="zh-CN" altLang="zh-CN" sz="5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Times New Roman" panose="02020603050405020304" pitchFamily="18" charset="0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盲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人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blind people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所以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513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zé</a:t>
              </a:r>
              <a:endParaRPr lang="zh-CN" altLang="zh-CN" sz="80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则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m. (used for news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 or writings) piece</a:t>
              </a:r>
              <a:endParaRPr lang="zh-CN" altLang="zh-CN" sz="240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9" name="所以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suǒ yǐ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所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以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so</a:t>
              </a:r>
            </a:p>
          </p:txBody>
        </p:sp>
      </p:grpSp>
      <p:grpSp>
        <p:nvGrpSpPr>
          <p:cNvPr id="2" name="因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chéng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yǔ</a:t>
              </a:r>
              <a:endParaRPr lang="zh-CN" altLang="zh-CN" sz="60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成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语</a:t>
              </a:r>
            </a:p>
            <a:p>
              <a:pPr algn="ctr" eaLnBrk="1">
                <a:buClrTx/>
                <a:buSzTx/>
                <a:buFontTx/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idiom, set phrase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打篮球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jié lùn</a:t>
              </a:r>
            </a:p>
            <a:p>
              <a:pPr algn="ctr" eaLnBrk="1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结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论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conclusion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" name="面条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677"/>
              <a:ext cx="7429" cy="397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piàn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miàn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片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面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one-sided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好吃"/>
          <p:cNvGrpSpPr/>
          <p:nvPr/>
        </p:nvGrpSpPr>
        <p:grpSpPr>
          <a:xfrm>
            <a:off x="1337628" y="735965"/>
            <a:ext cx="4717415" cy="5817235"/>
            <a:chOff x="2105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5" y="3677"/>
              <a:ext cx="7429" cy="3973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píng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平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flat, level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7" name="羊肉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689"/>
              <a:ext cx="7429" cy="397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hú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shuō</a:t>
              </a:r>
            </a:p>
            <a:p>
              <a:pPr algn="ctr" eaLnBrk="1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说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talk nonsense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1" name="自行车"/>
          <p:cNvGrpSpPr/>
          <p:nvPr/>
        </p:nvGrpSpPr>
        <p:grpSpPr>
          <a:xfrm>
            <a:off x="1336993" y="728206"/>
            <a:ext cx="4717415" cy="5817235"/>
            <a:chOff x="2105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5" y="3296"/>
              <a:ext cx="7429" cy="518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xún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寻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找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look for, to seek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7" name="外"/>
          <p:cNvGrpSpPr/>
          <p:nvPr/>
        </p:nvGrpSpPr>
        <p:grpSpPr>
          <a:xfrm>
            <a:off x="1336993" y="728206"/>
            <a:ext cx="4717415" cy="5817235"/>
            <a:chOff x="2105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5" y="3587"/>
              <a:ext cx="7429" cy="4554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fēn</a:t>
              </a:r>
              <a:r>
                <a:rPr lang="en-US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bié</a:t>
              </a:r>
              <a:endParaRPr lang="zh-CN" altLang="zh-CN" sz="6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分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别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adv. 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respectively, separately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7" name="门"/>
          <p:cNvGrpSpPr/>
          <p:nvPr/>
        </p:nvGrpSpPr>
        <p:grpSpPr>
          <a:xfrm>
            <a:off x="1336993" y="711061"/>
            <a:ext cx="4717415" cy="5817235"/>
            <a:chOff x="2105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5" y="3716"/>
              <a:ext cx="7429" cy="397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xiā</a:t>
              </a:r>
              <a:endParaRPr lang="zh-CN" altLang="zh-CN" sz="5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瞎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blind people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325120" y="1459865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188"/>
                <a:ext cx="3491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成语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idiom, set phrase</a:t>
                </a:r>
                <a:endParaRPr lang="en-US" altLang="en-US" sz="20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/>
                  <a:ea typeface="华文细黑" panose="02010600040101010101" pitchFamily="2" charset="-122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2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chéng yǔ</a:t>
              </a:r>
            </a:p>
          </p:txBody>
        </p:sp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384810" y="4762500"/>
            <a:ext cx="3435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人们长期以来习用的、简洁的词组或短句。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3302000" y="73025"/>
            <a:ext cx="7115175" cy="3674110"/>
            <a:chOff x="5080" y="478"/>
            <a:chExt cx="11205" cy="5786"/>
          </a:xfrm>
        </p:grpSpPr>
        <p:pic>
          <p:nvPicPr>
            <p:cNvPr id="41" name="图片 40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892" y="478"/>
              <a:ext cx="7393" cy="5786"/>
            </a:xfrm>
            <a:prstGeom prst="rect">
              <a:avLst/>
            </a:prstGeom>
          </p:spPr>
        </p:pic>
        <p:sp>
          <p:nvSpPr>
            <p:cNvPr id="42" name="矩形 41"/>
            <p:cNvSpPr/>
            <p:nvPr/>
          </p:nvSpPr>
          <p:spPr>
            <a:xfrm>
              <a:off x="5080" y="1141"/>
              <a:ext cx="3812" cy="12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4400" b="1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画龙点睛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692015" y="3868420"/>
            <a:ext cx="6339840" cy="2838450"/>
            <a:chOff x="7389" y="6092"/>
            <a:chExt cx="9984" cy="4470"/>
          </a:xfrm>
        </p:grpSpPr>
        <p:pic>
          <p:nvPicPr>
            <p:cNvPr id="47" name="图片 46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1201" y="6092"/>
              <a:ext cx="6172" cy="4470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7389" y="9021"/>
              <a:ext cx="3812" cy="12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lang="zh-CN" altLang="en-US" sz="4400" b="1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画蛇添足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957195" y="1921510"/>
            <a:ext cx="2462530" cy="2406650"/>
            <a:chOff x="4657" y="3026"/>
            <a:chExt cx="3878" cy="3790"/>
          </a:xfrm>
        </p:grpSpPr>
        <p:pic>
          <p:nvPicPr>
            <p:cNvPr id="50" name="图片 49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4657" y="3628"/>
              <a:ext cx="3878" cy="3189"/>
            </a:xfrm>
            <a:prstGeom prst="rect">
              <a:avLst/>
            </a:prstGeom>
          </p:spPr>
        </p:pic>
        <p:sp>
          <p:nvSpPr>
            <p:cNvPr id="51" name="矩形 50"/>
            <p:cNvSpPr/>
            <p:nvPr/>
          </p:nvSpPr>
          <p:spPr>
            <a:xfrm>
              <a:off x="5322" y="3026"/>
              <a:ext cx="2852" cy="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3200" b="1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亡羊补牢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551815" y="213995"/>
            <a:ext cx="2208530" cy="3194050"/>
            <a:chOff x="7916" y="201"/>
            <a:chExt cx="3478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盲人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blind people</a:t>
                </a: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28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máng</a:t>
              </a:r>
              <a:r>
                <a:rPr lang="en-US" altLang="zh-CN" sz="28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28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ré</a:t>
              </a:r>
              <a:r>
                <a:rPr lang="en-US" altLang="zh-CN" sz="28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237490" y="3595370"/>
            <a:ext cx="2754630" cy="3194050"/>
            <a:chOff x="9905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寻找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look for,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to seek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05" y="7003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xún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zhǎo</a:t>
              </a:r>
            </a:p>
          </p:txBody>
        </p:sp>
      </p:grpSp>
      <p:pic>
        <p:nvPicPr>
          <p:cNvPr id="40" name="图片 39"/>
          <p:cNvPicPr/>
          <p:nvPr/>
        </p:nvPicPr>
        <p:blipFill>
          <a:blip r:embed="rId6"/>
          <a:stretch>
            <a:fillRect/>
          </a:stretch>
        </p:blipFill>
        <p:spPr>
          <a:xfrm>
            <a:off x="3768090" y="133350"/>
            <a:ext cx="2755265" cy="441007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3750945" y="4639310"/>
            <a:ext cx="3134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这位盲人在寻找道路</a:t>
            </a:r>
            <a:r>
              <a:rPr lang="en-US" altLang="zh-CN" sz="2400"/>
              <a:t>。</a:t>
            </a:r>
          </a:p>
        </p:txBody>
      </p:sp>
      <p:pic>
        <p:nvPicPr>
          <p:cNvPr id="46" name="图片 45"/>
          <p:cNvPicPr/>
          <p:nvPr/>
        </p:nvPicPr>
        <p:blipFill>
          <a:blip r:embed="rId7"/>
          <a:stretch>
            <a:fillRect/>
          </a:stretch>
        </p:blipFill>
        <p:spPr>
          <a:xfrm>
            <a:off x="7027545" y="133350"/>
            <a:ext cx="4233545" cy="477647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469505" y="5069205"/>
            <a:ext cx="2893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小猫寻找食物</a:t>
            </a:r>
            <a:r>
              <a:rPr lang="en-US" altLang="zh-CN" sz="24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  <p:bldP spid="47" grpId="0"/>
      <p:bldP spid="4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13030" y="3373120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智慧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wisdom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zhì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huì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-129540" y="89535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士兵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soldier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shì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bīng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41" name="图片 40"/>
          <p:cNvPicPr/>
          <p:nvPr/>
        </p:nvPicPr>
        <p:blipFill>
          <a:blip r:embed="rId6"/>
          <a:srcRect t="27287" b="26139"/>
          <a:stretch>
            <a:fillRect/>
          </a:stretch>
        </p:blipFill>
        <p:spPr>
          <a:xfrm>
            <a:off x="2940050" y="179070"/>
            <a:ext cx="3169285" cy="3194050"/>
          </a:xfrm>
          <a:prstGeom prst="rect">
            <a:avLst/>
          </a:prstGeom>
        </p:spPr>
      </p:pic>
      <p:pic>
        <p:nvPicPr>
          <p:cNvPr id="42" name="图片 41"/>
          <p:cNvPicPr/>
          <p:nvPr/>
        </p:nvPicPr>
        <p:blipFill>
          <a:blip r:embed="rId7"/>
          <a:stretch>
            <a:fillRect/>
          </a:stretch>
        </p:blipFill>
        <p:spPr>
          <a:xfrm>
            <a:off x="6424295" y="600710"/>
            <a:ext cx="4138295" cy="393573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6541135" y="4899660"/>
            <a:ext cx="4745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庄子是一位很有智慧的人</a:t>
            </a:r>
            <a:r>
              <a:rPr lang="en-US" altLang="zh-CN" sz="2400"/>
              <a:t>，</a:t>
            </a:r>
            <a:r>
              <a:rPr lang="zh-CN" altLang="en-US" sz="2400"/>
              <a:t>他很早就看清楚了人生的意义</a:t>
            </a:r>
            <a:r>
              <a:rPr lang="en-US" altLang="zh-CN" sz="24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14325" y="213995"/>
            <a:ext cx="2228850" cy="3780790"/>
            <a:chOff x="5648" y="5714"/>
            <a:chExt cx="3510" cy="5954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954"/>
              <a:chOff x="4717" y="1909"/>
              <a:chExt cx="3511" cy="5954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3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分别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adv. respectively, separately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fēn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bié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314325" y="3418840"/>
            <a:ext cx="2228850" cy="3194050"/>
            <a:chOff x="15498" y="5742"/>
            <a:chExt cx="3510" cy="5030"/>
          </a:xfrm>
        </p:grpSpPr>
        <p:grpSp>
          <p:nvGrpSpPr>
            <p:cNvPr id="31" name="组合 30"/>
            <p:cNvGrpSpPr/>
            <p:nvPr/>
          </p:nvGrpSpPr>
          <p:grpSpPr>
            <a:xfrm>
              <a:off x="15498" y="5742"/>
              <a:ext cx="3511" cy="5030"/>
              <a:chOff x="4717" y="1909"/>
              <a:chExt cx="3511" cy="503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717" y="4133"/>
                <a:ext cx="3511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结论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conclusion</a:t>
                </a: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jié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lùn</a:t>
              </a:r>
            </a:p>
          </p:txBody>
        </p:sp>
      </p:grpSp>
      <p:pic>
        <p:nvPicPr>
          <p:cNvPr id="41" name="图片 40"/>
          <p:cNvPicPr/>
          <p:nvPr/>
        </p:nvPicPr>
        <p:blipFill>
          <a:blip r:embed="rId6"/>
          <a:srcRect r="44222"/>
          <a:stretch>
            <a:fillRect/>
          </a:stretch>
        </p:blipFill>
        <p:spPr>
          <a:xfrm>
            <a:off x="2715260" y="213995"/>
            <a:ext cx="2229485" cy="278384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3496310" y="394970"/>
            <a:ext cx="7926705" cy="5665470"/>
            <a:chOff x="5506" y="622"/>
            <a:chExt cx="12483" cy="8922"/>
          </a:xfrm>
        </p:grpSpPr>
        <p:pic>
          <p:nvPicPr>
            <p:cNvPr id="42" name="图片 4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0795" y="622"/>
              <a:ext cx="7194" cy="6986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5506" y="8044"/>
              <a:ext cx="10391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/>
                <a:t>科学家经过多年的调查研究</a:t>
              </a:r>
              <a:r>
                <a:rPr lang="en-US" altLang="zh-CN" sz="2800"/>
                <a:t>，</a:t>
              </a:r>
              <a:r>
                <a:rPr lang="zh-CN" altLang="en-US" sz="2800"/>
                <a:t>得出人类是由猿猴进化来的</a:t>
              </a:r>
              <a:r>
                <a:rPr lang="en-US" altLang="zh-CN" sz="2800"/>
                <a:t>。</a:t>
              </a: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820670" y="3717290"/>
            <a:ext cx="38696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chemeClr val="tx1"/>
                </a:solidFill>
                <a:sym typeface="华文细黑" panose="02010600040101010101" pitchFamily="2" charset="-122"/>
              </a:rPr>
              <a:t>同学们分别去不同地方寻找线索</a:t>
            </a:r>
            <a:r>
              <a:rPr lang="en-US" altLang="zh-CN" sz="2800">
                <a:solidFill>
                  <a:schemeClr val="tx1"/>
                </a:solidFill>
                <a:sym typeface="华文细黑" panose="02010600040101010101" pitchFamily="2" charset="-122"/>
              </a:rPr>
              <a:t>。</a:t>
            </a:r>
          </a:p>
        </p:txBody>
      </p:sp>
      <p:pic>
        <p:nvPicPr>
          <p:cNvPr id="49" name="图片 48"/>
          <p:cNvPicPr/>
          <p:nvPr/>
        </p:nvPicPr>
        <p:blipFill>
          <a:blip r:embed="rId8"/>
          <a:stretch>
            <a:fillRect/>
          </a:stretch>
        </p:blipFill>
        <p:spPr>
          <a:xfrm>
            <a:off x="4825365" y="1434465"/>
            <a:ext cx="2029460" cy="20599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188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成语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idiom, set phrase</a:t>
              </a: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2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chéng yǔ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智慧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wisdom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zhì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huì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盲人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blind people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máng</a:t>
            </a:r>
            <a:r>
              <a:rPr lang="en-US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ré</a:t>
            </a:r>
            <a:r>
              <a:rPr lang="en-US" altLang="zh-CN" sz="28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士兵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soldier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shì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bīng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780790"/>
            <a:chOff x="4717" y="1909"/>
            <a:chExt cx="3511" cy="5954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3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分别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respectively, separately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fēn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bié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寻找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look for,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seek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xún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zhǎo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结论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conclusion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jié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lùn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\Desktop\1.png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50105" y="1243648"/>
            <a:ext cx="1761490" cy="162052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511"/>
              <a:ext cx="13447" cy="1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聪明人用双手挡住了马的眼睛，对那个人说：“要是这马是你的，你一定知道马的哪只眼睛是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的。”</a:t>
              </a:r>
              <a:endParaRPr lang="zh-CN" altLang="en-US" sz="2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 descr="D:\Desktop\2.png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319328" y="5060633"/>
            <a:ext cx="1499870" cy="150050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29565" y="4419600"/>
            <a:ext cx="8677910" cy="1193800"/>
            <a:chOff x="518" y="3426"/>
            <a:chExt cx="13666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586"/>
              <a:ext cx="13447" cy="16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一天，他让士兵们去找一头大象和一些出生时眼睛就</a:t>
              </a:r>
            </a:p>
            <a:p>
              <a:pPr eaLnBrk="1">
                <a:lnSpc>
                  <a:spcPct val="120000"/>
                </a:lnSpc>
              </a:pP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了的人回来。</a:t>
              </a:r>
              <a:endParaRPr lang="zh-CN" altLang="en-US" sz="2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572260"/>
            <a:chOff x="7787" y="3144"/>
            <a:chExt cx="5660" cy="1749"/>
          </a:xfrm>
        </p:grpSpPr>
        <p:sp>
          <p:nvSpPr>
            <p:cNvPr id="7" name="圆角矩形 6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87" y="3219"/>
              <a:ext cx="5660" cy="1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+mn-ea"/>
                </a:rPr>
                <a:t>瞎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动词——</a:t>
              </a:r>
            </a:p>
            <a:p>
              <a:pPr algn="ctr" fontAlgn="ctr"/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眼睛看不见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Động từ: mù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4479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962"/>
              <a:ext cx="13447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别听他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瞎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说，不用害怕。我们不会这么倒霉的。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9565" y="4229100"/>
            <a:ext cx="8677910" cy="1196975"/>
            <a:chOff x="518" y="3426"/>
            <a:chExt cx="13666" cy="1885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616"/>
              <a:ext cx="13447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他自己的问题，他会想办法的，你就别替他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瞎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担心了。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4"/>
            <a:ext cx="2837180" cy="2390518"/>
            <a:chOff x="7787" y="3144"/>
            <a:chExt cx="5660" cy="2192"/>
          </a:xfrm>
        </p:grpSpPr>
        <p:sp>
          <p:nvSpPr>
            <p:cNvPr id="4" name="圆角矩形 3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787" y="3219"/>
              <a:ext cx="5660" cy="2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瞎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副词——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没有理由、没有根据或没有效果地做某事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linh tinh(không có căn cứ)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\Desktop\4.png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66533" y="1367790"/>
            <a:ext cx="1613535" cy="1619885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829"/>
              <a:ext cx="13447" cy="10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是暂时的，我们以后一定会再见。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 descr="D:\Desktop\3.png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46215" y="5244465"/>
            <a:ext cx="2322195" cy="110617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29565" y="4419600"/>
            <a:ext cx="8677910" cy="1193800"/>
            <a:chOff x="518" y="3426"/>
            <a:chExt cx="13666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611"/>
              <a:ext cx="13447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从毕业到现在，我们已经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20年了，一直都没有联系。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7" name="圆角矩形 6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分别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动词——</a:t>
              </a:r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离别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Động từ: ly biệt. Xa cách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Desktop\6.png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16930" y="3215005"/>
            <a:ext cx="3241040" cy="2398395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27630"/>
            <a:ext cx="8677910" cy="1272540"/>
            <a:chOff x="518" y="3409"/>
            <a:chExt cx="13666" cy="2004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409"/>
              <a:ext cx="13447" cy="20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找两个人打听了这件事，他们的说法都是一样的。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9565" y="4419600"/>
            <a:ext cx="8677910" cy="1193800"/>
            <a:chOff x="518" y="3426"/>
            <a:chExt cx="13666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611"/>
              <a:ext cx="13447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士兵们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去不同地方寻找，把找到的大象和盲人带到他面前。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6" name="圆角矩形 5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分别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副词——</a:t>
              </a:r>
            </a:p>
            <a:p>
              <a:pPr algn="ctr" fontAlgn="ctr"/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分头、各自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từng , lần lượt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Desktop\9.png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15785" y="4706620"/>
            <a:ext cx="2860675" cy="1835150"/>
          </a:xfrm>
          <a:prstGeom prst="rect">
            <a:avLst/>
          </a:prstGeom>
        </p:spPr>
      </p:pic>
      <p:pic>
        <p:nvPicPr>
          <p:cNvPr id="6" name="图片 5" descr="D:\Desktop\8.png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95020" y="1336675"/>
            <a:ext cx="1812925" cy="1812925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943"/>
              <a:ext cx="13447" cy="8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一张桌子上放着三瓶饮料，</a:t>
              </a:r>
              <a:r>
                <a:rPr lang="zh-CN" altLang="en-US" sz="24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是茶、可乐和咖啡。</a:t>
              </a:r>
              <a:endParaRPr lang="zh-CN" altLang="en-US" sz="2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9565" y="4419600"/>
            <a:ext cx="8677910" cy="1193800"/>
            <a:chOff x="518" y="3426"/>
            <a:chExt cx="13666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586"/>
              <a:ext cx="13447" cy="15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谈到对目前工作最不满意的地方，39.1%的被调查者认为休息时间太少，发展慢、工资太低</a:t>
              </a:r>
              <a:r>
                <a:rPr lang="zh-CN" altLang="en-US" sz="24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占20.3%和20%。</a:t>
              </a:r>
              <a:endParaRPr lang="zh-CN" altLang="en-US" sz="2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7" name="圆角矩形 6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分别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副词——</a:t>
              </a:r>
            </a:p>
            <a:p>
              <a:pPr algn="ctr" fontAlgn="ctr"/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表示细数每一个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lần lượt từng cái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Desktop\10.png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27395" y="4852353"/>
            <a:ext cx="2860675" cy="1497965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732"/>
              <a:ext cx="13447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我不知道这两种做法有什么</a:t>
              </a:r>
              <a:r>
                <a:rPr lang="zh-CN" altLang="en-US" sz="4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9565" y="4419600"/>
            <a:ext cx="8677910" cy="1193800"/>
            <a:chOff x="518" y="3426"/>
            <a:chExt cx="13666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805"/>
              <a:ext cx="13447" cy="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这两张照片的</a:t>
              </a:r>
              <a:r>
                <a:rPr lang="zh-CN" altLang="en-US" sz="36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分别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是一眼就看得出来的。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6" name="圆角矩形 5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分别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名词——</a:t>
              </a:r>
            </a:p>
            <a:p>
              <a:pPr algn="ctr" fontAlgn="ctr"/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区别、不同的地方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Danh từ: khác nhau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课文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06095" y="1261110"/>
            <a:ext cx="11263630" cy="878941"/>
            <a:chOff x="-3197" y="3732"/>
            <a:chExt cx="17738" cy="1625"/>
          </a:xfrm>
        </p:grpSpPr>
        <p:sp>
          <p:nvSpPr>
            <p:cNvPr id="13" name="文本框 12"/>
            <p:cNvSpPr txBox="1"/>
            <p:nvPr/>
          </p:nvSpPr>
          <p:spPr>
            <a:xfrm>
              <a:off x="-3197" y="3994"/>
              <a:ext cx="17649" cy="136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algn="ctr" defTabSz="914400" rtl="0" fontAlgn="auto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细黑" panose="02010600040101010101" pitchFamily="2" charset="-122"/>
                </a:rPr>
                <a:t>听课文，然后根据图片说一说你听到的故事</a:t>
              </a:r>
              <a:endPara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marL="0" marR="0" algn="ctr" defTabSz="914400" rtl="0" fontAlgn="auto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-3197" y="3732"/>
              <a:ext cx="17738" cy="1201"/>
            </a:xfrm>
            <a:prstGeom prst="roundRect">
              <a:avLst/>
            </a:prstGeom>
            <a:noFill/>
            <a:ln w="19050">
              <a:solidFill>
                <a:srgbClr val="B8975A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Picture 6" descr="pasted-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9490" y="2806700"/>
            <a:ext cx="4654550" cy="350075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6" name="07-1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7490" y="2139950"/>
            <a:ext cx="2055495" cy="16725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875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asted-image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66675" y="21590"/>
            <a:ext cx="12293600" cy="68580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" name="黑色遮罩"/>
          <p:cNvSpPr/>
          <p:nvPr/>
        </p:nvSpPr>
        <p:spPr>
          <a:xfrm>
            <a:off x="0" y="-12700"/>
            <a:ext cx="12192000" cy="692594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945" y="879475"/>
            <a:ext cx="1205611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很久以前，有一个很有智慧的国王。一天，他让士兵们去找一头大象和一些出生时眼睛就瞎了的人回来。士兵们分别去不同的地方寻找，把找到的大象和盲人带到他面前。</a:t>
            </a:r>
          </a:p>
          <a:p>
            <a:pPr eaLnBrk="1">
              <a:lnSpc>
                <a:spcPct val="150000"/>
              </a:lnSpc>
            </a:pP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eaLnBrk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国王叫盲人们去摸一摸大象，问他们：“你们觉得大象是什么样子的呢？”摸到牙齿的盲人说：“我觉得像一个角。”“胡说！”摸到尾巴的盲人说，“它像一条绳子。”摸到大象身子的盲人说：“我觉得像一面又高又平的墙。”“不，你们都错了，应该是像一把扇子。”这个盲人摸到了大象的耳朵。</a:t>
            </a:r>
          </a:p>
          <a:p>
            <a:pPr eaLnBrk="1">
              <a:lnSpc>
                <a:spcPct val="150000"/>
              </a:lnSpc>
            </a:pP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eaLnBrk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 国王笑了起来：“你们每个人都只摸到了一点，就认为自己了解全部了吗？只有片面的认识是不能下结论的。”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用“瞎”完成下列句子或对话。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3538855"/>
            <a:ext cx="22600920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.A：刚才的考试你考得怎么样？我有好几个题不会做。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B：________________________________？                                                            ？减肥，连___________，____________呢？（何况）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733290"/>
            <a:ext cx="5703570" cy="5340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3.你少跟他打交道，________________。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45615" y="2787650"/>
            <a:ext cx="876871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，但她的脸上总是有美丽的微笑。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用“分别”完成下列句子或对话。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77290" y="1238885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3538855"/>
            <a:ext cx="8074660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.A：快放寒假了，你们假期有什么打算？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B：________________________________？（分别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-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副词）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45615" y="2787650"/>
            <a:ext cx="876871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时间过得真快，____________________。（分别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-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动词）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45615" y="4733290"/>
            <a:ext cx="8074660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.A：我们有三年没见面了吧？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B：________________________________。（分别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-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名词）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48260" y="-1157922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第七课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8811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7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99870" y="2572634"/>
            <a:ext cx="9661130" cy="2916646"/>
            <a:chOff x="1890" y="4056"/>
            <a:chExt cx="15214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0" y="4056"/>
              <a:ext cx="15214" cy="4593"/>
              <a:chOff x="-100" y="3667"/>
              <a:chExt cx="18920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100" y="3667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7281" y="6525"/>
                  <a:ext cx="10111" cy="902"/>
                  <a:chOff x="9415" y="6525"/>
                  <a:chExt cx="10111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941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7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2628" y="6525"/>
                    <a:ext cx="6898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  <a:sym typeface="Helvetica Light" charset="0"/>
                      </a:rPr>
                      <a:t>Two Idiom Stories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7</a:t>
                  </a:r>
                  <a:r>
                    <a:rPr kumimoji="0" lang="zh-CN" alt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</a:t>
                  </a:r>
                  <a:r>
                    <a:rPr lang="zh-CN" altLang="en-US" sz="6000" b="1" noProof="0" dirty="0">
                      <a:ln>
                        <a:noFill/>
                      </a:ln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  <a:sym typeface="Helvetica" pitchFamily="34" charset="0"/>
                    </a:rPr>
                    <a:t>成语故事两则</a:t>
                  </a:r>
                  <a:endParaRPr kumimoji="0" lang="en-US" altLang="zh-CN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2122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Helvetica" pitchFamily="34" charset="0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285990" y="5885815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6114733" y="728345"/>
            <a:ext cx="4717415" cy="5817235"/>
            <a:chOff x="9628" y="1147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29" y="1147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4554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yáo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摇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wave, to shake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6" name="叮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dūn</a:t>
              </a:r>
              <a:endParaRPr lang="zh-CN" altLang="zh-CN" sz="5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 eaLnBrk="1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蹲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squat, to crouch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550"/>
              <a:ext cx="7429" cy="5136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chēng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称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call, 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to give sb. 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 particular name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递"/>
          <p:cNvGrpSpPr/>
          <p:nvPr/>
        </p:nvGrpSpPr>
        <p:grpSpPr>
          <a:xfrm>
            <a:off x="1337628" y="735965"/>
            <a:ext cx="4717415" cy="5973445"/>
            <a:chOff x="2105" y="1159"/>
            <a:chExt cx="7429" cy="9407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5" y="3685"/>
              <a:ext cx="7429" cy="6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biàn</a:t>
              </a:r>
            </a:p>
            <a:p>
              <a:pPr algn="ctr" eaLnBrk="1">
                <a:lnSpc>
                  <a:spcPct val="100000"/>
                </a:lnSpc>
              </a:pP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便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adv. used to indicate that sth. comes naturally under certain conditions or circumstances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" name="伸"/>
          <p:cNvGrpSpPr/>
          <p:nvPr/>
        </p:nvGrpSpPr>
        <p:grpSpPr>
          <a:xfrm>
            <a:off x="1338263" y="726440"/>
            <a:ext cx="4716780" cy="5817235"/>
            <a:chOff x="2106" y="1159"/>
            <a:chExt cx="7428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316" y="3497"/>
              <a:ext cx="6903" cy="6299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suì</a:t>
              </a:r>
            </a:p>
            <a:p>
              <a:pPr algn="ctr"/>
              <a:r>
                <a:rPr lang="zh-CN" altLang="zh-CN" sz="80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碎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v./adj. 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to break into pieces; broken fragment-ary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1" name="喊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5136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gēn</a:t>
              </a:r>
            </a:p>
            <a:p>
              <a:pPr algn="ctr" eaLnBrk="1">
                <a:lnSpc>
                  <a:spcPct val="100000"/>
                </a:lnSpc>
              </a:pP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根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n./m. long thin piece; a measure word for long and thing objects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7" name="靠"/>
          <p:cNvGrpSpPr/>
          <p:nvPr/>
        </p:nvGrpSpPr>
        <p:grpSpPr>
          <a:xfrm>
            <a:off x="1336993" y="728206"/>
            <a:ext cx="4717415" cy="5817235"/>
            <a:chOff x="2105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5" y="3911"/>
              <a:ext cx="7429" cy="4554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bǎi</a:t>
              </a:r>
              <a:endParaRPr lang="zh-CN" altLang="en-US" sz="54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  <a:sym typeface="+mn-ea"/>
              </a:endParaRPr>
            </a:p>
            <a:p>
              <a:pPr algn="ctr"/>
              <a:r>
                <a:rPr sz="48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摆</a:t>
              </a:r>
              <a:endParaRPr lang="zh-CN" sz="72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put, to place,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 to set in order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52165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称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v. to call, to give sb. a particular name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3294380" y="874395"/>
            <a:ext cx="238696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sz="4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chēng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519795" y="362839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摆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v. to put, to place, to set in order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541385" y="4371340"/>
            <a:ext cx="214376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altLang="zh-CN" sz="4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bǎi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66115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蹲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v. to squat,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to crouch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6673215" y="863600"/>
            <a:ext cx="219519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sz="4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dūn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68910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摇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v. to wave, to shake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1464945" y="4356100"/>
            <a:ext cx="275463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altLang="zh-CN" sz="4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yáo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878070" y="3628390"/>
            <a:ext cx="2524125" cy="3221355"/>
            <a:chOff x="4499" y="1909"/>
            <a:chExt cx="3975" cy="5073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499" y="4076"/>
              <a:ext cx="3975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碎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v./adj. to break into pieces; broken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fragment-ary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4778375" y="4364355"/>
            <a:ext cx="27228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altLang="zh-CN" sz="400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suì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56565" y="127635"/>
            <a:ext cx="2386330" cy="3194050"/>
            <a:chOff x="5188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5279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称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v. to call, to give sb. a particular name</a:t>
                </a: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5188" y="1377"/>
              <a:ext cx="3759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en-US" sz="4000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chēng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6410" y="3488055"/>
            <a:ext cx="2208530" cy="3194050"/>
            <a:chOff x="10490" y="201"/>
            <a:chExt cx="3478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10490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蹲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v. to squat,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to crouch</a:t>
                </a: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10509" y="1360"/>
              <a:ext cx="3457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en-US" sz="4000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dūn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260090" y="863600"/>
            <a:ext cx="6450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小刘是一位医生</a:t>
            </a:r>
            <a:r>
              <a:rPr lang="en-US" altLang="zh-CN" sz="2800"/>
              <a:t>，</a:t>
            </a:r>
            <a:r>
              <a:rPr lang="zh-CN" altLang="en-US" sz="2800"/>
              <a:t>我们都</a:t>
            </a:r>
            <a:r>
              <a:rPr lang="zh-CN" altLang="en-US" sz="2800">
                <a:solidFill>
                  <a:srgbClr val="C00000"/>
                </a:solidFill>
              </a:rPr>
              <a:t>称</a:t>
            </a:r>
            <a:r>
              <a:rPr lang="zh-CN" altLang="en-US" sz="2800"/>
              <a:t>他为刘医生</a:t>
            </a:r>
            <a:r>
              <a:rPr lang="en-US" altLang="zh-CN" sz="2800"/>
              <a:t>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391535" y="1832610"/>
            <a:ext cx="56915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/>
              <a:t>请问怎么</a:t>
            </a:r>
            <a:r>
              <a:rPr lang="zh-CN" altLang="en-US" sz="2800">
                <a:solidFill>
                  <a:srgbClr val="C00000"/>
                </a:solidFill>
              </a:rPr>
              <a:t>称呼</a:t>
            </a:r>
            <a:r>
              <a:rPr lang="zh-CN" altLang="en-US" sz="2800"/>
              <a:t>？</a:t>
            </a:r>
          </a:p>
          <a:p>
            <a:pPr algn="l">
              <a:buClrTx/>
              <a:buSzTx/>
              <a:buFontTx/>
            </a:pPr>
            <a:r>
              <a:rPr lang="zh-CN" altLang="en-US" sz="2800"/>
              <a:t>叫我小林就可以了。</a:t>
            </a:r>
          </a:p>
        </p:txBody>
      </p:sp>
      <p:pic>
        <p:nvPicPr>
          <p:cNvPr id="30" name="图片 29"/>
          <p:cNvPicPr/>
          <p:nvPr/>
        </p:nvPicPr>
        <p:blipFill>
          <a:blip r:embed="rId6"/>
          <a:srcRect t="40435"/>
          <a:stretch>
            <a:fillRect/>
          </a:stretch>
        </p:blipFill>
        <p:spPr>
          <a:xfrm>
            <a:off x="3012440" y="3677285"/>
            <a:ext cx="4306570" cy="300482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637780" y="3816350"/>
            <a:ext cx="4306570" cy="953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/>
              <a:t>西方大多数人</a:t>
            </a:r>
            <a:r>
              <a:rPr lang="zh-CN" altLang="en-US" sz="2800">
                <a:solidFill>
                  <a:srgbClr val="C00000"/>
                </a:solidFill>
              </a:rPr>
              <a:t>蹲</a:t>
            </a:r>
            <a:r>
              <a:rPr lang="zh-CN" altLang="en-US" sz="2800"/>
              <a:t>下去的时候</a:t>
            </a:r>
            <a:r>
              <a:rPr lang="en-US" altLang="zh-CN" sz="2800"/>
              <a:t>，</a:t>
            </a:r>
            <a:r>
              <a:rPr lang="zh-CN" altLang="en-US" sz="2800"/>
              <a:t>要把脚尖踮起来</a:t>
            </a:r>
            <a:r>
              <a:rPr lang="en-US" altLang="zh-CN" sz="2800"/>
              <a:t>。</a:t>
            </a:r>
          </a:p>
          <a:p>
            <a:r>
              <a:rPr lang="en-US" altLang="zh-CN" sz="2800"/>
              <a:t> </a:t>
            </a:r>
          </a:p>
          <a:p>
            <a:pPr algn="l">
              <a:buClrTx/>
              <a:buSzTx/>
              <a:buFontTx/>
            </a:pPr>
            <a:endParaRPr lang="zh-CN" altLang="en-US" sz="2800"/>
          </a:p>
        </p:txBody>
      </p:sp>
      <p:sp>
        <p:nvSpPr>
          <p:cNvPr id="32" name="文本框 31"/>
          <p:cNvSpPr txBox="1"/>
          <p:nvPr/>
        </p:nvSpPr>
        <p:spPr>
          <a:xfrm>
            <a:off x="7692390" y="5163820"/>
            <a:ext cx="41141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/>
              <a:t>我们把脚掌全部触碰地面的</a:t>
            </a:r>
            <a:r>
              <a:rPr lang="zh-CN" altLang="en-US" sz="2800">
                <a:solidFill>
                  <a:srgbClr val="C00000"/>
                </a:solidFill>
              </a:rPr>
              <a:t>蹲</a:t>
            </a:r>
            <a:r>
              <a:rPr lang="zh-CN" altLang="en-US" sz="2800"/>
              <a:t>法</a:t>
            </a:r>
            <a:r>
              <a:rPr lang="zh-CN" altLang="en-US" sz="2800">
                <a:solidFill>
                  <a:srgbClr val="C00000"/>
                </a:solidFill>
              </a:rPr>
              <a:t>称</a:t>
            </a:r>
            <a:r>
              <a:rPr lang="zh-CN" altLang="en-US" sz="2800"/>
              <a:t>作亚洲蹲。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2" grpId="0"/>
      <p:bldP spid="3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78435" y="434340"/>
            <a:ext cx="2754630" cy="3194050"/>
            <a:chOff x="2307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2660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摇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v. to wave, to shake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2307" y="6860"/>
              <a:ext cx="4338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en-US" altLang="zh-CN" sz="40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yáo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6"/>
          <a:stretch>
            <a:fillRect/>
          </a:stretch>
        </p:blipFill>
        <p:spPr>
          <a:xfrm>
            <a:off x="2933065" y="125730"/>
            <a:ext cx="3116580" cy="357822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384290" y="13030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摇钱树</a:t>
            </a:r>
          </a:p>
        </p:txBody>
      </p:sp>
      <p:pic>
        <p:nvPicPr>
          <p:cNvPr id="23" name="图片 22"/>
          <p:cNvPicPr/>
          <p:nvPr/>
        </p:nvPicPr>
        <p:blipFill>
          <a:blip r:embed="rId7"/>
          <a:stretch>
            <a:fillRect/>
          </a:stretch>
        </p:blipFill>
        <p:spPr>
          <a:xfrm>
            <a:off x="7348855" y="2282190"/>
            <a:ext cx="3371215" cy="395795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632585" y="4476115"/>
            <a:ext cx="53784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这个游戏缺一个人</a:t>
            </a:r>
            <a:r>
              <a:rPr lang="en-US" altLang="zh-CN" sz="2800"/>
              <a:t>，</a:t>
            </a:r>
            <a:r>
              <a:rPr lang="zh-CN" altLang="en-US" sz="2800"/>
              <a:t>你快去摇一个人来</a:t>
            </a:r>
            <a:r>
              <a:rPr lang="en-US" altLang="zh-CN" sz="28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7020" y="3514725"/>
            <a:ext cx="2199640" cy="3194050"/>
            <a:chOff x="13417" y="5714"/>
            <a:chExt cx="3464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417" y="5714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摆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v. to put, to place, to set in order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451" y="6884"/>
              <a:ext cx="3376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en-US" altLang="zh-CN" sz="40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bǎi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8895" y="187325"/>
            <a:ext cx="2722880" cy="3220720"/>
            <a:chOff x="7525" y="5714"/>
            <a:chExt cx="4288" cy="5072"/>
          </a:xfrm>
        </p:grpSpPr>
        <p:grpSp>
          <p:nvGrpSpPr>
            <p:cNvPr id="14" name="组合 13"/>
            <p:cNvGrpSpPr/>
            <p:nvPr/>
          </p:nvGrpSpPr>
          <p:grpSpPr>
            <a:xfrm>
              <a:off x="7682" y="5714"/>
              <a:ext cx="3975" cy="5073"/>
              <a:chOff x="4499" y="1909"/>
              <a:chExt cx="3975" cy="5073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499" y="4076"/>
                <a:ext cx="3975" cy="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碎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v./adj. to break into pieces; broken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fragment-ary</a:t>
                </a: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7525" y="6873"/>
              <a:ext cx="4288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en-US" altLang="zh-CN" sz="400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suì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6"/>
          <a:stretch>
            <a:fillRect/>
          </a:stretch>
        </p:blipFill>
        <p:spPr>
          <a:xfrm>
            <a:off x="2992755" y="320040"/>
            <a:ext cx="3834130" cy="319468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651750" y="998855"/>
            <a:ext cx="2243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打碎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651750" y="1630045"/>
            <a:ext cx="2243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破碎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1775" y="3267710"/>
            <a:ext cx="4712335" cy="353441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8446135" y="4871720"/>
            <a:ext cx="26727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这些蛋糕被摆在桌子上</a:t>
            </a:r>
            <a:r>
              <a:rPr lang="en-US" altLang="zh-CN" sz="28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\Desktop\112.png1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57975" y="695325"/>
            <a:ext cx="2210435" cy="221107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766"/>
              <a:ext cx="13447" cy="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这棵树的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根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又粗又长。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9565" y="4419600"/>
            <a:ext cx="8677910" cy="1262380"/>
            <a:chOff x="518" y="3426"/>
            <a:chExt cx="13666" cy="1988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526"/>
              <a:ext cx="13447" cy="1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这种植物的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根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下雨时会大量吸水，从而满足自身的需要。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4" name="圆角矩形 3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根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名词——</a:t>
              </a:r>
              <a:r>
                <a:rPr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植物在土里</a:t>
              </a:r>
            </a:p>
            <a:p>
              <a:pPr algn="ctr" fontAlgn="ctr"/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向下生长的部分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Danh từ: rễ( cây)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\Desktop\13.png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37970" y="1358265"/>
            <a:ext cx="1508760" cy="1619885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67791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829"/>
              <a:ext cx="13447" cy="10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你这颗牙连牙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根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都坏了，平时难道不疼吗？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29565" y="4419600"/>
            <a:ext cx="8677910" cy="1193800"/>
            <a:chOff x="518" y="3426"/>
            <a:chExt cx="13666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737" y="3611"/>
              <a:ext cx="13447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这件事还是得从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根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上解决，只解决表面问题是不行的。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2067580"/>
            <a:chOff x="7787" y="3144"/>
            <a:chExt cx="5660" cy="2300"/>
          </a:xfrm>
        </p:grpSpPr>
        <p:sp>
          <p:nvSpPr>
            <p:cNvPr id="4" name="圆角矩形 3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根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名词——</a:t>
              </a:r>
            </a:p>
            <a:p>
              <a:pPr algn="ctr" fontAlgn="ctr"/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事物的基础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Danh từ: chân, gốc( của vật)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\Desktop\115(1).png115(1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66825" y="1589405"/>
            <a:ext cx="1908810" cy="1431925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329565" y="2638425"/>
            <a:ext cx="8853756" cy="1193800"/>
            <a:chOff x="518" y="3426"/>
            <a:chExt cx="13447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771"/>
              <a:ext cx="13447" cy="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摸到尾巴的盲人说大象像一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根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绳子。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 descr="D:\Desktop\116.png1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154545" y="4921250"/>
            <a:ext cx="1638300" cy="163893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29565" y="4419600"/>
            <a:ext cx="8998135" cy="1193800"/>
            <a:chOff x="518" y="3426"/>
            <a:chExt cx="13448" cy="1880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519" y="3858"/>
              <a:ext cx="1344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可是，这次他换了几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根</a:t>
              </a:r>
              <a:r>
                <a:rPr lang="zh-CN" altLang="en-US" sz="3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箭，都没能再射进去。</a:t>
              </a:r>
              <a:endParaRPr lang="zh-CN" altLang="en-US" sz="3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288780" y="3193415"/>
            <a:ext cx="2837180" cy="2067580"/>
            <a:chOff x="7787" y="3144"/>
            <a:chExt cx="5660" cy="2300"/>
          </a:xfrm>
        </p:grpSpPr>
        <p:sp>
          <p:nvSpPr>
            <p:cNvPr id="13" name="圆角矩形 1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787" y="3219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根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量词</a:t>
              </a:r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——</a:t>
              </a: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用于</a:t>
              </a:r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细长的东西</a:t>
              </a:r>
              <a:endParaRPr lang="vi-VN"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Lượng từ của vật dài nhỏ( mũi tên, dây)</a:t>
              </a:r>
              <a:endParaRPr sz="2000" b="1" kern="100" dirty="0">
                <a:solidFill>
                  <a:srgbClr val="C0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:\Desktop\117(1).png117(1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9175" y="1149350"/>
            <a:ext cx="2023110" cy="194818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148590" y="2638425"/>
            <a:ext cx="9216390" cy="1193800"/>
            <a:chOff x="518" y="3426"/>
            <a:chExt cx="13666" cy="1880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737" y="3844"/>
              <a:ext cx="13447" cy="10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楼上新买了一架钢琴，我们家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便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多了一些不安静。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 descr="D:\Desktop\117(2).png117(2)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171690" y="5137150"/>
            <a:ext cx="2193290" cy="163322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48590" y="4419600"/>
            <a:ext cx="9216435" cy="1272540"/>
            <a:chOff x="518" y="3426"/>
            <a:chExt cx="13556" cy="2004"/>
          </a:xfrm>
        </p:grpSpPr>
        <p:sp>
          <p:nvSpPr>
            <p:cNvPr id="10" name="圆角矩形 9"/>
            <p:cNvSpPr/>
            <p:nvPr/>
          </p:nvSpPr>
          <p:spPr>
            <a:xfrm>
              <a:off x="518" y="3426"/>
              <a:ext cx="13447" cy="188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7"/>
            <p:cNvSpPr txBox="1"/>
            <p:nvPr/>
          </p:nvSpPr>
          <p:spPr>
            <a:xfrm>
              <a:off x="627" y="3426"/>
              <a:ext cx="13447" cy="20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>
                <a:lnSpc>
                  <a:spcPct val="120000"/>
                </a:lnSpc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很多时候，仅仅是换一种心情，换一个角度，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便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可以从困境中走出来。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288780" y="3193415"/>
            <a:ext cx="2837180" cy="1760140"/>
            <a:chOff x="7787" y="3144"/>
            <a:chExt cx="5660" cy="1958"/>
          </a:xfrm>
        </p:grpSpPr>
        <p:sp>
          <p:nvSpPr>
            <p:cNvPr id="7" name="圆角矩形 6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87" y="3219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便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副词——</a:t>
              </a:r>
            </a:p>
            <a:p>
              <a:pPr algn="ctr" fontAlgn="ctr"/>
              <a:r>
                <a:rPr sz="2000" b="1" kern="100" dirty="0" err="1">
                  <a:solidFill>
                    <a:srgbClr val="C0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就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，常用于书面语</a:t>
              </a:r>
              <a:endParaRPr lang="vi-V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 =</a:t>
              </a:r>
              <a:r>
                <a:rPr lang="zh-CN" altLang="en-US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就</a:t>
              </a:r>
              <a:endParaRPr sz="20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230505" y="5248275"/>
            <a:ext cx="11488420" cy="1256665"/>
            <a:chOff x="-443" y="1654"/>
            <a:chExt cx="19576" cy="2564"/>
          </a:xfrm>
        </p:grpSpPr>
        <p:sp>
          <p:nvSpPr>
            <p:cNvPr id="21" name="矩形 20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我的好朋友因为长得特别漂亮，人也聪明，所以被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为校花。</a:t>
              </a:r>
            </a:p>
          </p:txBody>
        </p:sp>
        <p:pic>
          <p:nvPicPr>
            <p:cNvPr id="22" name="图片 21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230505" y="4026535"/>
            <a:ext cx="11488420" cy="1256665"/>
            <a:chOff x="-443" y="1654"/>
            <a:chExt cx="19576" cy="2564"/>
          </a:xfrm>
        </p:grpSpPr>
        <p:sp>
          <p:nvSpPr>
            <p:cNvPr id="15" name="矩形 14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老板看了一下合同，然后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头表示不同意。</a:t>
              </a:r>
            </a:p>
          </p:txBody>
        </p:sp>
        <p:pic>
          <p:nvPicPr>
            <p:cNvPr id="19" name="图片 18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63010" y="702310"/>
            <a:ext cx="6571416" cy="1322070"/>
            <a:chOff x="4422" y="462"/>
            <a:chExt cx="3123" cy="2082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2" y="462"/>
              <a:ext cx="3123" cy="208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称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蹲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摇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摆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根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碎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便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便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30505" y="1583055"/>
            <a:ext cx="11488420" cy="1256665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那个孩子看他的妈妈不理他，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不再哭了。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4872355" y="4628515"/>
            <a:ext cx="19951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摇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495925" y="2212975"/>
            <a:ext cx="19951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便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720455" y="5835650"/>
            <a:ext cx="19951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称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30505" y="2804795"/>
            <a:ext cx="11488420" cy="1256665"/>
            <a:chOff x="-443" y="1654"/>
            <a:chExt cx="19576" cy="2564"/>
          </a:xfrm>
        </p:grpSpPr>
        <p:sp>
          <p:nvSpPr>
            <p:cNvPr id="12" name="矩形 1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刚买回来的鲜花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在桌子上，漂亮极了。</a:t>
              </a:r>
            </a:p>
          </p:txBody>
        </p:sp>
        <p:pic>
          <p:nvPicPr>
            <p:cNvPr id="13" name="图片 1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3386455" y="3420745"/>
            <a:ext cx="19951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4" grpId="0"/>
      <p:bldP spid="10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962562" y="367030"/>
            <a:ext cx="6642959" cy="1330960"/>
            <a:chOff x="4388" y="462"/>
            <a:chExt cx="3157" cy="2096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88" y="476"/>
              <a:ext cx="3123" cy="208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称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蹲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摇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摆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根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碎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便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便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516380"/>
            <a:ext cx="12287885" cy="1390015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3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听到这个消息，他的手抖了一下，玻璃杯掉到地上摔</a:t>
              </a:r>
              <a:r>
                <a:rPr lang="en-US" altLang="zh-CN" sz="30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000" b="1">
                  <a:solidFill>
                    <a:schemeClr val="tx2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3261995"/>
            <a:ext cx="12287885" cy="13233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l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一个盲人摸到了大象的尾巴，所以他觉得大象像一</a:t>
              </a:r>
              <a:r>
                <a:rPr lang="en-US" altLang="zh-CN" sz="30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绳</a:t>
              </a:r>
              <a:r>
                <a:rPr lang="zh-CN" altLang="en-US" sz="3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子。</a:t>
              </a:r>
              <a:endParaRPr lang="zh-CN" altLang="en-US" sz="3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940935"/>
            <a:ext cx="12345035" cy="13233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3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狮子悄悄地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在那匹斑马后面的草丛里，等待机会。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8916670" y="3893820"/>
            <a:ext cx="1995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根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319655" y="5581650"/>
            <a:ext cx="1995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蹲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352280" y="2211705"/>
            <a:ext cx="1995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微信图片_20220927114515.jpg微信图片_202209271145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347075" y="1070610"/>
            <a:ext cx="2489200" cy="33147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49553" y="4542155"/>
            <a:ext cx="3483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shàn yú</a:t>
            </a:r>
          </a:p>
          <a:p>
            <a:pPr algn="ctr"/>
            <a:r>
              <a:rPr lang="en-US" sz="66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善 于</a:t>
            </a:r>
            <a:endParaRPr lang="en-US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67100" y="5321935"/>
            <a:ext cx="43827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他是一个善于观察的孩子</a:t>
            </a:r>
            <a:r>
              <a:rPr lang="en-US" altLang="zh-CN" sz="2800"/>
              <a:t>，</a:t>
            </a:r>
            <a:r>
              <a:rPr lang="zh-CN" altLang="en-US" sz="2800"/>
              <a:t>总是可以找到重要线索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微信图片_20220927114732.jpg微信图片_202209271147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228330" y="1459230"/>
            <a:ext cx="3296920" cy="26028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90828" y="4231640"/>
            <a:ext cx="39712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hū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rá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</a:t>
            </a:r>
            <a:endParaRPr lang="zh-CN" altLang="zh-CN" sz="6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/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忽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然</a:t>
            </a:r>
            <a:endParaRPr lang="zh-CN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6205" y="4859655"/>
            <a:ext cx="37769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忽然</a:t>
            </a:r>
            <a:r>
              <a:rPr lang="en-US" altLang="zh-CN" sz="2800"/>
              <a:t>，</a:t>
            </a:r>
            <a:r>
              <a:rPr lang="zh-CN" altLang="en-US" sz="2800"/>
              <a:t>天空中出现一只巨大的飞鸟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微信图片_20220927115009.png微信图片_2022092711500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068310" y="861060"/>
            <a:ext cx="3603625" cy="36042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22565" y="4196715"/>
            <a:ext cx="44786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bú yào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jǐn</a:t>
            </a:r>
          </a:p>
          <a:p>
            <a:pPr algn="ctr" eaLnBrk="1">
              <a:lnSpc>
                <a:spcPct val="100000"/>
              </a:lnSpc>
            </a:pPr>
            <a:r>
              <a:rPr 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704020202020204"/>
                <a:sym typeface="Arial" panose="020B0704020202020204"/>
              </a:rPr>
              <a:t>不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704020202020204"/>
                <a:sym typeface="Arial" panose="020B0704020202020204"/>
              </a:rPr>
              <a:t> </a:t>
            </a:r>
            <a:r>
              <a:rPr 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704020202020204"/>
                <a:sym typeface="Arial" panose="020B0704020202020204"/>
              </a:rPr>
              <a:t>要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704020202020204"/>
                <a:sym typeface="Arial" panose="020B0704020202020204"/>
              </a:rPr>
              <a:t> </a:t>
            </a:r>
            <a:r>
              <a:rPr 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704020202020204"/>
                <a:sym typeface="Arial" panose="020B0704020202020204"/>
              </a:rPr>
              <a:t>紧</a:t>
            </a:r>
            <a:endParaRPr lang="zh-CN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Arial" panose="020B0704020202020204"/>
              <a:sym typeface="Arial" panose="020B07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79495" y="5222875"/>
            <a:ext cx="54616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小明摔跤了</a:t>
            </a:r>
            <a:r>
              <a:rPr lang="en-US" altLang="zh-CN" sz="2800"/>
              <a:t>。</a:t>
            </a:r>
          </a:p>
          <a:p>
            <a:r>
              <a:rPr lang="zh-CN" altLang="en-US" sz="2800"/>
              <a:t>小林问他</a:t>
            </a:r>
            <a:r>
              <a:rPr lang="en-US" altLang="zh-CN" sz="2800"/>
              <a:t>：</a:t>
            </a:r>
            <a:r>
              <a:rPr lang="zh-CN" altLang="en-US" sz="2800"/>
              <a:t>“你不要紧吧</a:t>
            </a:r>
            <a:r>
              <a:rPr lang="en-US" altLang="zh-CN" sz="2800"/>
              <a:t>？</a:t>
            </a:r>
            <a:r>
              <a:rPr lang="zh-CN" altLang="en-US" sz="2800"/>
              <a:t>”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101010.png1010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189278" y="861060"/>
            <a:ext cx="3361690" cy="36042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22565" y="4196715"/>
            <a:ext cx="44786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zī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shì</a:t>
            </a:r>
          </a:p>
          <a:p>
            <a:pPr algn="ctr"/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姿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势</a:t>
            </a:r>
            <a:endParaRPr lang="zh-CN" altLang="en-US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7180" y="4196715"/>
            <a:ext cx="43821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写作业的时候我们要背挺直</a:t>
            </a:r>
            <a:r>
              <a:rPr lang="en-US" altLang="zh-CN" sz="2800"/>
              <a:t>，</a:t>
            </a:r>
            <a:r>
              <a:rPr lang="zh-CN" altLang="en-US" sz="2800"/>
              <a:t>这才是正确的姿势</a:t>
            </a:r>
            <a:r>
              <a:rPr lang="en-US" altLang="zh-CN" sz="2800"/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361180" y="5420995"/>
            <a:ext cx="4173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/>
              <a:t>你跳舞的姿势不对。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777777.png77777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072438" y="1593533"/>
            <a:ext cx="3595370" cy="21393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22565" y="4196715"/>
            <a:ext cx="44786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jǐn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(lì)</a:t>
            </a:r>
          </a:p>
          <a:p>
            <a:pPr algn="ctr" eaLnBrk="1"/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尽（力）</a:t>
            </a:r>
            <a:endParaRPr lang="zh-CN" altLang="en-US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752850" y="4693920"/>
            <a:ext cx="4069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只要我们尽力了</a:t>
            </a:r>
            <a:r>
              <a:rPr lang="en-US" altLang="zh-CN" sz="2400"/>
              <a:t>，</a:t>
            </a:r>
            <a:r>
              <a:rPr lang="zh-CN" altLang="en-US" sz="2400"/>
              <a:t>这件事失败了也不要紧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131313.png1313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068310" y="1310005"/>
            <a:ext cx="3603625" cy="27063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22565" y="4196715"/>
            <a:ext cx="44786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què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dìng</a:t>
            </a:r>
            <a:endParaRPr lang="en-US" altLang="zh-CN" sz="66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 eaLnBrk="1"/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确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定</a:t>
            </a:r>
            <a:endParaRPr lang="zh-CN" altLang="en-US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26510" y="5041265"/>
            <a:ext cx="37807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A:</a:t>
            </a:r>
            <a:r>
              <a:rPr lang="zh-CN" altLang="en-US" sz="2800"/>
              <a:t>这道题选第二个选项</a:t>
            </a:r>
            <a:r>
              <a:rPr lang="en-US" altLang="zh-CN" sz="2800"/>
              <a:t>。</a:t>
            </a:r>
          </a:p>
          <a:p>
            <a:r>
              <a:rPr lang="en-US" altLang="zh-CN" sz="2800"/>
              <a:t>B：</a:t>
            </a:r>
            <a:r>
              <a:rPr lang="zh-CN" altLang="en-US" sz="2800"/>
              <a:t>你确定吗</a:t>
            </a:r>
            <a:r>
              <a:rPr lang="en-US" altLang="zh-CN" sz="2800"/>
              <a:t>？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微信图片_20220927174217.png微信图片_202209271742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296910" y="735965"/>
            <a:ext cx="3146425" cy="36042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22565" y="4196715"/>
            <a:ext cx="44786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fǎn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yìng</a:t>
            </a:r>
            <a:r>
              <a:rPr lang="zh-CN" altLang="zh-CN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zh-CN" sz="6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/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反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应</a:t>
            </a:r>
            <a:endParaRPr lang="zh-CN" altLang="en-US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17620" y="5107305"/>
            <a:ext cx="44792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还好他反应迅速</a:t>
            </a:r>
            <a:r>
              <a:rPr lang="en-US" altLang="zh-CN" sz="2800"/>
              <a:t>，</a:t>
            </a:r>
            <a:r>
              <a:rPr lang="zh-CN" altLang="en-US" sz="2800"/>
              <a:t>不然就被电到了</a:t>
            </a:r>
            <a:r>
              <a:rPr lang="en-US" altLang="zh-CN" sz="28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555.png55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822565" y="1207135"/>
            <a:ext cx="3729990" cy="29895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22565" y="4196715"/>
            <a:ext cx="44786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dǎ liè</a:t>
            </a:r>
            <a:r>
              <a:rPr 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</a:p>
          <a:p>
            <a:pPr algn="ctr"/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打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猎</a:t>
            </a:r>
            <a:endParaRPr lang="zh-CN" altLang="en-US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7180" y="5024755"/>
            <a:ext cx="38608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古代的国君很喜欢去森林里打猎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01295" y="1971675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48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善 于</a:t>
              </a:r>
              <a:endParaRPr lang="zh-CN" altLang="en-US" sz="48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be good at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-22860" y="2754630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shàn yú</a:t>
            </a:r>
            <a:endParaRPr lang="zh-CN" altLang="en-US" sz="32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53435" y="1971675"/>
            <a:ext cx="2320925" cy="3688715"/>
            <a:chOff x="4718" y="1909"/>
            <a:chExt cx="3655" cy="5809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862" y="4133"/>
              <a:ext cx="3511" cy="3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忽</a:t>
              </a:r>
              <a:r>
                <a:rPr lang="en-US" alt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然</a:t>
              </a:r>
              <a:endParaRPr lang="zh-CN" sz="48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suddenly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338830" y="2677160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hū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rá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631940" y="1971675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1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>
                <a:lnSpc>
                  <a:spcPct val="100000"/>
                </a:lnSpc>
              </a:pPr>
              <a:r>
                <a:rPr 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704020202020204"/>
                  <a:sym typeface="Arial" panose="020B0704020202020204"/>
                </a:rPr>
                <a:t>不</a:t>
              </a:r>
              <a:r>
                <a:rPr lang="en-US" alt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704020202020204"/>
                  <a:sym typeface="Arial" panose="020B0704020202020204"/>
                </a:rPr>
                <a:t> </a:t>
              </a:r>
              <a:r>
                <a:rPr 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704020202020204"/>
                  <a:sym typeface="Arial" panose="020B0704020202020204"/>
                </a:rPr>
                <a:t>要</a:t>
              </a:r>
              <a:r>
                <a:rPr lang="en-US" alt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704020202020204"/>
                  <a:sym typeface="Arial" panose="020B0704020202020204"/>
                </a:rPr>
                <a:t> </a:t>
              </a:r>
              <a:r>
                <a:rPr lang="zh-CN" sz="44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704020202020204"/>
                  <a:sym typeface="Arial" panose="020B0704020202020204"/>
                </a:rPr>
                <a:t>紧</a:t>
              </a:r>
              <a:endParaRPr lang="zh-CN" altLang="en-US" sz="4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it doesn’t matter</a:t>
              </a:r>
              <a:endPara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000" b="1" i="0" u="none" strike="noStrike" kern="100" cap="none" spc="0" normalizeH="0" baseline="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417945" y="2754630"/>
            <a:ext cx="275463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bú yào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jǐn</a:t>
            </a:r>
          </a:p>
          <a:p>
            <a:pPr algn="ctr" eaLnBrk="1"/>
            <a:endParaRPr lang="en-US" altLang="zh-CN" sz="3600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784080" y="1971675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2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sz="48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704020202020204"/>
                  <a:sym typeface="Times New Roman" panose="02020603050405020304" pitchFamily="18" charset="0"/>
                </a:rPr>
                <a:t>姿 势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pose, posture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Times New Roman" panose="02020603050405020304" pitchFamily="18" charset="0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783445" y="2707640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zī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shì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1" grpId="0"/>
      <p:bldP spid="30" grpId="0"/>
      <p:bldP spid="3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01295" y="1971675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en-US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反</a:t>
              </a:r>
              <a:r>
                <a:rPr lang="en-US" alt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应</a:t>
              </a:r>
            </a:p>
            <a:p>
              <a:pPr algn="ctr"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v./n. to react; response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-22860" y="2754630"/>
            <a:ext cx="2754630" cy="113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fǎn yìng</a:t>
            </a:r>
            <a:endParaRPr lang="zh-CN" altLang="en-US" sz="32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 eaLnBrk="1"/>
            <a:endParaRPr lang="zh-CN" altLang="en-US" sz="32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53435" y="1971675"/>
            <a:ext cx="2320925" cy="3996690"/>
            <a:chOff x="4718" y="1909"/>
            <a:chExt cx="3655" cy="6294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862" y="4133"/>
              <a:ext cx="3511" cy="40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尽</a:t>
              </a:r>
              <a:r>
                <a:rPr lang="en-US" alt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(</a:t>
              </a:r>
              <a:r>
                <a:rPr lang="zh-CN" altLang="en-US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力</a:t>
              </a:r>
              <a:r>
                <a:rPr lang="en-US" alt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try one’s best </a:t>
              </a:r>
              <a:endPara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338830" y="2677160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jǐn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(lì)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631940" y="1971675"/>
            <a:ext cx="2243455" cy="3596005"/>
            <a:chOff x="9262" y="2028"/>
            <a:chExt cx="3533" cy="5663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确</a:t>
              </a:r>
              <a:r>
                <a:rPr lang="en-US" alt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定</a:t>
              </a:r>
            </a:p>
            <a:p>
              <a:pPr algn="ctr"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confirm, to make sure</a:t>
              </a:r>
            </a:p>
            <a:p>
              <a:pPr algn="ctr" eaLnBrk="1"/>
              <a:endParaRPr kumimoji="0" lang="zh-CN" sz="4800" b="1" i="0" u="none" strike="noStrike" kern="100" cap="none" spc="0" normalizeH="0" baseline="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417945" y="2754630"/>
            <a:ext cx="275463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què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dìng</a:t>
            </a:r>
            <a:endParaRPr lang="en-US" altLang="zh-CN" sz="3600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 eaLnBrk="1"/>
            <a:endParaRPr lang="en-US" altLang="zh-CN" sz="3600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784080" y="1971675"/>
            <a:ext cx="2229485" cy="3380740"/>
            <a:chOff x="4717" y="1909"/>
            <a:chExt cx="3511" cy="5324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3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打</a:t>
              </a:r>
              <a:r>
                <a:rPr lang="en-US" altLang="zh-CN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4800" b="1" kern="100" dirty="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猎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go hunting</a:t>
              </a:r>
              <a:endPara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783445" y="2707640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dǎ liè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Times New Roman" panose="02020603050405020304" pitchFamily="18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21" grpId="0"/>
      <p:bldP spid="30" grpId="0"/>
      <p:bldP spid="3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D:\Desktop\118(1).png118(1)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96685" y="359410"/>
            <a:ext cx="1597660" cy="1597660"/>
          </a:xfrm>
          <a:prstGeom prst="rect">
            <a:avLst/>
          </a:prstGeom>
        </p:spPr>
      </p:pic>
      <p:pic>
        <p:nvPicPr>
          <p:cNvPr id="13" name="图片 12" descr="D:\Desktop\119.png1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35003" y="3695065"/>
            <a:ext cx="2019935" cy="210566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446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840516"/>
            <a:chOff x="7787" y="3144"/>
            <a:chExt cx="5660" cy="93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忽然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659890"/>
            <a:ext cx="8538845" cy="721290"/>
            <a:chOff x="518" y="3426"/>
            <a:chExt cx="13447" cy="748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748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584"/>
              <a:ext cx="13446" cy="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我们正在上课，他</a:t>
              </a:r>
              <a:r>
                <a:rPr lang="zh-CN" altLang="en-US" sz="2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忽然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26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突然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站了起来。</a:t>
              </a:r>
              <a:endPara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840516"/>
            <a:chOff x="7787" y="3144"/>
            <a:chExt cx="5660" cy="935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chemeClr val="accent1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突然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8930" y="2553743"/>
            <a:ext cx="8538845" cy="891271"/>
            <a:chOff x="518" y="3383"/>
            <a:chExt cx="13447" cy="925"/>
          </a:xfrm>
        </p:grpSpPr>
        <p:sp>
          <p:nvSpPr>
            <p:cNvPr id="17" name="圆角矩形 16"/>
            <p:cNvSpPr/>
            <p:nvPr/>
          </p:nvSpPr>
          <p:spPr>
            <a:xfrm>
              <a:off x="518" y="3396"/>
              <a:ext cx="13447" cy="87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7"/>
            <p:cNvSpPr txBox="1"/>
            <p:nvPr/>
          </p:nvSpPr>
          <p:spPr>
            <a:xfrm>
              <a:off x="519" y="3383"/>
              <a:ext cx="13446" cy="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一天傍晚，他正带着士兵们在山中打猎，</a:t>
              </a:r>
              <a:r>
                <a:rPr lang="zh-CN" altLang="en-US" sz="2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忽然</a:t>
              </a:r>
              <a:r>
                <a:rPr lang="en-US" altLang="zh-CN" sz="2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2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突然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发现远处的草丛中蹲着一只大老虎。</a:t>
              </a:r>
              <a:endPara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8930" y="3585775"/>
            <a:ext cx="8538845" cy="720725"/>
            <a:chOff x="518" y="3426"/>
            <a:chExt cx="13447" cy="748"/>
          </a:xfrm>
        </p:grpSpPr>
        <p:sp>
          <p:nvSpPr>
            <p:cNvPr id="21" name="圆角矩形 20"/>
            <p:cNvSpPr/>
            <p:nvPr/>
          </p:nvSpPr>
          <p:spPr>
            <a:xfrm>
              <a:off x="518" y="3426"/>
              <a:ext cx="13447" cy="748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7"/>
            <p:cNvSpPr txBox="1"/>
            <p:nvPr/>
          </p:nvSpPr>
          <p:spPr>
            <a:xfrm>
              <a:off x="518" y="3549"/>
              <a:ext cx="13446" cy="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这件事太</a:t>
              </a:r>
              <a:r>
                <a:rPr lang="zh-CN" altLang="en-US" sz="26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突然</a:t>
              </a:r>
              <a:r>
                <a:rPr lang="zh-CN" altLang="en-US" sz="26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！</a:t>
              </a:r>
              <a:endPara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930" y="4548435"/>
            <a:ext cx="8538845" cy="720725"/>
            <a:chOff x="518" y="3413"/>
            <a:chExt cx="13447" cy="748"/>
          </a:xfrm>
        </p:grpSpPr>
        <p:sp>
          <p:nvSpPr>
            <p:cNvPr id="25" name="圆角矩形 24"/>
            <p:cNvSpPr/>
            <p:nvPr/>
          </p:nvSpPr>
          <p:spPr>
            <a:xfrm>
              <a:off x="518" y="3413"/>
              <a:ext cx="13447" cy="748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7"/>
            <p:cNvSpPr txBox="1"/>
            <p:nvPr/>
          </p:nvSpPr>
          <p:spPr>
            <a:xfrm>
              <a:off x="518" y="3549"/>
              <a:ext cx="13446" cy="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这件事发生得太</a:t>
              </a:r>
              <a:r>
                <a:rPr lang="zh-CN" altLang="en-US" sz="26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突然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了！</a:t>
              </a:r>
              <a:endPara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28930" y="5511095"/>
            <a:ext cx="8538845" cy="720725"/>
            <a:chOff x="518" y="3413"/>
            <a:chExt cx="13447" cy="748"/>
          </a:xfrm>
        </p:grpSpPr>
        <p:sp>
          <p:nvSpPr>
            <p:cNvPr id="29" name="圆角矩形 28"/>
            <p:cNvSpPr/>
            <p:nvPr/>
          </p:nvSpPr>
          <p:spPr>
            <a:xfrm>
              <a:off x="518" y="3413"/>
              <a:ext cx="13447" cy="748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7"/>
            <p:cNvSpPr txBox="1"/>
            <p:nvPr/>
          </p:nvSpPr>
          <p:spPr>
            <a:xfrm>
              <a:off x="518" y="3549"/>
              <a:ext cx="13446" cy="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</a:t>
              </a:r>
              <a:r>
                <a:rPr lang="zh-CN" altLang="en-US" sz="26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突然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的一声喊叫吓了我一跳。</a:t>
              </a:r>
              <a:endPara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1224915" y="1061085"/>
            <a:ext cx="4924425" cy="515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表示很快发生</a:t>
            </a:r>
            <a:r>
              <a:rPr lang="en-US" altLang="zh-CN" dirty="0"/>
              <a:t>，</a:t>
            </a:r>
            <a:r>
              <a:rPr lang="zh-CN" altLang="en-US" dirty="0"/>
              <a:t>没有想到的意思</a:t>
            </a:r>
            <a:r>
              <a:rPr lang="en-US" altLang="zh-CN" dirty="0"/>
              <a:t>。</a:t>
            </a:r>
            <a:r>
              <a:rPr lang="vi-VN" altLang="zh-CN" dirty="0"/>
              <a:t>Biểu thị rất nhanh xảy ra, không ngờ tới</a:t>
            </a:r>
            <a:endParaRPr lang="en-US" altLang="zh-CN" dirty="0"/>
          </a:p>
        </p:txBody>
      </p:sp>
      <p:sp>
        <p:nvSpPr>
          <p:cNvPr id="8" name="圆角矩形 7"/>
          <p:cNvSpPr/>
          <p:nvPr/>
        </p:nvSpPr>
        <p:spPr>
          <a:xfrm>
            <a:off x="4407535" y="3082290"/>
            <a:ext cx="4829810" cy="7207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“</a:t>
            </a:r>
            <a:r>
              <a:rPr lang="zh-CN" altLang="en-US" sz="2000" dirty="0"/>
              <a:t>忽然”只能用在动词</a:t>
            </a:r>
            <a:r>
              <a:rPr lang="en-US" altLang="zh-CN" sz="2000" dirty="0"/>
              <a:t>、</a:t>
            </a:r>
            <a:r>
              <a:rPr lang="zh-CN" altLang="en-US" sz="2000" dirty="0"/>
              <a:t>小句前面</a:t>
            </a:r>
            <a:r>
              <a:rPr lang="en-US" altLang="zh-CN" sz="2000" dirty="0"/>
              <a:t>。</a:t>
            </a:r>
            <a:r>
              <a:rPr lang="zh-CN" altLang="en-US" sz="2000" dirty="0"/>
              <a:t>作</a:t>
            </a:r>
            <a:r>
              <a:rPr lang="zh-CN" altLang="en-US" sz="1600" dirty="0"/>
              <a:t>副词</a:t>
            </a:r>
            <a:r>
              <a:rPr lang="vi-VN" altLang="zh-CN" sz="1600" dirty="0"/>
              <a:t> chỉ dùng trc động từ, câu nhỏ, làm phó từ</a:t>
            </a:r>
            <a:endParaRPr lang="zh-CN" altLang="en-US" sz="1600" dirty="0"/>
          </a:p>
        </p:txBody>
      </p:sp>
      <p:sp>
        <p:nvSpPr>
          <p:cNvPr id="11" name="圆角矩形 10"/>
          <p:cNvSpPr/>
          <p:nvPr/>
        </p:nvSpPr>
        <p:spPr>
          <a:xfrm>
            <a:off x="3202305" y="3753485"/>
            <a:ext cx="2344420" cy="4838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形容词作谓语</a:t>
            </a:r>
            <a:r>
              <a:rPr lang="vi-VN" altLang="zh-CN" dirty="0"/>
              <a:t> tính từ làm vị ngữ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4152265" y="4676775"/>
            <a:ext cx="2344420" cy="4838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形容词作补语</a:t>
            </a:r>
            <a:r>
              <a:rPr lang="vi-VN" altLang="zh-CN" dirty="0"/>
              <a:t> tính từ làm bổ ngữ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5096510" y="5687695"/>
            <a:ext cx="2344420" cy="4838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形容词作定语</a:t>
            </a:r>
            <a:r>
              <a:rPr lang="vi-VN" altLang="zh-CN" dirty="0"/>
              <a:t> tính từ làm định ngữ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6" grpId="0" animBg="1"/>
      <p:bldP spid="6" grpId="1" animBg="1"/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5905" y="1639570"/>
          <a:ext cx="11708130" cy="4143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3270">
                <a:tc>
                  <a:txBody>
                    <a:bodyPr/>
                    <a:lstStyle/>
                    <a:p>
                      <a:pPr algn="ctr"/>
                      <a:endParaRPr lang="zh-CN" altLang="en-US" sz="20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aseline="0" dirty="0"/>
                        <a:t>忽然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aseline="0" dirty="0"/>
                        <a:t>突然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marR="0" lvl="0" indent="0" algn="l" defTabSz="1300480" rtl="0" eaLnBrk="1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defRPr/>
                      </a:pP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他抱着小狗走到门口，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__________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   想起妈妈不允许他在家里养小动物。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eaLnBrk="1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algn="l"/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消息来得太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__________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了，我完全没有准备。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这是一个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__________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的变化，我们谁也没想到。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marL="0" marR="0" lvl="0" indent="0" algn="l" defTabSz="1300480" rtl="0" eaLnBrk="1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有个铁路工人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+mn-ea"/>
                        </a:rPr>
                        <a:t>__________</a:t>
                      </a:r>
                      <a:r>
                        <a:rPr sz="23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华文细黑" panose="02010600040101010101" pitchFamily="2" charset="-122"/>
                          <a:ea typeface="华文细黑" panose="02010600040101010101" pitchFamily="2" charset="-122"/>
                          <a:cs typeface="华文细黑" panose="02010600040101010101" pitchFamily="2" charset="-122"/>
                          <a:sym typeface="华文细黑" panose="02010600040101010101" pitchFamily="2" charset="-122"/>
                        </a:rPr>
                        <a:t>就辞了职，买帆船出海了，你听说了吗？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7"/>
          <p:cNvSpPr txBox="1"/>
          <p:nvPr/>
        </p:nvSpPr>
        <p:spPr>
          <a:xfrm>
            <a:off x="165735" y="213995"/>
            <a:ext cx="12553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43840" y="71628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755900" y="716280"/>
            <a:ext cx="7035165" cy="522605"/>
          </a:xfrm>
          <a:prstGeom prst="roundRect">
            <a:avLst/>
          </a:prstGeom>
          <a:noFill/>
          <a:ln w="19050">
            <a:solidFill>
              <a:srgbClr val="B8975A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7405" y="802640"/>
            <a:ext cx="112071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algn="ctr" defTabSz="914400" rtl="0" fontAlgn="auto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选词填空</a:t>
            </a:r>
            <a:r>
              <a:rPr lang="en-US" altLang="zh-CN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</a:t>
            </a:r>
            <a:r>
              <a: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✓</a:t>
            </a:r>
            <a:r>
              <a:rPr lang="en-US" altLang="zh-CN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</a:t>
            </a:r>
            <a:r>
              <a: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✕</a:t>
            </a:r>
            <a:r>
              <a:rPr lang="en-US" altLang="zh-CN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</a:t>
            </a:r>
            <a:endParaRPr lang="zh-CN" altLang="en-US" sz="2800" dirty="0">
              <a:solidFill>
                <a:srgbClr val="B8975A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70" name="小钩"/>
          <p:cNvGrpSpPr/>
          <p:nvPr/>
        </p:nvGrpSpPr>
        <p:grpSpPr>
          <a:xfrm>
            <a:off x="8773795" y="2596515"/>
            <a:ext cx="579755" cy="560070"/>
            <a:chOff x="677837" y="1446312"/>
            <a:chExt cx="633828" cy="612000"/>
          </a:xfrm>
        </p:grpSpPr>
        <p:sp>
          <p:nvSpPr>
            <p:cNvPr id="65" name="椭圆 6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67" name="图片 66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小钩"/>
          <p:cNvGrpSpPr/>
          <p:nvPr/>
        </p:nvGrpSpPr>
        <p:grpSpPr>
          <a:xfrm>
            <a:off x="10698480" y="2627630"/>
            <a:ext cx="579755" cy="560070"/>
            <a:chOff x="677837" y="1446312"/>
            <a:chExt cx="633828" cy="612000"/>
          </a:xfrm>
        </p:grpSpPr>
        <p:sp>
          <p:nvSpPr>
            <p:cNvPr id="5" name="椭圆 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小钩"/>
          <p:cNvGrpSpPr/>
          <p:nvPr/>
        </p:nvGrpSpPr>
        <p:grpSpPr>
          <a:xfrm>
            <a:off x="10749280" y="3462655"/>
            <a:ext cx="579755" cy="560070"/>
            <a:chOff x="677837" y="1446312"/>
            <a:chExt cx="633828" cy="612000"/>
          </a:xfrm>
        </p:grpSpPr>
        <p:sp>
          <p:nvSpPr>
            <p:cNvPr id="12" name="椭圆 11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小钩"/>
          <p:cNvGrpSpPr/>
          <p:nvPr/>
        </p:nvGrpSpPr>
        <p:grpSpPr>
          <a:xfrm>
            <a:off x="10768965" y="4295775"/>
            <a:ext cx="579755" cy="560070"/>
            <a:chOff x="677837" y="1446312"/>
            <a:chExt cx="633828" cy="612000"/>
          </a:xfrm>
        </p:grpSpPr>
        <p:sp>
          <p:nvSpPr>
            <p:cNvPr id="20" name="椭圆 19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小钩"/>
          <p:cNvGrpSpPr/>
          <p:nvPr/>
        </p:nvGrpSpPr>
        <p:grpSpPr>
          <a:xfrm>
            <a:off x="8852535" y="5144770"/>
            <a:ext cx="579755" cy="560070"/>
            <a:chOff x="677837" y="1446312"/>
            <a:chExt cx="633828" cy="612000"/>
          </a:xfrm>
        </p:grpSpPr>
        <p:sp>
          <p:nvSpPr>
            <p:cNvPr id="25" name="椭圆 2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小钩"/>
          <p:cNvGrpSpPr/>
          <p:nvPr/>
        </p:nvGrpSpPr>
        <p:grpSpPr>
          <a:xfrm>
            <a:off x="10698480" y="5160010"/>
            <a:ext cx="579755" cy="560070"/>
            <a:chOff x="677837" y="1446312"/>
            <a:chExt cx="633828" cy="612000"/>
          </a:xfrm>
        </p:grpSpPr>
        <p:sp>
          <p:nvSpPr>
            <p:cNvPr id="14" name="椭圆 13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1131570" y="4620260"/>
            <a:ext cx="9500870" cy="1070610"/>
            <a:chOff x="-443" y="1654"/>
            <a:chExt cx="19576" cy="2564"/>
          </a:xfrm>
        </p:grpSpPr>
        <p:sp>
          <p:nvSpPr>
            <p:cNvPr id="47" name="矩形 46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她很爱护学生，也很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教育他们。</a:t>
              </a:r>
            </a:p>
          </p:txBody>
        </p:sp>
        <p:pic>
          <p:nvPicPr>
            <p:cNvPr id="48" name="图片 47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1131570" y="2839085"/>
            <a:ext cx="9500870" cy="1070610"/>
            <a:chOff x="-443" y="1654"/>
            <a:chExt cx="19576" cy="2564"/>
          </a:xfrm>
        </p:grpSpPr>
        <p:sp>
          <p:nvSpPr>
            <p:cNvPr id="35" name="矩形 34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你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他就是我们要找的那位英雄吗？</a:t>
              </a:r>
            </a:p>
          </p:txBody>
        </p:sp>
        <p:pic>
          <p:nvPicPr>
            <p:cNvPr id="37" name="图片 36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131570" y="1934210"/>
            <a:ext cx="9500870" cy="107061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不能这样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地看问题，而要多方面地考虑。</a:t>
              </a:r>
            </a:p>
          </p:txBody>
        </p:sp>
        <p:pic>
          <p:nvPicPr>
            <p:cNvPr id="19" name="图片 18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31570" y="1029335"/>
            <a:ext cx="9500870" cy="107061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他在四处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，但至今仍然没有结果。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2659380" y="1453515"/>
            <a:ext cx="3591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寻找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7387269" y="320587"/>
            <a:ext cx="1052830" cy="670849"/>
            <a:chOff x="4428" y="462"/>
            <a:chExt cx="2340" cy="1067"/>
          </a:xfrm>
        </p:grpSpPr>
        <p:sp>
          <p:nvSpPr>
            <p:cNvPr id="32" name="圆角矩形 31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4449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550" y="580"/>
              <a:ext cx="2155" cy="8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寻找</a:t>
              </a: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6119174" y="320587"/>
            <a:ext cx="1043940" cy="670849"/>
            <a:chOff x="4428" y="462"/>
            <a:chExt cx="2319" cy="1067"/>
          </a:xfrm>
        </p:grpSpPr>
        <p:sp>
          <p:nvSpPr>
            <p:cNvPr id="100" name="圆角矩形 99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482" y="569"/>
              <a:ext cx="2155" cy="8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善于</a:t>
              </a:r>
            </a:p>
          </p:txBody>
        </p:sp>
      </p:grpSp>
      <p:sp>
        <p:nvSpPr>
          <p:cNvPr id="139" name="文本框 138"/>
          <p:cNvSpPr txBox="1"/>
          <p:nvPr/>
        </p:nvSpPr>
        <p:spPr>
          <a:xfrm>
            <a:off x="2659380" y="2354580"/>
            <a:ext cx="3591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片面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1493520" y="3277870"/>
            <a:ext cx="3591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确定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4296410" y="5078730"/>
            <a:ext cx="3591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善于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131570" y="3743960"/>
            <a:ext cx="9500870" cy="1070610"/>
            <a:chOff x="-443" y="1654"/>
            <a:chExt cx="19576" cy="2564"/>
          </a:xfrm>
        </p:grpSpPr>
        <p:sp>
          <p:nvSpPr>
            <p:cNvPr id="41" name="矩形 40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我们班有个同学被车撞了，还好伤得不重，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。</a:t>
              </a:r>
            </a:p>
          </p:txBody>
        </p:sp>
        <p:pic>
          <p:nvPicPr>
            <p:cNvPr id="42" name="图片 41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43" name="组合 42"/>
          <p:cNvGrpSpPr/>
          <p:nvPr/>
        </p:nvGrpSpPr>
        <p:grpSpPr>
          <a:xfrm>
            <a:off x="1131570" y="5553710"/>
            <a:ext cx="9500870" cy="1070610"/>
            <a:chOff x="-443" y="1654"/>
            <a:chExt cx="19576" cy="2564"/>
          </a:xfrm>
        </p:grpSpPr>
        <p:sp>
          <p:nvSpPr>
            <p:cNvPr id="44" name="矩形 43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别难过了，虽然成绩不理想，但你已经</a:t>
              </a:r>
              <a:r>
                <a:rPr lang="en-US" altLang="zh-CN" sz="28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</a:t>
              </a:r>
              <a:r>
                <a:rPr lang="zh-CN" altLang="en-US" sz="28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了。</a:t>
              </a:r>
            </a:p>
          </p:txBody>
        </p:sp>
        <p:pic>
          <p:nvPicPr>
            <p:cNvPr id="45" name="图片 44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141" name="文本框 140"/>
          <p:cNvSpPr txBox="1"/>
          <p:nvPr/>
        </p:nvSpPr>
        <p:spPr>
          <a:xfrm>
            <a:off x="7819390" y="4172585"/>
            <a:ext cx="3591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不要紧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162800" y="6042025"/>
            <a:ext cx="3591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尽力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664254" y="320587"/>
            <a:ext cx="1388745" cy="670849"/>
            <a:chOff x="4054" y="462"/>
            <a:chExt cx="3088" cy="1067"/>
          </a:xfrm>
        </p:grpSpPr>
        <p:sp>
          <p:nvSpPr>
            <p:cNvPr id="51" name="圆角矩形 5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4449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054" y="548"/>
              <a:ext cx="3088" cy="8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不要紧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3686489" y="320587"/>
            <a:ext cx="993775" cy="670849"/>
            <a:chOff x="4428" y="462"/>
            <a:chExt cx="3124" cy="1067"/>
          </a:xfrm>
        </p:grpSpPr>
        <p:sp>
          <p:nvSpPr>
            <p:cNvPr id="90" name="圆角矩形 89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4429" y="569"/>
              <a:ext cx="3123" cy="8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片面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449472" y="320587"/>
            <a:ext cx="1012862" cy="670849"/>
            <a:chOff x="4361" y="462"/>
            <a:chExt cx="3184" cy="1067"/>
          </a:xfrm>
        </p:grpSpPr>
        <p:sp>
          <p:nvSpPr>
            <p:cNvPr id="93" name="圆角矩形 9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361" y="595"/>
              <a:ext cx="3123" cy="8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尽力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904419" y="320587"/>
            <a:ext cx="990600" cy="670560"/>
            <a:chOff x="7162" y="636"/>
            <a:chExt cx="1560" cy="1056"/>
          </a:xfrm>
        </p:grpSpPr>
        <p:sp>
          <p:nvSpPr>
            <p:cNvPr id="62" name="圆角矩形 61"/>
            <p:cNvSpPr/>
            <p:nvPr/>
          </p:nvSpPr>
          <p:spPr>
            <a:xfrm>
              <a:off x="7162" y="636"/>
              <a:ext cx="1561" cy="1056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7183" y="753"/>
              <a:ext cx="1528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确定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7184" y="753"/>
              <a:ext cx="1528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确定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39" grpId="0"/>
      <p:bldP spid="140" grpId="0"/>
      <p:bldP spid="142" grpId="0"/>
      <p:bldP spid="141" grpId="0"/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66645"/>
            <a:ext cx="609282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没回家，肯定是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公司有事，</a:t>
            </a:r>
          </a:p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你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着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什么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急！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20950" y="502920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半夜里，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睡着睡着，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坐了起来。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瞎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忽然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74465" y="203708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A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0723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28545"/>
            <a:ext cx="440055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这么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美丽的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图画，竟然是用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绳子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做的！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4699000"/>
            <a:ext cx="4540885" cy="142049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他们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去两个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不同的城市做社会调查，想了解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南方和北方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不同的风俗。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根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分别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用“根”完成下列句子或对话。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3555365"/>
            <a:ext cx="8921750" cy="5340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2.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第一次用筷子的时候，______________________？（根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-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量词）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446905"/>
            <a:ext cx="7607935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3.A：你今天去超市主要想买什么？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B: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________________________________？（根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-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量词）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45615" y="2672715"/>
            <a:ext cx="922337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7500" indent="-317500" eaLnBrk="1">
              <a:lnSpc>
                <a:spcPct val="120000"/>
              </a:lnSpc>
              <a:buSzPct val="100000"/>
              <a:buAutoNum type="arabicPeriod"/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植物靠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。（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根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-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名词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）</a:t>
            </a:r>
            <a:endParaRPr lang="zh-CN" altLang="en-US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3620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“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便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”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改写句子。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7729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31340" y="3519805"/>
            <a:ext cx="8317230" cy="14204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2.朋友不停地给她介绍男朋友，但是每次不是她不喜欢别人，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就是别人不喜欢她。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朋友不停地给她介绍男朋友，但是每次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________________？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1340" y="2501265"/>
            <a:ext cx="876871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7500" indent="-317500" eaLnBrk="1">
              <a:lnSpc>
                <a:spcPct val="120000"/>
              </a:lnSpc>
              <a:buSzPct val="100000"/>
              <a:buAutoNum type="arabicPeriod"/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他刚出门，发现没带钥匙，就转身回去拿。</a:t>
            </a:r>
          </a:p>
          <a:p>
            <a:pPr marL="317500" indent="-317500" eaLnBrk="1">
              <a:lnSpc>
                <a:spcPct val="120000"/>
              </a:lnSpc>
              <a:buNone/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他刚出门，发现没带钥匙，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31340" y="4981575"/>
            <a:ext cx="7768590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3.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如果我们坚持原来的想法，这个工作是不可能完成的。</a:t>
            </a:r>
            <a:endParaRPr lang="zh-CN" altLang="en-US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如果我们坚持原来的想法，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______________________？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48260" y="-1157922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第七课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8811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7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99870" y="2572634"/>
            <a:ext cx="9661130" cy="2916646"/>
            <a:chOff x="1890" y="4056"/>
            <a:chExt cx="15214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0" y="4056"/>
              <a:ext cx="15214" cy="4593"/>
              <a:chOff x="-100" y="3667"/>
              <a:chExt cx="18920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100" y="3667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7281" y="6525"/>
                  <a:ext cx="10111" cy="902"/>
                  <a:chOff x="9415" y="6525"/>
                  <a:chExt cx="10111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941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7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2628" y="6525"/>
                    <a:ext cx="6898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  <a:sym typeface="Helvetica Light" charset="0"/>
                      </a:rPr>
                      <a:t>Two Idiom Stories 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7</a:t>
                  </a:r>
                  <a:r>
                    <a:rPr kumimoji="0" lang="zh-CN" alt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</a:t>
                  </a:r>
                  <a:r>
                    <a:rPr lang="zh-CN" altLang="en-US" sz="6000" b="1" noProof="0" dirty="0">
                      <a:ln>
                        <a:noFill/>
                      </a:ln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  <a:sym typeface="Helvetica" pitchFamily="34" charset="0"/>
                    </a:rPr>
                    <a:t>成语故事两则</a:t>
                  </a:r>
                  <a:endParaRPr kumimoji="0" lang="en-US" altLang="zh-CN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12122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Helvetica" pitchFamily="34" charset="0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285990" y="5885815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06095" y="1261110"/>
            <a:ext cx="11263630" cy="878941"/>
            <a:chOff x="-3197" y="3732"/>
            <a:chExt cx="17738" cy="1625"/>
          </a:xfrm>
        </p:grpSpPr>
        <p:sp>
          <p:nvSpPr>
            <p:cNvPr id="13" name="文本框 12"/>
            <p:cNvSpPr txBox="1"/>
            <p:nvPr/>
          </p:nvSpPr>
          <p:spPr>
            <a:xfrm>
              <a:off x="-3197" y="3994"/>
              <a:ext cx="17649" cy="136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algn="ctr" defTabSz="914400" rtl="0" fontAlgn="auto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Calibri" panose="020F0502020204030204" charset="0"/>
                </a:rPr>
                <a:t>你会射箭吗？射得准不准？</a:t>
              </a:r>
            </a:p>
            <a:p>
              <a:pPr marL="0" marR="0" algn="ctr" defTabSz="914400" rtl="0" fontAlgn="auto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2800" dirty="0">
                <a:solidFill>
                  <a:srgbClr val="B8975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-3197" y="3732"/>
              <a:ext cx="17738" cy="1201"/>
            </a:xfrm>
            <a:prstGeom prst="roundRect">
              <a:avLst/>
            </a:prstGeom>
            <a:noFill/>
            <a:ln w="19050">
              <a:solidFill>
                <a:srgbClr val="B8975A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D:\Desktop\116.png1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344035" y="2435860"/>
            <a:ext cx="3778250" cy="37782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split orient="vert" dir="in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308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11111.png111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995285" y="1727200"/>
            <a:ext cx="3562985" cy="25469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580" y="4542155"/>
            <a:ext cx="417703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jiāng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jūn</a:t>
            </a:r>
          </a:p>
          <a:p>
            <a:pPr algn="ctr">
              <a:lnSpc>
                <a:spcPct val="100000"/>
              </a:lnSpc>
            </a:pP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将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军</a:t>
            </a:r>
            <a:endParaRPr lang="zh-CN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236020" y="139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458" y="627919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22222.jpg222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8348028" y="1105535"/>
            <a:ext cx="2484755" cy="32448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58430" y="4669155"/>
            <a:ext cx="417703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zhī</a:t>
            </a:r>
          </a:p>
          <a:p>
            <a:pPr algn="ctr" eaLnBrk="1">
              <a:lnSpc>
                <a:spcPct val="100000"/>
              </a:lnSpc>
            </a:pP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支</a:t>
            </a:r>
            <a:endParaRPr lang="zh-CN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236020" y="24921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458" y="737139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2270" y="4577715"/>
            <a:ext cx="36556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一支笔</a:t>
            </a:r>
            <a:r>
              <a:rPr lang="en-US" altLang="zh-CN" sz="3600"/>
              <a:t>。</a:t>
            </a:r>
          </a:p>
          <a:p>
            <a:r>
              <a:rPr lang="zh-CN" altLang="en-US" sz="3600"/>
              <a:t>一支树枝</a:t>
            </a:r>
            <a:r>
              <a:rPr lang="en-US" altLang="zh-CN" sz="36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微信图片_202209271435322.jpg微信图片_2022092714353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973695" y="1459230"/>
            <a:ext cx="3004820" cy="30048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579110" y="5026025"/>
            <a:ext cx="77933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quán</a:t>
            </a:r>
            <a:r>
              <a:rPr lang="en-US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shén</a:t>
            </a:r>
            <a:r>
              <a:rPr lang="en-US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guàn</a:t>
            </a:r>
            <a:r>
              <a:rPr lang="en-US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40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zhù</a:t>
            </a:r>
            <a:r>
              <a:rPr sz="40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zh-CN" altLang="en-US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全</a:t>
            </a:r>
            <a:r>
              <a:rPr lang="en-US" altLang="zh-CN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altLang="en-US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神</a:t>
            </a:r>
            <a:r>
              <a:rPr lang="en-US" altLang="zh-CN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altLang="en-US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贯</a:t>
            </a:r>
            <a:r>
              <a:rPr lang="en-US" altLang="zh-CN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altLang="en-US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注</a:t>
            </a:r>
            <a:endParaRPr lang="zh-CN" altLang="en-US" sz="40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236020" y="139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458" y="627919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98240" y="4258945"/>
            <a:ext cx="427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他上课的时候全神贯注</a:t>
            </a:r>
            <a:r>
              <a:rPr lang="en-US" altLang="zh-CN" sz="3200"/>
              <a:t>。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170805" y="5652770"/>
            <a:ext cx="2279015" cy="9029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注意力集中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 animBg="1"/>
      <p:bldP spid="11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3333.png33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959725" y="1459230"/>
            <a:ext cx="3634740" cy="25692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580" y="4542155"/>
            <a:ext cx="417703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shí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tou</a:t>
            </a:r>
          </a:p>
          <a:p>
            <a:pPr algn="ctr" eaLnBrk="1"/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石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altLang="en-US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头</a:t>
            </a:r>
            <a:endParaRPr lang="zh-CN" altLang="en-US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236020" y="23842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458" y="72634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Administrator\Desktop\44444.png444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457440" y="2015490"/>
            <a:ext cx="4134485" cy="23247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580" y="4542155"/>
            <a:ext cx="417703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lián</a:t>
            </a:r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xù</a:t>
            </a:r>
            <a:endParaRPr lang="en-US" altLang="zh-CN" sz="66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 eaLnBrk="1">
              <a:lnSpc>
                <a:spcPct val="100000"/>
              </a:lnSpc>
              <a:buClrTx/>
              <a:buSzTx/>
              <a:buNone/>
            </a:pP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连</a:t>
            </a:r>
            <a:r>
              <a:rPr lang="en-US" alt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r>
              <a:rPr lang="zh-CN" sz="66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续</a:t>
            </a:r>
            <a:endParaRPr lang="zh-CN" sz="6600" b="1" kern="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3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18205" y="4556125"/>
            <a:ext cx="4752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他连续进了</a:t>
            </a:r>
            <a:r>
              <a:rPr lang="en-US" altLang="zh-CN" sz="2800"/>
              <a:t>3</a:t>
            </a:r>
            <a:r>
              <a:rPr lang="zh-CN" altLang="en-US" sz="2800"/>
              <a:t>个球</a:t>
            </a:r>
            <a:r>
              <a:rPr lang="en-US" altLang="zh-CN" sz="2800"/>
              <a:t>，</a:t>
            </a:r>
            <a:r>
              <a:rPr lang="zh-CN" altLang="en-US" sz="2800"/>
              <a:t>太厉害了</a:t>
            </a:r>
            <a:r>
              <a:rPr lang="en-US" altLang="zh-CN" sz="2800"/>
              <a:t>！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4321810" y="5824855"/>
            <a:ext cx="1870710" cy="5156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不间断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 animBg="1"/>
      <p:bldP spid="11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666750" y="1888490"/>
            <a:ext cx="2216785" cy="3194050"/>
            <a:chOff x="304" y="2028"/>
            <a:chExt cx="3491" cy="5030"/>
          </a:xfrm>
        </p:grpSpPr>
        <p:grpSp>
          <p:nvGrpSpPr>
            <p:cNvPr id="77" name="组合 76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7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79" name="图片 7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80" name="文本框 7"/>
            <p:cNvSpPr txBox="1"/>
            <p:nvPr/>
          </p:nvSpPr>
          <p:spPr>
            <a:xfrm>
              <a:off x="304" y="4252"/>
              <a:ext cx="349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将</a:t>
              </a:r>
              <a:r>
                <a: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军</a:t>
              </a:r>
            </a:p>
            <a:p>
              <a:pPr algn="ctr"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(military rank) general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199505" y="1888490"/>
            <a:ext cx="2218690" cy="3194050"/>
            <a:chOff x="9301" y="2028"/>
            <a:chExt cx="3494" cy="5030"/>
          </a:xfrm>
        </p:grpSpPr>
        <p:grpSp>
          <p:nvGrpSpPr>
            <p:cNvPr id="67" name="组合 6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6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69" name="图片 6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70" name="文本框 7"/>
            <p:cNvSpPr txBox="1"/>
            <p:nvPr/>
          </p:nvSpPr>
          <p:spPr>
            <a:xfrm>
              <a:off x="9301" y="4147"/>
              <a:ext cx="3479" cy="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支</a:t>
              </a:r>
            </a:p>
            <a:p>
              <a:pPr algn="ctr" eaLnBrk="1">
                <a:lnSpc>
                  <a:spcPct val="70000"/>
                </a:lnSpc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m. used for long, thin, </a:t>
              </a:r>
            </a:p>
            <a:p>
              <a:pPr algn="ctr" eaLnBrk="1">
                <a:lnSpc>
                  <a:spcPct val="70000"/>
                </a:lnSpc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   inflexible objects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538480" y="2479040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jiāng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jūn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6155055" y="247904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Tx/>
              <a:buSzTx/>
              <a:buFont typeface="Arial" panose="020B0704020202020204" pitchFamily="34" charset="0"/>
              <a:buNone/>
              <a:defRPr/>
            </a:pP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zhī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32" name="文本框 7"/>
          <p:cNvSpPr txBox="1"/>
          <p:nvPr/>
        </p:nvSpPr>
        <p:spPr>
          <a:xfrm>
            <a:off x="166805" y="20794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复习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3" name="文本框 7"/>
          <p:cNvSpPr txBox="1"/>
          <p:nvPr/>
        </p:nvSpPr>
        <p:spPr>
          <a:xfrm>
            <a:off x="238243" y="695864"/>
            <a:ext cx="9493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Review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8964295" y="1888490"/>
            <a:ext cx="2524125" cy="3194050"/>
            <a:chOff x="4512" y="1909"/>
            <a:chExt cx="3975" cy="5030"/>
          </a:xfrm>
        </p:grpSpPr>
        <p:grpSp>
          <p:nvGrpSpPr>
            <p:cNvPr id="61" name="组合 60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6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5" name="文本框 7"/>
            <p:cNvSpPr txBox="1"/>
            <p:nvPr/>
          </p:nvSpPr>
          <p:spPr>
            <a:xfrm>
              <a:off x="4512" y="4133"/>
              <a:ext cx="3975" cy="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连</a:t>
              </a:r>
              <a:r>
                <a:rPr lang="en-US" altLang="zh-CN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5400" b="1" dirty="0"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续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>
                <a:lnSpc>
                  <a:spcPct val="70000"/>
                </a:lnSpc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</a:t>
              </a:r>
            </a:p>
            <a:p>
              <a:pPr algn="ctr" eaLnBrk="1">
                <a:lnSpc>
                  <a:spcPct val="70000"/>
                </a:lnSpc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be continuous, </a:t>
              </a:r>
            </a:p>
            <a:p>
              <a:pPr algn="ctr" eaLnBrk="1">
                <a:lnSpc>
                  <a:spcPct val="70000"/>
                </a:lnSpc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be in succession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429000" y="1888490"/>
            <a:ext cx="2243455" cy="3194050"/>
            <a:chOff x="9262" y="2028"/>
            <a:chExt cx="3533" cy="5030"/>
          </a:xfrm>
        </p:grpSpPr>
        <p:grpSp>
          <p:nvGrpSpPr>
            <p:cNvPr id="72" name="组合 71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7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74" name="图片 7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75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石</a:t>
              </a:r>
              <a:r>
                <a:rPr lang="en-US" alt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头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 eaLnBrk="1">
                <a:buClrTx/>
                <a:buSzTx/>
                <a:buFontTx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stone, rock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093720" y="2479040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Tx/>
              <a:buSzTx/>
              <a:buFont typeface="Arial" panose="020B0704020202020204" pitchFamily="34" charset="0"/>
              <a:buNone/>
              <a:defRPr/>
            </a:pP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shí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tou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文本框 7"/>
          <p:cNvSpPr txBox="1"/>
          <p:nvPr/>
        </p:nvSpPr>
        <p:spPr>
          <a:xfrm>
            <a:off x="8832215" y="2479040"/>
            <a:ext cx="27228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lián</a:t>
            </a:r>
            <a:r>
              <a:rPr lang="en-US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xù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37" grpId="0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填空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807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tián kòng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填空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v. to fill in a blank</a:t>
              </a:r>
            </a:p>
          </p:txBody>
        </p:sp>
      </p:grpSp>
      <p:grpSp>
        <p:nvGrpSpPr>
          <p:cNvPr id="16" name="文章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513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āi </a:t>
              </a:r>
            </a:p>
            <a:p>
              <a:pPr algn="ctr" eaLnBrk="1">
                <a:lnSpc>
                  <a:spcPct val="100000"/>
                </a:lnSpc>
              </a:pP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哎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int. 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used to express surprise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or dissatisfaction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内容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455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gǎn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杆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pole, shaft</a:t>
              </a:r>
            </a:p>
            <a:p>
              <a:pPr algn="ctr"/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3" name="之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54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yìng</a:t>
              </a:r>
            </a:p>
            <a:p>
              <a:pPr algn="ctr" eaLnBrk="1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硬</a:t>
              </a:r>
            </a:p>
            <a:p>
              <a:pPr algn="ctr" eaLnBrk="1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hard, tough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" name="然而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zh-CN" sz="66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jīn</a:t>
              </a:r>
              <a:r>
                <a:rPr lang="en-US" altLang="zh-CN" sz="66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66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shǔ</a:t>
              </a:r>
              <a:endParaRPr lang="en-US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 eaLnBrk="1">
                <a:lnSpc>
                  <a:spcPct val="100000"/>
                </a:lnSpc>
              </a:pP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金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属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metal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看法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5281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 eaLnBrk="1">
                <a:lnSpc>
                  <a:spcPct val="100000"/>
                </a:lnSpc>
              </a:pPr>
              <a:r>
                <a:rPr lang="zh-CN" altLang="zh-CN" sz="6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ài</a:t>
              </a:r>
              <a:endParaRPr lang="zh-CN" altLang="zh-CN" sz="60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 eaLnBrk="1">
                <a:lnSpc>
                  <a:spcPct val="100000"/>
                </a:lnSpc>
              </a:pP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唉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int. </a:t>
              </a:r>
            </a:p>
            <a:p>
              <a:pPr algn="ctr" eaLnBrk="1">
                <a:lnSpc>
                  <a:spcPct val="100000"/>
                </a:lnSpc>
              </a:pPr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sighing sound indicating sadness or regret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7" name="地图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sym typeface="+mn-ea"/>
                </a:rPr>
                <a:t>fǒu</a:t>
              </a:r>
              <a:r>
                <a:rPr lang="en-US" sz="5400">
                  <a:sym typeface="+mn-ea"/>
                </a:rPr>
                <a:t> </a:t>
              </a:r>
              <a:r>
                <a:rPr sz="5400">
                  <a:sym typeface="+mn-ea"/>
                </a:rPr>
                <a:t>zé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sz="2400">
                  <a:sym typeface="+mn-ea"/>
                </a:rPr>
                <a:t>conj. or, otherwise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9860" y="0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杆</a:t>
                </a:r>
              </a:p>
              <a:p>
                <a:pPr algn="ctr" eaLnBrk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pole, shaft</a:t>
                </a:r>
                <a:endPara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gǎn</a:t>
              </a:r>
              <a:endParaRPr lang="en-US" sz="3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685" y="3362325"/>
            <a:ext cx="2754630" cy="3194050"/>
            <a:chOff x="5097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5450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金</a:t>
                </a:r>
                <a:r>
                  <a:rPr lang="en-US" altLang="zh-CN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 </a:t>
                </a: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属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algn="ctr" eaLnBrk="1"/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metal</a:t>
                </a:r>
                <a:endParaRPr kumimoji="0" lang="en-US" sz="2000" i="0" u="none" strike="noStrike" kern="1200" cap="none" spc="0" normalizeH="0" baseline="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097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jīn</a:t>
              </a:r>
              <a:r>
                <a:rPr lang="en-US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shǔ</a:t>
              </a:r>
              <a:endParaRPr 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456420" y="3552825"/>
            <a:ext cx="2722880" cy="3194050"/>
            <a:chOff x="10315" y="5714"/>
            <a:chExt cx="4288" cy="5030"/>
          </a:xfrm>
        </p:grpSpPr>
        <p:grpSp>
          <p:nvGrpSpPr>
            <p:cNvPr id="14" name="组合 13"/>
            <p:cNvGrpSpPr/>
            <p:nvPr/>
          </p:nvGrpSpPr>
          <p:grpSpPr>
            <a:xfrm>
              <a:off x="10485" y="5714"/>
              <a:ext cx="3975" cy="5030"/>
              <a:chOff x="4512" y="1909"/>
              <a:chExt cx="3975" cy="503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512" y="4133"/>
                <a:ext cx="3975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dirty="0"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硬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endParaRPr>
              </a:p>
              <a:p>
                <a:pPr algn="ctr" eaLnBrk="1"/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hard, tough</a:t>
                </a:r>
                <a:endParaRPr kumimoji="0" lang="en-US" sz="2000" i="0" u="none" strike="noStrike" kern="1200" cap="none" spc="0" normalizeH="0" baseline="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10315" y="6873"/>
              <a:ext cx="4288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28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yìng</a:t>
              </a:r>
              <a:endParaRPr lang="en-US" altLang="zh-CN" sz="2800" b="1" dirty="0">
                <a:latin typeface="华文细黑" panose="02010600040101010101" pitchFamily="2" charset="-122"/>
                <a:ea typeface="华文细黑" panose="0201060004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774315" y="0"/>
            <a:ext cx="4731385" cy="3770630"/>
            <a:chOff x="4369" y="0"/>
            <a:chExt cx="7451" cy="5938"/>
          </a:xfrm>
        </p:grpSpPr>
        <p:pic>
          <p:nvPicPr>
            <p:cNvPr id="16" name="图片 1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369" y="0"/>
              <a:ext cx="6675" cy="5939"/>
            </a:xfrm>
            <a:prstGeom prst="rect">
              <a:avLst/>
            </a:prstGeom>
          </p:spPr>
        </p:pic>
        <p:cxnSp>
          <p:nvCxnSpPr>
            <p:cNvPr id="17" name="直接箭头连接符 16"/>
            <p:cNvCxnSpPr/>
            <p:nvPr/>
          </p:nvCxnSpPr>
          <p:spPr>
            <a:xfrm>
              <a:off x="7266" y="732"/>
              <a:ext cx="4555" cy="42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7630795" y="518160"/>
            <a:ext cx="3385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秤杆</a:t>
            </a:r>
            <a:r>
              <a:rPr lang="en-US" altLang="zh-CN" sz="3200"/>
              <a:t>ch</a:t>
            </a:r>
            <a:r>
              <a:rPr lang="" altLang="en-US" sz="3200"/>
              <a:t>è</a:t>
            </a:r>
            <a:r>
              <a:rPr lang="en-US" altLang="zh-CN" sz="3200"/>
              <a:t>n</a:t>
            </a:r>
            <a:r>
              <a:rPr lang="en-US" altLang="en-US" sz="3200"/>
              <a:t>ɡ ɡ</a:t>
            </a:r>
            <a:r>
              <a:rPr lang="" altLang="en-US" sz="3200"/>
              <a:t>ǎ</a:t>
            </a:r>
            <a:r>
              <a:rPr lang="en-US" altLang="zh-CN" sz="3200"/>
              <a:t>n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247390" y="3987165"/>
            <a:ext cx="486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秤杆大多数是由木头做的</a:t>
            </a:r>
            <a:r>
              <a:rPr lang="en-US" altLang="zh-CN" sz="2800"/>
              <a:t>。</a:t>
            </a:r>
          </a:p>
        </p:txBody>
      </p:sp>
      <p:pic>
        <p:nvPicPr>
          <p:cNvPr id="31" name="图片 30"/>
          <p:cNvPicPr/>
          <p:nvPr/>
        </p:nvPicPr>
        <p:blipFill>
          <a:blip r:embed="rId7"/>
          <a:srcRect t="28500" b="38490"/>
          <a:stretch>
            <a:fillRect/>
          </a:stretch>
        </p:blipFill>
        <p:spPr>
          <a:xfrm>
            <a:off x="7250430" y="1589405"/>
            <a:ext cx="4476750" cy="110934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3424555" y="4625975"/>
            <a:ext cx="3514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枪杆子是由金属做的</a:t>
            </a:r>
            <a:r>
              <a:rPr lang="en-US" altLang="zh-CN" sz="2800"/>
              <a:t>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2774315" y="5726430"/>
            <a:ext cx="3385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铁</a:t>
            </a:r>
            <a:r>
              <a:rPr lang="en-US" altLang="zh-CN" sz="2800"/>
              <a:t>、</a:t>
            </a:r>
            <a:r>
              <a:rPr lang="zh-CN" altLang="en-US" sz="2800"/>
              <a:t>金</a:t>
            </a:r>
            <a:r>
              <a:rPr lang="en-US" altLang="zh-CN" sz="2800"/>
              <a:t>、</a:t>
            </a:r>
            <a:r>
              <a:rPr lang="zh-CN" altLang="en-US" sz="2800"/>
              <a:t>铜</a:t>
            </a:r>
            <a:r>
              <a:rPr lang="en-US" altLang="zh-CN" sz="2800"/>
              <a:t>、</a:t>
            </a:r>
            <a:r>
              <a:rPr lang="zh-CN" altLang="en-US" sz="2800"/>
              <a:t>银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055360" y="5726430"/>
            <a:ext cx="3667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这些金属中</a:t>
            </a:r>
            <a:r>
              <a:rPr lang="en-US" altLang="zh-CN" sz="2400"/>
              <a:t>，</a:t>
            </a:r>
            <a:r>
              <a:rPr lang="zh-CN" altLang="en-US" sz="2400"/>
              <a:t>铁是最硬的。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4" grpId="0"/>
      <p:bldP spid="24" grpId="1"/>
      <p:bldP spid="36" grpId="0"/>
      <p:bldP spid="36" grpId="1"/>
      <p:bldP spid="38" grpId="0"/>
      <p:bldP spid="38" grpId="1"/>
      <p:bldP spid="39" grpId="0"/>
      <p:bldP spid="39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30200" y="3661410"/>
            <a:ext cx="2199640" cy="3194050"/>
            <a:chOff x="13188" y="260"/>
            <a:chExt cx="3464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2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唉</a:t>
                </a:r>
              </a:p>
              <a:p>
                <a:pPr eaLnBrk="1">
                  <a:lnSpc>
                    <a:spcPct val="70000"/>
                  </a:lnSpc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int. sighing sound indicating sadness</a:t>
                </a:r>
              </a:p>
              <a:p>
                <a:pPr eaLnBrk="1">
                  <a:lnSpc>
                    <a:spcPct val="70000"/>
                  </a:lnSpc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      or regret</a:t>
                </a:r>
                <a:endPara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221" y="1419"/>
              <a:ext cx="3376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ài</a:t>
              </a:r>
              <a:endParaRPr lang="en-US" sz="3600" b="1" dirty="0">
                <a:latin typeface="华文细黑" panose="02010600040101010101" pitchFamily="2" charset="-122"/>
                <a:ea typeface="华文细黑" panose="02010600040101010101" pitchFamily="2" charset="-122"/>
                <a:sym typeface="宋体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7190" y="305435"/>
            <a:ext cx="2208530" cy="3257550"/>
            <a:chOff x="7916" y="201"/>
            <a:chExt cx="3478" cy="51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130"/>
              <a:chOff x="9330" y="2028"/>
              <a:chExt cx="3479" cy="51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华文细黑" panose="02010600040101010101" pitchFamily="2" charset="-122"/>
                    <a:ea typeface="华文细黑" panose="02010600040101010101" pitchFamily="2" charset="-122"/>
                    <a:sym typeface="+mn-ea"/>
                  </a:rPr>
                  <a:t>哎</a:t>
                </a:r>
              </a:p>
              <a:p>
                <a:pPr algn="ctr" eaLnBrk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int. used to express surprise or dissatisfaction</a:t>
                </a:r>
                <a:endPara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āi</a:t>
              </a:r>
              <a:endParaRPr lang="en-US" sz="3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319145" y="1134110"/>
            <a:ext cx="5271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哎</a:t>
            </a:r>
            <a:r>
              <a:rPr lang="en-US" altLang="zh-CN" sz="3200"/>
              <a:t>，</a:t>
            </a:r>
            <a:r>
              <a:rPr lang="zh-CN" altLang="en-US" sz="3200"/>
              <a:t>你怎么也在这里</a:t>
            </a:r>
            <a:r>
              <a:rPr lang="en-US" altLang="zh-CN" sz="3200"/>
              <a:t>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319145" y="2019935"/>
            <a:ext cx="5271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哎呀</a:t>
            </a:r>
            <a:r>
              <a:rPr lang="en-US" altLang="zh-CN" sz="3200"/>
              <a:t>，</a:t>
            </a:r>
            <a:r>
              <a:rPr lang="zh-CN" altLang="en-US" sz="3200"/>
              <a:t>你怎么还没出发呀</a:t>
            </a:r>
            <a:r>
              <a:rPr lang="en-US" altLang="zh-CN" sz="3200"/>
              <a:t>？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460750" y="4397375"/>
            <a:ext cx="5271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唉</a:t>
            </a:r>
            <a:r>
              <a:rPr lang="en-US" altLang="zh-CN" sz="3200"/>
              <a:t>，</a:t>
            </a:r>
            <a:r>
              <a:rPr lang="zh-CN" altLang="en-US" sz="3200"/>
              <a:t>怎么又考砸了</a:t>
            </a:r>
            <a:r>
              <a:rPr lang="en-US" altLang="zh-CN" sz="3200"/>
              <a:t>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460750" y="5340985"/>
            <a:ext cx="5271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唉</a:t>
            </a:r>
            <a:r>
              <a:rPr lang="en-US" altLang="zh-CN" sz="3200"/>
              <a:t>，</a:t>
            </a:r>
            <a:r>
              <a:rPr lang="zh-CN" altLang="en-US" sz="3200"/>
              <a:t>要是我好好准备就好了</a:t>
            </a:r>
            <a:r>
              <a:rPr lang="en-US" altLang="zh-CN" sz="32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摇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摸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18565"/>
            <a:ext cx="9048115" cy="1458595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R="0" lvl="0" indent="0" algn="l" defTabSz="1300480" rtl="0" eaLnBrk="1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每天我一回家，可爱的小狗就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着尾巴冲我跑过来。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7946728" y="1218585"/>
            <a:ext cx="1561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6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反应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反映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219960" y="1330960"/>
            <a:ext cx="9485630" cy="117602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6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对我们提出的意见，老板还没有做出</a:t>
            </a:r>
            <a:r>
              <a:rPr lang="zh-CN" altLang="zh-CN" sz="36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6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6512263" y="185168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反应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7629202" y="287402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连续</a:t>
            </a:r>
          </a:p>
        </p:txBody>
      </p:sp>
      <p:sp>
        <p:nvSpPr>
          <p:cNvPr id="6" name="5 Nube"/>
          <p:cNvSpPr/>
          <p:nvPr/>
        </p:nvSpPr>
        <p:spPr>
          <a:xfrm>
            <a:off x="3987810" y="291793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继续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221865" y="1459230"/>
            <a:ext cx="9957435" cy="115570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l" defTabSz="1300480" rtl="0" eaLnBrk="1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36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我真的需要休息了，我已经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工作20个小时了。</a:t>
            </a:r>
            <a:endParaRPr kumimoji="0" lang="zh-CN" altLang="zh-CN" sz="3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8490288" y="145925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连续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45765" y="4165600"/>
            <a:ext cx="83038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继续</a:t>
            </a:r>
            <a:r>
              <a:rPr lang="en-US" altLang="zh-CN" sz="2400" dirty="0">
                <a:solidFill>
                  <a:srgbClr val="C00000"/>
                </a:solidFill>
                <a:highlight>
                  <a:srgbClr val="FFFF00"/>
                </a:highlight>
              </a:rPr>
              <a:t>：</a:t>
            </a:r>
            <a:r>
              <a:rPr lang="vi-VN" altLang="zh-CN" sz="2400" dirty="0">
                <a:solidFill>
                  <a:srgbClr val="C00000"/>
                </a:solidFill>
                <a:highlight>
                  <a:srgbClr val="FFFF00"/>
                </a:highlight>
              </a:rPr>
              <a:t>tiếp tục </a:t>
            </a:r>
            <a:r>
              <a:rPr lang="zh-CN" altLang="en-US" sz="2400" dirty="0"/>
              <a:t>延续某个动作或状态</a:t>
            </a:r>
            <a:r>
              <a:rPr lang="en-US" altLang="zh-CN" sz="2400" dirty="0"/>
              <a:t>，</a:t>
            </a:r>
            <a:r>
              <a:rPr lang="zh-CN" altLang="en-US" sz="2400" dirty="0"/>
              <a:t>动作中断后重启</a:t>
            </a:r>
            <a:r>
              <a:rPr lang="en-US" altLang="zh-CN" sz="2400" dirty="0"/>
              <a:t>。</a:t>
            </a:r>
          </a:p>
          <a:p>
            <a:r>
              <a:rPr lang="en-US" altLang="zh-CN" sz="2400" dirty="0" err="1"/>
              <a:t>eg</a:t>
            </a:r>
            <a:r>
              <a:rPr lang="en-US" altLang="zh-CN" sz="2400" dirty="0"/>
              <a:t>：</a:t>
            </a:r>
            <a:r>
              <a:rPr lang="zh-CN" altLang="en-US" sz="2400" dirty="0"/>
              <a:t>休息后继续跑步</a:t>
            </a:r>
            <a:r>
              <a:rPr lang="en-US" altLang="zh-CN" sz="2400" dirty="0"/>
              <a:t>。</a:t>
            </a:r>
          </a:p>
          <a:p>
            <a:endParaRPr lang="zh-CN" altLang="en-US" sz="2400" dirty="0"/>
          </a:p>
          <a:p>
            <a:r>
              <a:rPr lang="zh-CN" alt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连续</a:t>
            </a:r>
            <a:r>
              <a:rPr lang="en-US" altLang="zh-CN" sz="2400" dirty="0">
                <a:solidFill>
                  <a:srgbClr val="C00000"/>
                </a:solidFill>
                <a:highlight>
                  <a:srgbClr val="FFFF00"/>
                </a:highlight>
              </a:rPr>
              <a:t>：</a:t>
            </a:r>
            <a:r>
              <a:rPr lang="vi-VN" altLang="zh-CN" sz="2400" dirty="0">
                <a:solidFill>
                  <a:srgbClr val="C00000"/>
                </a:solidFill>
                <a:highlight>
                  <a:srgbClr val="FFFF00"/>
                </a:highlight>
              </a:rPr>
              <a:t>liên tục</a:t>
            </a:r>
            <a:r>
              <a:rPr lang="zh-CN" altLang="en-US" sz="2400" dirty="0"/>
              <a:t>无间断的重复或持续，多次重复行为</a:t>
            </a:r>
            <a:r>
              <a:rPr lang="en-US" altLang="zh-CN" sz="2400" dirty="0"/>
              <a:t>。</a:t>
            </a:r>
            <a:r>
              <a:rPr lang="zh-CN" altLang="en-US" sz="2400" dirty="0"/>
              <a:t>自然现象描述。</a:t>
            </a:r>
          </a:p>
          <a:p>
            <a:r>
              <a:rPr lang="en-US" altLang="zh-CN" sz="2400" dirty="0" err="1"/>
              <a:t>eg</a:t>
            </a:r>
            <a:r>
              <a:rPr lang="zh-CN" altLang="en-US" sz="2400" dirty="0"/>
              <a:t>：他连续迟到三次。</a:t>
            </a:r>
          </a:p>
          <a:p>
            <a:r>
              <a:rPr lang="zh-CN" altLang="en-US" sz="2400" dirty="0"/>
              <a:t>雨水连续下了一周。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哎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唉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219960" y="1330960"/>
            <a:ext cx="9313545" cy="145923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6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6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，我想到了一个办法，你们看看行不行。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2838153" y="1459250"/>
            <a:ext cx="1561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6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D:\Desktop\微信图片_20220925223046.jpg微信图片_2022092522304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104140" y="0"/>
            <a:ext cx="12296140" cy="7000875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-104140" y="0"/>
            <a:ext cx="12296140" cy="69900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952500" y="3496310"/>
            <a:ext cx="1116457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36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李广射箭的时候是什么样的？</a:t>
            </a: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36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他以为自己射的是什么？实际上呢？</a:t>
            </a: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36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他再试的结果是怎样的？为什么会这样？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607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</a:t>
            </a:r>
          </a:p>
        </p:txBody>
      </p:sp>
      <p:pic>
        <p:nvPicPr>
          <p:cNvPr id="3" name="07-3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52500" y="1655445"/>
            <a:ext cx="2043430" cy="1633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3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8" dur="1393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D:\Desktop\微信图片_20220925223046.jpg微信图片_2022092522304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04140" y="0"/>
            <a:ext cx="12296140" cy="7000875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-104140" y="-66040"/>
            <a:ext cx="12296140" cy="69900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92250" y="5292725"/>
            <a:ext cx="9688830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</a:t>
            </a:r>
          </a:p>
          <a:p>
            <a:pPr algn="l" fontAlgn="auto">
              <a:lnSpc>
                <a:spcPct val="150000"/>
              </a:lnSpc>
            </a:pP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将军、善于、打猎、蹲、不要紧、全神贯注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8275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西汉时期有一位著名的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将军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叫李广，他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善于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骑马射箭，作战勇敢，被称</a:t>
            </a:r>
          </a:p>
          <a:p>
            <a:pPr eaLnBrk="1"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为“飞将军”。一天傍晚，他正带着士兵们在山中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打猎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，忽然发现远处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蹲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着一只大老虎。士兵们都紧张地围了上来，想要保护他。李广摇摇头，表示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不要紧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。只见他从箭袋里取出一支箭，摆好姿势，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全神贯注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，用尽全力向老虎射去。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149860"/>
            <a:ext cx="546608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ct val="150000"/>
              </a:lnSpc>
              <a:buClrTx/>
              <a:buSzTx/>
              <a:buFont typeface="Arial" panose="020B0704020202020204" pitchFamily="34" charset="0"/>
              <a:buNone/>
            </a:pPr>
            <a:r>
              <a:rPr lang="zh-CN" altLang="en-US" sz="32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李广射箭的时候是什么样的？</a:t>
            </a:r>
            <a:endParaRPr lang="zh-CN" altLang="en-US" sz="32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8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D:\Desktop\微信图片_20220925223046.jpg微信图片_2022092522304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04140" y="0"/>
            <a:ext cx="12296140" cy="7000875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-104140" y="0"/>
            <a:ext cx="12296140" cy="69900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06525" y="5681345"/>
            <a:ext cx="9688830" cy="645160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请用重点词语复述故事：反应、确定、竟不是、吃惊、连续、无奈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1925" y="901065"/>
            <a:ext cx="12177395" cy="4477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</a:t>
            </a:r>
            <a:r>
              <a:rPr lang="en-US" altLang="zh-CN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过了一会儿，老虎没什么</a:t>
            </a:r>
            <a:r>
              <a:rPr lang="zh-CN" altLang="en-US" sz="27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反应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，士兵们小心地走上前去，想</a:t>
            </a:r>
            <a:r>
              <a:rPr lang="zh-CN" altLang="en-US" sz="27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确定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它是不是死了。没想到仔细一看，被射中的</a:t>
            </a:r>
            <a:r>
              <a:rPr lang="zh-CN" altLang="en-US" sz="27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竟不是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老虎，而是一块形状很像老虎的大石头，而且一整支箭几乎全都射到石头中去了！大家都很</a:t>
            </a:r>
            <a:r>
              <a:rPr lang="zh-CN" altLang="en-US" sz="27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吃惊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，连李广自己都不相信他能有这么大的力气，于是他想再试试。可是，这次他</a:t>
            </a:r>
            <a:r>
              <a:rPr lang="zh-CN" altLang="en-US" sz="27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连续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换了几根箭，都没能再射进去，有的箭头碎了，有的箭杆断了，而大石头一点儿变化也没有。“哎，怎么会这样？”士兵奇怪地你看我，我看你。“唉！大概是我不够用心了吧！”李广也</a:t>
            </a:r>
            <a:r>
              <a:rPr lang="zh-CN" altLang="en-US" sz="27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无奈</a:t>
            </a:r>
            <a:r>
              <a:rPr lang="zh-CN" altLang="en-US" sz="27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地说。</a:t>
            </a:r>
            <a:endParaRPr lang="zh-CN" altLang="en-US" sz="27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63625" y="53340"/>
            <a:ext cx="63296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他以为自己射的是什么？实际上呢？</a:t>
            </a:r>
            <a:endParaRPr lang="zh-CN" altLang="en-US" sz="28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51095" y="702310"/>
            <a:ext cx="658368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他再试的结果是怎样的？为什么会这样？</a:t>
            </a:r>
            <a:endParaRPr lang="zh-CN" altLang="en-US" sz="28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D:\Desktop\微信图片_20220925223046.jpg微信图片_2022092522304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04140" y="0"/>
            <a:ext cx="12296140" cy="7000875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-104140" y="0"/>
            <a:ext cx="12296140" cy="69900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 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406525" y="5586095"/>
            <a:ext cx="9688830" cy="73723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“精诚所至，金石为开”是什么意思了吗？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9240" y="1070610"/>
            <a:ext cx="1165352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人们对这件事情感到很不解，就去问当时最有影响力的学者扬雄。扬雄回答说：“如果诚心实意，即使像金属和石头那样硬的东西也会被打动。”“</a:t>
            </a:r>
            <a:r>
              <a:rPr lang="zh-CN" altLang="en-US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精诚所至，金石为开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”这一成语也便由此流传下来。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40230" y="2108200"/>
            <a:ext cx="887857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defTabSz="1300480" eaLnBrk="1">
              <a:lnSpc>
                <a:spcPct val="150000"/>
              </a:lnSpc>
              <a:buSzPct val="100000"/>
              <a:buNone/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射箭的时候，我们要对准目标。这个目标，在古代叫做“的”，也就是我们今天说的“目的”的“的”；而箭，在古代叫做“矢”。连起来就是成语“有的放矢”。</a:t>
            </a:r>
          </a:p>
          <a:p>
            <a:pPr marL="163830" indent="-163830" algn="l" defTabSz="1300480" eaLnBrk="1">
              <a:lnSpc>
                <a:spcPct val="150000"/>
              </a:lnSpc>
              <a:buSzPct val="100000"/>
              <a:buAutoNum type="arabicPeriod"/>
            </a:pPr>
            <a:endParaRPr lang="zh-CN" altLang="en-US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indent="0" algn="l" defTabSz="1300480" eaLnBrk="1">
              <a:lnSpc>
                <a:spcPct val="150000"/>
              </a:lnSpc>
              <a:buSzPct val="100000"/>
              <a:buNone/>
            </a:pP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请以“有的放矢”为题，谈一谈你对做事情时态度和目标的看法。尽量用上本课所学的生词，字数不少于100字。</a:t>
            </a:r>
            <a:endParaRPr lang="zh-CN" altLang="en-US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第七课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6957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  <p:tag name="KSO_WPP_MARK_KEY" val="5c60731e-d620-40b9-a7f9-f2cce11fdc4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721,&quot;width&quot;:2721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33,&quot;width&quot;:3968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513,&quot;width&quot;:7330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1.44094488189,&quot;width&quot;:6902.921259842519}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467bf04-37fc-4bd8-80b0-a24682506269}"/>
  <p:tag name="TABLE_ENDDRAG_ORIGIN_RECT" val="898*268"/>
  <p:tag name="TABLE_ENDDRAG_RECT" val="18*165*898*268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884,&quot;width&quot;:5256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5484</Words>
  <Application>Microsoft Office PowerPoint</Application>
  <PresentationFormat>Widescreen</PresentationFormat>
  <Paragraphs>753</Paragraphs>
  <Slides>72</Slides>
  <Notes>27</Notes>
  <HiddenSlides>0</HiddenSlides>
  <MMClips>2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8" baseType="lpstr">
      <vt:lpstr>GB Pinyinok-D</vt:lpstr>
      <vt:lpstr>HelveticaExt-Normal</vt:lpstr>
      <vt:lpstr>微软雅黑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Hằng Cò</cp:lastModifiedBy>
  <cp:revision>214</cp:revision>
  <dcterms:created xsi:type="dcterms:W3CDTF">2025-03-16T05:25:13Z</dcterms:created>
  <dcterms:modified xsi:type="dcterms:W3CDTF">2025-07-17T10:03:25Z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F3020B4BD8AA49029233B3B7704B7AC2</vt:lpwstr>
  </property>
</Properties>
</file>